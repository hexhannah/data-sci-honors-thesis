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Lst>
  <p:sldSz cy="5143500" cx="9144000"/>
  <p:notesSz cx="6858000" cy="9144000"/>
  <p:embeddedFontLst>
    <p:embeddedFont>
      <p:font typeface="Inter"/>
      <p:regular r:id="rId61"/>
      <p:bold r:id="rId62"/>
      <p:italic r:id="rId63"/>
      <p:boldItalic r:id="rId64"/>
    </p:embeddedFont>
    <p:embeddedFont>
      <p:font typeface="Source Code Pro"/>
      <p:regular r:id="rId65"/>
      <p:bold r:id="rId66"/>
      <p:italic r:id="rId67"/>
      <p:boldItalic r:id="rId6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Joshua Grossman"/>
  <p:cmAuthor clrIdx="1" id="1" initials="" lastIdx="5" name="Hannah Brow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Inter-bold.fntdata"/><Relationship Id="rId61" Type="http://schemas.openxmlformats.org/officeDocument/2006/relationships/font" Target="fonts/Inter-regular.fntdata"/><Relationship Id="rId20" Type="http://schemas.openxmlformats.org/officeDocument/2006/relationships/slide" Target="slides/slide14.xml"/><Relationship Id="rId64" Type="http://schemas.openxmlformats.org/officeDocument/2006/relationships/font" Target="fonts/Inter-boldItalic.fntdata"/><Relationship Id="rId63" Type="http://schemas.openxmlformats.org/officeDocument/2006/relationships/font" Target="fonts/Inter-italic.fntdata"/><Relationship Id="rId22" Type="http://schemas.openxmlformats.org/officeDocument/2006/relationships/slide" Target="slides/slide16.xml"/><Relationship Id="rId66" Type="http://schemas.openxmlformats.org/officeDocument/2006/relationships/font" Target="fonts/SourceCodePro-bold.fntdata"/><Relationship Id="rId21" Type="http://schemas.openxmlformats.org/officeDocument/2006/relationships/slide" Target="slides/slide15.xml"/><Relationship Id="rId65" Type="http://schemas.openxmlformats.org/officeDocument/2006/relationships/font" Target="fonts/SourceCodePro-regular.fntdata"/><Relationship Id="rId24" Type="http://schemas.openxmlformats.org/officeDocument/2006/relationships/slide" Target="slides/slide18.xml"/><Relationship Id="rId68" Type="http://schemas.openxmlformats.org/officeDocument/2006/relationships/font" Target="fonts/SourceCodePro-boldItalic.fntdata"/><Relationship Id="rId23" Type="http://schemas.openxmlformats.org/officeDocument/2006/relationships/slide" Target="slides/slide17.xml"/><Relationship Id="rId67" Type="http://schemas.openxmlformats.org/officeDocument/2006/relationships/font" Target="fonts/SourceCodePro-italic.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01-28T23:50:14.692">
    <p:pos x="6000" y="0"/>
    <p:text>I think you can jump right into the survey
1 total reaction
Hannah Brown reacted with 👍 at 2025-01-28 15:50 PM</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5-01-14T00:26:03.204">
    <p:pos x="6000" y="0"/>
    <p:text>You might do a live demo of PingPong at this point. Make a bot with temperature 0 and the same prompt, and ask it a couple questions that show how it works. Could have a sample assignment open from 131A and show how a student might use it. Emphasizing that students will use it in different ways, which is one reason for the survey.</p:text>
  </p:cm>
  <p:cm authorId="1" idx="1" dt="2025-01-14T00:25:27.699">
    <p:pos x="6000" y="0"/>
    <p:text>_Marked as resolved_</p:text>
  </p:cm>
  <p:cm authorId="1" idx="2" dt="2025-01-14T00:26:03.204">
    <p:pos x="6000" y="0"/>
    <p:text>_Re-opened_</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3" dt="2025-02-28T22:35:48.002">
    <p:pos x="196" y="280"/>
    <p:text>remove smaller group</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4" dt="2025-01-27T19:35:24.380">
    <p:pos x="3139" y="1131"/>
    <p:text>Accidentally deleted the comment, but I updated the third quote. I think this shows how only a few students did not care to try it out?</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5" dt="2025-02-28T22:01:31.850">
    <p:pos x="196" y="280"/>
    <p:text>animation paragraph by paragraph. no new slides</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ingpong.hks.harvard.edu/group/62?assistant=569"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Hello everyone, my name is Hannah. Thank you all for being here today. Today will be a short presentation on the use of the AI software PingPong in the class STAT131A at Berkeley.</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289f92c8ab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289f92c8ab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Mention that the chatbot is called Edison and is similar to PingPong but trained in house on Ed data</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289f92c8a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289f92c8a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name PingPong represents a back and forth between student and AI. Unlike other LLMs where it is </a:t>
            </a:r>
            <a:r>
              <a:rPr lang="en"/>
              <a:t>usually</a:t>
            </a:r>
            <a:r>
              <a:rPr lang="en"/>
              <a:t> Q&amp;A, PingPong acts more as a tutor going back and forth with the students like a game of Ping Pong.</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2550b667f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2550b667f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https://pingpong.hks.harvard.edu/group/62?assistant=569</a:t>
            </a:r>
            <a:endParaRPr/>
          </a:p>
          <a:p>
            <a:pPr indent="0" lvl="0" marL="0" rtl="0" algn="l">
              <a:spcBef>
                <a:spcPts val="0"/>
              </a:spcBef>
              <a:spcAft>
                <a:spcPts val="0"/>
              </a:spcAft>
              <a:buNone/>
            </a:pPr>
            <a:r>
              <a:rPr lang="en"/>
              <a:t>I have a dataset with columns: carmodel, year, fuel efficiency (mpg), weight, horsepower</a:t>
            </a:r>
            <a:br>
              <a:rPr lang="en"/>
            </a:br>
            <a:r>
              <a:rPr lang="en"/>
              <a:t>I need to summarize efficiency with scatter plot by plotting fuel efficiency and weight. </a:t>
            </a:r>
            <a:br>
              <a:rPr lang="en"/>
            </a:br>
            <a:br>
              <a:rPr lang="en"/>
            </a:br>
            <a:r>
              <a:rPr lang="en"/>
              <a:t>Also show in chatgpt side by side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289f92c8ab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289f92c8ab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other words, if we tell students that no LLMs are allowed, they will likely still use it while feeling </a:t>
            </a:r>
            <a:r>
              <a:rPr lang="en"/>
              <a:t>guilty. However, if we make it easy for the student to have access to a better resource that the professor moderates, both the student and professor benefit. The student will learn more, and the professor will have an extra form of support for their class.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29bf3487ef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29bf3487ef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Right now, many are focused on the negative aspects of LLMs in education. There are many benefits as mentioned before. Although this survey aims to show the benefit of a restricted LLM in classroom, it will also highlight some of the concerns of the student’s themselves.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289f92c8ab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289f92c8ab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Right now, many are focused on the negative aspects of LLMs in education. There are many benefits as mentioned before. Although this survey aims to show the benefit of a restricted LLM in classroom, it will also highlight some of the concerns of the student’s </a:t>
            </a:r>
            <a:r>
              <a:rPr lang="en"/>
              <a:t>themselves</a:t>
            </a:r>
            <a:r>
              <a:rPr lang="en"/>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289f92c8ab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289f92c8a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my thesis, I wanted to survey a class that already had experience using a LLM chatbot,which STAT 131A was a perfect </a:t>
            </a:r>
            <a:r>
              <a:rPr lang="en"/>
              <a:t>candidate</a:t>
            </a:r>
            <a:r>
              <a:rPr lang="en"/>
              <a:t> for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289f92c8ab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289f92c8ab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Before we get into the survey results here are…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289f92c8ab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289f92c8ab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2a304f7f8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2a304f7f8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see that this resource is utilized with 83% of respondents having more than 5 chats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289f92c8ab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289f92c8ab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see that this resource is utilized with 83% of respondents having more than 5 chats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289f92c8ab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289f92c8ab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we will go over survey questions only active users of PingPong answered</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2a304f7f84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2a304f7f84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2a304f7f84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2a304f7f84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289f92c8ab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289f92c8ab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Most student prefer PingPong over other LLMs. With common reasoning being that, despite their annoyance, PingPong forces them to explain understanding and that the professor approved and provided this resource.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2a304f7f84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2a304f7f84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Students that prefer other LLMs, note that they are simply more efficient and concise. In addition, sometimes student just need context and want that summarized information, which PingPong is not the best for.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2a304f7f84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2a304f7f84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indifferent crowd echos the </a:t>
            </a:r>
            <a:r>
              <a:rPr lang="en"/>
              <a:t>preferences</a:t>
            </a:r>
            <a:r>
              <a:rPr lang="en"/>
              <a:t> of both groups: PingPong and ChatGPT are </a:t>
            </a:r>
            <a:r>
              <a:rPr lang="en"/>
              <a:t>inherently</a:t>
            </a:r>
            <a:r>
              <a:rPr lang="en"/>
              <a:t> designed for different things. PingPong is better for learning new </a:t>
            </a:r>
            <a:r>
              <a:rPr lang="en"/>
              <a:t>information</a:t>
            </a:r>
            <a:r>
              <a:rPr lang="en"/>
              <a:t> while ChatGPT is better at summarizing information and formatting. This student also highlights that simply, ChatGPT is more developed and has better UI.</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29bf3487ef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29bf3487ef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we will move on to questions that ALL students, regardless of PingPong usage answered.</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29bf3487ef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29bf3487ef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289f92c8ab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289f92c8ab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we can definitely see the </a:t>
            </a:r>
            <a:r>
              <a:rPr lang="en"/>
              <a:t>arguably</a:t>
            </a:r>
            <a:r>
              <a:rPr lang="en"/>
              <a:t> negative consequences of LLM tutors: less usage of tutors which may contribute to making tutors </a:t>
            </a:r>
            <a:r>
              <a:rPr lang="en"/>
              <a:t>obsolete with most students admitting that most of their questions are answered and they do not go to office hours as much anymore.</a:t>
            </a:r>
            <a:r>
              <a:rPr lang="en">
                <a:solidFill>
                  <a:schemeClr val="dk1"/>
                </a:solidFill>
              </a:rPr>
              <a:t>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However, in much larger classes at Berkeley, office hours waiting times can be upwards of an hour, so they may help with the current resources given by focusing office hours energy on more complex questions. If the school continues to limit budget for tutoring, then LLMs tutors is the best way to make education more accessible.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In addition, this could call for a reorganization of office hours. Instead of office hours maybe schedule homework parties or group tutoring, but I will touch on this again later.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t>Quick comment about Question 9 is the reason we did not ask if the student would go to office hours less is: one to not confuse students with more options, and two it does not make sense in the context as LLMs provide an extra resource for students to use meaning the baseline is how often the student goes to OH without LLMs.</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29bf3487ef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29bf3487ef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29bf3487ef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29bf3487ef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question was the most polarizing in the class with almost a 50/50 split.</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289f92c8ab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289f92c8ab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Those who argue No say that it is due to PingPong just helps them save time by summarizing content and clearing minor misunderstandings. They overall think that the class is able to teach the material on its own it may just take longer to get to the same understanding without PingPong.</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2a3cee785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2a3cee785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Those who say Yes, it would change their understanding, overall claiming that PingPong is a 24/7 office hours where they can </a:t>
            </a:r>
            <a:r>
              <a:rPr lang="en"/>
              <a:t>address</a:t>
            </a:r>
            <a:r>
              <a:rPr lang="en"/>
              <a:t> their questions </a:t>
            </a:r>
            <a:r>
              <a:rPr lang="en"/>
              <a:t>instantaneously</a:t>
            </a:r>
            <a:r>
              <a:rPr lang="en"/>
              <a:t>. One even highlights that they do not feel judged by their lack of understanding, so they do not feel afraid to ask basic questions.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2a304f7f84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2a304f7f84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just went over if understanding of class material would change, now what about overall grade?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3bc019f5d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3bc019f5d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Unlike the last question we now see a majority that their grade would change. This is interesting because although understanding of material might have not changed, their grade most likely would be different.</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3bc019f5d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3bc019f5d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First let’s go to the minority, the group that says their grade would not change. Similar to sentiments before, if PingPong did not exist they would either fill in the gaps with OH or just spend more time reviewing or debugging.</a:t>
            </a:r>
            <a:r>
              <a:rPr lang="en"/>
              <a:t>saving time on debugging) BUT this group thinks this time saved substantially helps improve their grade.</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2a3cee7857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2a3cee7857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to the majority, who believe their grade would change. Basically the converse of the No group, PingPong acts as a 24/7 office hours which is essential to their learning as time saved actually has an </a:t>
            </a:r>
            <a:r>
              <a:rPr lang="en"/>
              <a:t>effect</a:t>
            </a:r>
            <a:r>
              <a:rPr lang="en"/>
              <a:t> of their grade. Both groups agree that time is saved with PingPong (through not going to office hours as much and saving time on debugging) BUT this group thinks this time saved substantially helps improve their grade.</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289f92c8ab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289f92c8ab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see how these students who most have </a:t>
            </a:r>
            <a:r>
              <a:rPr lang="en"/>
              <a:t>experience</a:t>
            </a:r>
            <a:r>
              <a:rPr lang="en"/>
              <a:t> with PingPong, or another LLM, feel about customized chatbots after a whole </a:t>
            </a:r>
            <a:r>
              <a:rPr lang="en"/>
              <a:t>semester</a:t>
            </a:r>
            <a:r>
              <a:rPr lang="en"/>
              <a:t> of using one.</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29bf3487ef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29bf3487ef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Notice how no one choose “No LLMs at all” despite a handful of people in this class being very adamantly against AI. Let’s see why this is.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2a3cee7857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2a3cee7857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see what the majority of students say first.</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289f92c8ab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289f92c8ab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student thinks customized chatbots can help when office hours are inaccessible or unavailable to the student.</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2a3cee7857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2a3cee7857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student thinks all LLMs are harmful but PingPong is the lesser of the evils.</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2a3cee7857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2a3cee7857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student reflects a popular opinion in the class which is that customized chatbots are custom to that course and approved by the Professor. Instead of them using ChatGPT which is not trained for that course, as well as, looked down on by the professor, the students feel much better and get a lot more out of a software like PingPong.</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2a3cee7857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2a3cee7857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student mentions how they like the restrictions of PingPong and how it makes them slow down and absorb the material.</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289f92c8ab_0_3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289f92c8ab_0_3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let’s see the slight minority, those who think all LLMs should be permitted.</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2a3cee7857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2a3cee7857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student thinks that no matter the restrictions, people will do what they want.</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3b777b92a8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33b777b92a8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student thinks that no matter the restrictions, people will do what they want.</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3b777b92a8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3b777b92a8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student thinks that no matter the restrictions, people will do what they want.</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29bf3487ef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329bf3487ef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finally asked all students a general question about how they feel about our future now that AI is so prominent in our lives. I think these quotes speak for themselves so I will just read them aloud.</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289f92c8ab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3289f92c8ab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29bf3487ef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29bf3487ef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289f92c8ab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3289f92c8ab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29bf3487ef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329bf3487ef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29bf3487ef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329bf3487ef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a whole, student share a lot of the concerns that educators have. Despite being worried about AI dependence, maybe this highlights a larger issue concerning course staff and actually being taught how to use LLMs.</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29bf3487e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29bf3487e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last group we will briefly cover are those who chose not utilize PingPong.</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29bf3487ef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329bf3487ef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2a3cee7857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32a3cee7857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are the options for why they did not use PingPong</a:t>
            </a:r>
            <a:endParaRPr/>
          </a:p>
          <a:p>
            <a:pPr indent="0" lvl="0" marL="0" rtl="0" algn="l">
              <a:spcBef>
                <a:spcPts val="0"/>
              </a:spcBef>
              <a:spcAft>
                <a:spcPts val="0"/>
              </a:spcAft>
              <a:buClr>
                <a:schemeClr val="dk1"/>
              </a:buClr>
              <a:buSzPts val="1100"/>
              <a:buFont typeface="Arial"/>
              <a:buNone/>
            </a:pPr>
            <a:r>
              <a:rPr lang="en">
                <a:solidFill>
                  <a:schemeClr val="dk1"/>
                </a:solidFill>
              </a:rPr>
              <a:t>Most students do not need LLMs in this class or prefer not to use them altogether. Only 1 uses other LLMs instead (which is not allowed in this course which may have biased the responses)</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289f92c8ab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3289f92c8ab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reason why one student does not use PingPong has been brought up before- PingPong has trouble getting to the point or giving context. Even students who have used PingPong </a:t>
            </a:r>
            <a:r>
              <a:rPr lang="en"/>
              <a:t>extensively</a:t>
            </a:r>
            <a:r>
              <a:rPr lang="en"/>
              <a:t> agree that this is an issue with PingPong, which is partially how it was trained, but also depends on how the instructor prompts the bot.</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289f92c8ab_0_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3289f92c8ab_0_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2a304f7f8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32a304f7f8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go back to the Big Ideas from earlier</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289f92c8ab_0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3289f92c8ab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 is unrealistic to assume the students will not use widely available LLMs, so there is a need to provide custom chatbots as a resource. When educators provide this as a resource, they need to also show how to properly use this technology. Lastly, since we see that students are using office hours less because of this resource, I think that </a:t>
            </a:r>
            <a:r>
              <a:rPr lang="en"/>
              <a:t>structure</a:t>
            </a:r>
            <a:r>
              <a:rPr lang="en"/>
              <a:t> or idea of office hours needs to adapt. For example, instead of having it being a Q&amp;A format, maybe have office hours be open-ended discussion, group tutoring, or just a time to work on assignments together like a homework party. This takes away the </a:t>
            </a:r>
            <a:r>
              <a:rPr lang="en"/>
              <a:t>imitation</a:t>
            </a:r>
            <a:r>
              <a:rPr lang="en"/>
              <a:t> of needing a “non-dumb” question, and motivates the student to show up to office hours.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289f92c8ab_0_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3289f92c8ab_0_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comments" Target="../comments/commen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comments" Target="../comments/commen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6.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comments" Target="../comments/commen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comments" Target="../comments/commen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comments" Target="../comments/commen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0" y="744575"/>
            <a:ext cx="91440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4800">
                <a:latin typeface="Inter"/>
                <a:ea typeface="Inter"/>
                <a:cs typeface="Inter"/>
                <a:sym typeface="Inter"/>
              </a:rPr>
              <a:t>PingPong Survey Results</a:t>
            </a:r>
            <a:endParaRPr sz="4800">
              <a:latin typeface="Inter"/>
              <a:ea typeface="Inter"/>
              <a:cs typeface="Inter"/>
              <a:sym typeface="Inte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000">
                <a:solidFill>
                  <a:schemeClr val="dk1"/>
                </a:solidFill>
                <a:latin typeface="Inter"/>
                <a:ea typeface="Inter"/>
                <a:cs typeface="Inter"/>
                <a:sym typeface="Inter"/>
              </a:rPr>
              <a:t>Presented by Hannah Brown</a:t>
            </a:r>
            <a:endParaRPr sz="2000">
              <a:solidFill>
                <a:schemeClr val="dk1"/>
              </a:solidFill>
              <a:latin typeface="Inter"/>
              <a:ea typeface="Inter"/>
              <a:cs typeface="Inter"/>
              <a:sym typeface="Inter"/>
            </a:endParaRPr>
          </a:p>
        </p:txBody>
      </p:sp>
      <p:pic>
        <p:nvPicPr>
          <p:cNvPr id="56" name="Google Shape;56;p13"/>
          <p:cNvPicPr preferRelativeResize="0"/>
          <p:nvPr/>
        </p:nvPicPr>
        <p:blipFill>
          <a:blip r:embed="rId3">
            <a:alphaModFix/>
          </a:blip>
          <a:stretch>
            <a:fillRect/>
          </a:stretch>
        </p:blipFill>
        <p:spPr>
          <a:xfrm>
            <a:off x="7067249" y="2797175"/>
            <a:ext cx="1666124" cy="1524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Inter"/>
                <a:ea typeface="Inter"/>
                <a:cs typeface="Inter"/>
                <a:sym typeface="Inter"/>
              </a:rPr>
              <a:t>Who am I? </a:t>
            </a:r>
            <a:r>
              <a:rPr lang="en">
                <a:latin typeface="Inter"/>
                <a:ea typeface="Inter"/>
                <a:cs typeface="Inter"/>
                <a:sym typeface="Inter"/>
              </a:rPr>
              <a:t> </a:t>
            </a:r>
            <a:endParaRPr>
              <a:latin typeface="Inter"/>
              <a:ea typeface="Inter"/>
              <a:cs typeface="Inter"/>
              <a:sym typeface="Inter"/>
            </a:endParaRPr>
          </a:p>
        </p:txBody>
      </p:sp>
      <p:sp>
        <p:nvSpPr>
          <p:cNvPr id="62" name="Google Shape;62;p14"/>
          <p:cNvSpPr txBox="1"/>
          <p:nvPr/>
        </p:nvSpPr>
        <p:spPr>
          <a:xfrm>
            <a:off x="311700" y="1017725"/>
            <a:ext cx="8520600" cy="1493100"/>
          </a:xfrm>
          <a:prstGeom prst="rect">
            <a:avLst/>
          </a:prstGeom>
          <a:noFill/>
          <a:ln>
            <a:noFill/>
          </a:ln>
        </p:spPr>
        <p:txBody>
          <a:bodyPr anchorCtr="0" anchor="t" bIns="91425" lIns="91425" spcFirstLastPara="1" rIns="91425" wrap="square" tIns="91425">
            <a:spAutoFit/>
          </a:bodyPr>
          <a:lstStyle/>
          <a:p>
            <a:pPr indent="-336550" lvl="0" marL="457200" rtl="0" algn="l">
              <a:lnSpc>
                <a:spcPct val="200000"/>
              </a:lnSpc>
              <a:spcBef>
                <a:spcPts val="0"/>
              </a:spcBef>
              <a:spcAft>
                <a:spcPts val="0"/>
              </a:spcAft>
              <a:buClr>
                <a:schemeClr val="dk1"/>
              </a:buClr>
              <a:buSzPts val="1700"/>
              <a:buFont typeface="Inter"/>
              <a:buChar char="-"/>
            </a:pPr>
            <a:r>
              <a:rPr lang="en" sz="1700">
                <a:solidFill>
                  <a:schemeClr val="dk1"/>
                </a:solidFill>
                <a:highlight>
                  <a:srgbClr val="FFFFFF"/>
                </a:highlight>
                <a:latin typeface="Inter"/>
                <a:ea typeface="Inter"/>
                <a:cs typeface="Inter"/>
                <a:sym typeface="Inter"/>
              </a:rPr>
              <a:t>Data science student writing honors thesis on LLMs in education</a:t>
            </a:r>
            <a:endParaRPr sz="1700">
              <a:solidFill>
                <a:schemeClr val="dk1"/>
              </a:solidFill>
              <a:highlight>
                <a:srgbClr val="FFFFFF"/>
              </a:highlight>
              <a:latin typeface="Inter"/>
              <a:ea typeface="Inter"/>
              <a:cs typeface="Inter"/>
              <a:sym typeface="Inter"/>
            </a:endParaRPr>
          </a:p>
          <a:p>
            <a:pPr indent="-336550" lvl="0" marL="457200" rtl="0" algn="l">
              <a:lnSpc>
                <a:spcPct val="200000"/>
              </a:lnSpc>
              <a:spcBef>
                <a:spcPts val="0"/>
              </a:spcBef>
              <a:spcAft>
                <a:spcPts val="0"/>
              </a:spcAft>
              <a:buClr>
                <a:schemeClr val="dk1"/>
              </a:buClr>
              <a:buSzPts val="1700"/>
              <a:buFont typeface="Inter"/>
              <a:buChar char="-"/>
            </a:pPr>
            <a:r>
              <a:rPr lang="en" sz="1700">
                <a:solidFill>
                  <a:schemeClr val="dk1"/>
                </a:solidFill>
                <a:highlight>
                  <a:srgbClr val="FFFFFF"/>
                </a:highlight>
                <a:latin typeface="Inter"/>
                <a:ea typeface="Inter"/>
                <a:cs typeface="Inter"/>
                <a:sym typeface="Inter"/>
              </a:rPr>
              <a:t>Developing a customized LLM chatbot with Narges Norouzi </a:t>
            </a:r>
            <a:endParaRPr sz="1700">
              <a:solidFill>
                <a:schemeClr val="dk1"/>
              </a:solidFill>
              <a:highlight>
                <a:srgbClr val="FFFFFF"/>
              </a:highlight>
              <a:latin typeface="Inter"/>
              <a:ea typeface="Inter"/>
              <a:cs typeface="Inter"/>
              <a:sym typeface="Inter"/>
            </a:endParaRPr>
          </a:p>
          <a:p>
            <a:pPr indent="-336550" lvl="1" marL="914400" rtl="0" algn="l">
              <a:lnSpc>
                <a:spcPct val="200000"/>
              </a:lnSpc>
              <a:spcBef>
                <a:spcPts val="0"/>
              </a:spcBef>
              <a:spcAft>
                <a:spcPts val="0"/>
              </a:spcAft>
              <a:buClr>
                <a:schemeClr val="dk1"/>
              </a:buClr>
              <a:buSzPts val="1700"/>
              <a:buFont typeface="Inter"/>
              <a:buChar char="-"/>
            </a:pPr>
            <a:r>
              <a:rPr lang="en" sz="1700">
                <a:solidFill>
                  <a:schemeClr val="dk1"/>
                </a:solidFill>
                <a:highlight>
                  <a:srgbClr val="FFFFFF"/>
                </a:highlight>
                <a:latin typeface="Inter"/>
                <a:ea typeface="Inter"/>
                <a:cs typeface="Inter"/>
                <a:sym typeface="Inter"/>
              </a:rPr>
              <a:t>Launching in data 100 + </a:t>
            </a:r>
            <a:r>
              <a:rPr lang="en" sz="1700">
                <a:solidFill>
                  <a:schemeClr val="dk1"/>
                </a:solidFill>
                <a:highlight>
                  <a:srgbClr val="FFFFFF"/>
                </a:highlight>
                <a:latin typeface="Inter"/>
                <a:ea typeface="Inter"/>
                <a:cs typeface="Inter"/>
                <a:sym typeface="Inter"/>
              </a:rPr>
              <a:t>cs61a</a:t>
            </a:r>
            <a:r>
              <a:rPr lang="en" sz="1700">
                <a:solidFill>
                  <a:schemeClr val="dk1"/>
                </a:solidFill>
                <a:highlight>
                  <a:srgbClr val="FFFFFF"/>
                </a:highlight>
                <a:latin typeface="Inter"/>
                <a:ea typeface="Inter"/>
                <a:cs typeface="Inter"/>
                <a:sym typeface="Inter"/>
              </a:rPr>
              <a:t> this semester </a:t>
            </a:r>
            <a:endParaRPr sz="1700">
              <a:solidFill>
                <a:schemeClr val="dk1"/>
              </a:solidFill>
              <a:highlight>
                <a:srgbClr val="FFFFFF"/>
              </a:highlight>
              <a:latin typeface="Inter"/>
              <a:ea typeface="Inter"/>
              <a:cs typeface="Inter"/>
              <a:sym typeface="Inter"/>
            </a:endParaRPr>
          </a:p>
        </p:txBody>
      </p:sp>
      <p:pic>
        <p:nvPicPr>
          <p:cNvPr id="63" name="Google Shape;63;p14"/>
          <p:cNvPicPr preferRelativeResize="0"/>
          <p:nvPr/>
        </p:nvPicPr>
        <p:blipFill>
          <a:blip r:embed="rId3">
            <a:alphaModFix/>
          </a:blip>
          <a:stretch>
            <a:fillRect/>
          </a:stretch>
        </p:blipFill>
        <p:spPr>
          <a:xfrm>
            <a:off x="5999175" y="1999050"/>
            <a:ext cx="572700" cy="5727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Inter"/>
                <a:ea typeface="Inter"/>
                <a:cs typeface="Inter"/>
                <a:sym typeface="Inter"/>
              </a:rPr>
              <a:t>What is PingPong?</a:t>
            </a:r>
            <a:r>
              <a:rPr lang="en">
                <a:latin typeface="Source Code Pro"/>
                <a:ea typeface="Source Code Pro"/>
                <a:cs typeface="Source Code Pro"/>
                <a:sym typeface="Source Code Pro"/>
              </a:rPr>
              <a:t> </a:t>
            </a:r>
            <a:endParaRPr>
              <a:latin typeface="Source Code Pro"/>
              <a:ea typeface="Source Code Pro"/>
              <a:cs typeface="Source Code Pro"/>
              <a:sym typeface="Source Code Pro"/>
            </a:endParaRPr>
          </a:p>
        </p:txBody>
      </p:sp>
      <p:sp>
        <p:nvSpPr>
          <p:cNvPr id="69" name="Google Shape;69;p15"/>
          <p:cNvSpPr txBox="1"/>
          <p:nvPr>
            <p:ph idx="1" type="body"/>
          </p:nvPr>
        </p:nvSpPr>
        <p:spPr>
          <a:xfrm>
            <a:off x="212800" y="1166075"/>
            <a:ext cx="3278400" cy="3741000"/>
          </a:xfrm>
          <a:prstGeom prst="rect">
            <a:avLst/>
          </a:prstGeom>
        </p:spPr>
        <p:txBody>
          <a:bodyPr anchorCtr="0" anchor="t" bIns="91425" lIns="91425" spcFirstLastPara="1" rIns="91425" wrap="square" tIns="91425">
            <a:noAutofit/>
          </a:bodyPr>
          <a:lstStyle/>
          <a:p>
            <a:pPr indent="-337005" lvl="0" marL="457200" rtl="0" algn="l">
              <a:spcBef>
                <a:spcPts val="0"/>
              </a:spcBef>
              <a:spcAft>
                <a:spcPts val="0"/>
              </a:spcAft>
              <a:buClr>
                <a:schemeClr val="dk1"/>
              </a:buClr>
              <a:buSzPts val="1707"/>
              <a:buFont typeface="Inter"/>
              <a:buChar char="-"/>
            </a:pPr>
            <a:r>
              <a:rPr lang="en" sz="1707">
                <a:solidFill>
                  <a:schemeClr val="dk1"/>
                </a:solidFill>
                <a:latin typeface="Inter"/>
                <a:ea typeface="Inter"/>
                <a:cs typeface="Inter"/>
                <a:sym typeface="Inter"/>
              </a:rPr>
              <a:t>AI-powered, customizable teaching </a:t>
            </a:r>
            <a:r>
              <a:rPr lang="en" sz="1707">
                <a:solidFill>
                  <a:schemeClr val="dk1"/>
                </a:solidFill>
                <a:latin typeface="Inter"/>
                <a:ea typeface="Inter"/>
                <a:cs typeface="Inter"/>
                <a:sym typeface="Inter"/>
              </a:rPr>
              <a:t>assistant</a:t>
            </a:r>
            <a:r>
              <a:rPr lang="en" sz="1707">
                <a:solidFill>
                  <a:schemeClr val="dk1"/>
                </a:solidFill>
                <a:latin typeface="Inter"/>
                <a:ea typeface="Inter"/>
                <a:cs typeface="Inter"/>
                <a:sym typeface="Inter"/>
              </a:rPr>
              <a:t> based on ChatGPT</a:t>
            </a:r>
            <a:endParaRPr sz="1707">
              <a:solidFill>
                <a:schemeClr val="dk1"/>
              </a:solidFill>
              <a:latin typeface="Inter"/>
              <a:ea typeface="Inter"/>
              <a:cs typeface="Inter"/>
              <a:sym typeface="Inter"/>
            </a:endParaRPr>
          </a:p>
          <a:p>
            <a:pPr indent="-337005" lvl="0" marL="457200" rtl="0" algn="l">
              <a:spcBef>
                <a:spcPts val="0"/>
              </a:spcBef>
              <a:spcAft>
                <a:spcPts val="0"/>
              </a:spcAft>
              <a:buClr>
                <a:schemeClr val="dk1"/>
              </a:buClr>
              <a:buSzPts val="1707"/>
              <a:buFont typeface="Inter"/>
              <a:buChar char="-"/>
            </a:pPr>
            <a:r>
              <a:rPr lang="en" sz="1707">
                <a:solidFill>
                  <a:schemeClr val="dk1"/>
                </a:solidFill>
                <a:latin typeface="Inter"/>
                <a:ea typeface="Inter"/>
                <a:cs typeface="Inter"/>
                <a:sym typeface="Inter"/>
              </a:rPr>
              <a:t>Developed at Harvard</a:t>
            </a:r>
            <a:endParaRPr sz="1707">
              <a:solidFill>
                <a:schemeClr val="dk1"/>
              </a:solidFill>
              <a:latin typeface="Inter"/>
              <a:ea typeface="Inter"/>
              <a:cs typeface="Inter"/>
              <a:sym typeface="Inter"/>
            </a:endParaRPr>
          </a:p>
          <a:p>
            <a:pPr indent="-337005" lvl="0" marL="457200" rtl="0" algn="l">
              <a:spcBef>
                <a:spcPts val="0"/>
              </a:spcBef>
              <a:spcAft>
                <a:spcPts val="0"/>
              </a:spcAft>
              <a:buClr>
                <a:schemeClr val="dk1"/>
              </a:buClr>
              <a:buSzPts val="1707"/>
              <a:buFont typeface="Inter"/>
              <a:buChar char="-"/>
            </a:pPr>
            <a:r>
              <a:rPr lang="en" sz="1707">
                <a:solidFill>
                  <a:schemeClr val="dk1"/>
                </a:solidFill>
                <a:latin typeface="Inter"/>
                <a:ea typeface="Inter"/>
                <a:cs typeface="Inter"/>
                <a:sym typeface="Inter"/>
              </a:rPr>
              <a:t>Used in </a:t>
            </a:r>
            <a:r>
              <a:rPr lang="en" sz="1707">
                <a:solidFill>
                  <a:schemeClr val="dk1"/>
                </a:solidFill>
                <a:latin typeface="Inter"/>
                <a:ea typeface="Inter"/>
                <a:cs typeface="Inter"/>
                <a:sym typeface="Inter"/>
              </a:rPr>
              <a:t>Fall 2024</a:t>
            </a:r>
            <a:r>
              <a:rPr lang="en" sz="1707">
                <a:solidFill>
                  <a:schemeClr val="dk1"/>
                </a:solidFill>
                <a:latin typeface="Inter"/>
                <a:ea typeface="Inter"/>
                <a:cs typeface="Inter"/>
                <a:sym typeface="Inter"/>
              </a:rPr>
              <a:t> Stat 131A </a:t>
            </a:r>
            <a:endParaRPr sz="1707">
              <a:solidFill>
                <a:schemeClr val="dk1"/>
              </a:solidFill>
              <a:latin typeface="Inter"/>
              <a:ea typeface="Inter"/>
              <a:cs typeface="Inter"/>
              <a:sym typeface="Inter"/>
            </a:endParaRPr>
          </a:p>
          <a:p>
            <a:pPr indent="0" lvl="0" marL="0" rtl="0" algn="l">
              <a:spcBef>
                <a:spcPts val="1200"/>
              </a:spcBef>
              <a:spcAft>
                <a:spcPts val="1200"/>
              </a:spcAft>
              <a:buNone/>
            </a:pPr>
            <a:r>
              <a:t/>
            </a:r>
            <a:endParaRPr sz="1200">
              <a:solidFill>
                <a:schemeClr val="dk1"/>
              </a:solidFill>
              <a:latin typeface="Source Code Pro"/>
              <a:ea typeface="Source Code Pro"/>
              <a:cs typeface="Source Code Pro"/>
              <a:sym typeface="Source Code Pro"/>
            </a:endParaRPr>
          </a:p>
        </p:txBody>
      </p:sp>
      <p:pic>
        <p:nvPicPr>
          <p:cNvPr id="70" name="Google Shape;70;p15"/>
          <p:cNvPicPr preferRelativeResize="0"/>
          <p:nvPr/>
        </p:nvPicPr>
        <p:blipFill>
          <a:blip r:embed="rId3">
            <a:alphaModFix/>
          </a:blip>
          <a:stretch>
            <a:fillRect/>
          </a:stretch>
        </p:blipFill>
        <p:spPr>
          <a:xfrm>
            <a:off x="3491200" y="1248425"/>
            <a:ext cx="5585151" cy="31444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245750" y="2285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Inter"/>
                <a:ea typeface="Inter"/>
                <a:cs typeface="Inter"/>
                <a:sym typeface="Inter"/>
              </a:rPr>
              <a:t>Live Demo</a:t>
            </a:r>
            <a:endParaRPr>
              <a:latin typeface="Inter"/>
              <a:ea typeface="Inter"/>
              <a:cs typeface="Inter"/>
              <a:sym typeface="Inter"/>
            </a:endParaRPr>
          </a:p>
          <a:p>
            <a:pPr indent="0" lvl="0" marL="0" rtl="0" algn="l">
              <a:spcBef>
                <a:spcPts val="0"/>
              </a:spcBef>
              <a:spcAft>
                <a:spcPts val="0"/>
              </a:spcAft>
              <a:buNone/>
            </a:pPr>
            <a:r>
              <a:t/>
            </a:r>
            <a:endParaRPr>
              <a:latin typeface="Source Code Pro"/>
              <a:ea typeface="Source Code Pro"/>
              <a:cs typeface="Source Code Pro"/>
              <a:sym typeface="Source Code Pro"/>
            </a:endParaRPr>
          </a:p>
        </p:txBody>
      </p:sp>
      <p:sp>
        <p:nvSpPr>
          <p:cNvPr id="76" name="Google Shape;76;p16"/>
          <p:cNvSpPr txBox="1"/>
          <p:nvPr>
            <p:ph idx="1" type="body"/>
          </p:nvPr>
        </p:nvSpPr>
        <p:spPr>
          <a:xfrm>
            <a:off x="9354725" y="3351400"/>
            <a:ext cx="1530900" cy="940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solidFill>
                <a:schemeClr val="dk1"/>
              </a:solidFill>
              <a:latin typeface="Source Code Pro"/>
              <a:ea typeface="Source Code Pro"/>
              <a:cs typeface="Source Code Pro"/>
              <a:sym typeface="Source Code Pr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Inter"/>
                <a:ea typeface="Inter"/>
                <a:cs typeface="Inter"/>
                <a:sym typeface="Inter"/>
              </a:rPr>
              <a:t>What is PingPong’s </a:t>
            </a:r>
            <a:r>
              <a:rPr lang="en">
                <a:latin typeface="Inter"/>
                <a:ea typeface="Inter"/>
                <a:cs typeface="Inter"/>
                <a:sym typeface="Inter"/>
              </a:rPr>
              <a:t>significance</a:t>
            </a:r>
            <a:r>
              <a:rPr lang="en">
                <a:latin typeface="Inter"/>
                <a:ea typeface="Inter"/>
                <a:cs typeface="Inter"/>
                <a:sym typeface="Inter"/>
              </a:rPr>
              <a:t>?</a:t>
            </a:r>
            <a:endParaRPr>
              <a:latin typeface="Inter"/>
              <a:ea typeface="Inter"/>
              <a:cs typeface="Inter"/>
              <a:sym typeface="Inter"/>
            </a:endParaRPr>
          </a:p>
        </p:txBody>
      </p:sp>
      <p:sp>
        <p:nvSpPr>
          <p:cNvPr id="82" name="Google Shape;82;p17"/>
          <p:cNvSpPr txBox="1"/>
          <p:nvPr>
            <p:ph idx="1" type="body"/>
          </p:nvPr>
        </p:nvSpPr>
        <p:spPr>
          <a:xfrm>
            <a:off x="311700" y="1017725"/>
            <a:ext cx="8520600" cy="34164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chemeClr val="dk1"/>
              </a:buClr>
              <a:buSzPts val="1800"/>
              <a:buFont typeface="Inter"/>
              <a:buChar char="-"/>
            </a:pPr>
            <a:r>
              <a:rPr lang="en">
                <a:solidFill>
                  <a:schemeClr val="dk1"/>
                </a:solidFill>
                <a:latin typeface="Inter"/>
                <a:ea typeface="Inter"/>
                <a:cs typeface="Inter"/>
                <a:sym typeface="Inter"/>
              </a:rPr>
              <a:t>LLM</a:t>
            </a:r>
            <a:r>
              <a:rPr lang="en">
                <a:solidFill>
                  <a:schemeClr val="dk1"/>
                </a:solidFill>
                <a:latin typeface="Inter"/>
                <a:ea typeface="Inter"/>
                <a:cs typeface="Inter"/>
                <a:sym typeface="Inter"/>
              </a:rPr>
              <a:t>s are easily accessible</a:t>
            </a:r>
            <a:r>
              <a:rPr lang="en">
                <a:solidFill>
                  <a:schemeClr val="dk1"/>
                </a:solidFill>
                <a:latin typeface="Inter"/>
                <a:ea typeface="Inter"/>
                <a:cs typeface="Inter"/>
                <a:sym typeface="Inter"/>
              </a:rPr>
              <a:t> + freely provide answers</a:t>
            </a:r>
            <a:endParaRPr>
              <a:solidFill>
                <a:schemeClr val="dk1"/>
              </a:solidFill>
              <a:latin typeface="Inter"/>
              <a:ea typeface="Inter"/>
              <a:cs typeface="Inter"/>
              <a:sym typeface="Inter"/>
            </a:endParaRPr>
          </a:p>
          <a:p>
            <a:pPr indent="-342900" lvl="0" marL="457200" rtl="0" algn="l">
              <a:lnSpc>
                <a:spcPct val="150000"/>
              </a:lnSpc>
              <a:spcBef>
                <a:spcPts val="0"/>
              </a:spcBef>
              <a:spcAft>
                <a:spcPts val="0"/>
              </a:spcAft>
              <a:buClr>
                <a:schemeClr val="dk1"/>
              </a:buClr>
              <a:buSzPts val="1800"/>
              <a:buFont typeface="Source Code Pro"/>
              <a:buChar char="-"/>
            </a:pPr>
            <a:r>
              <a:rPr lang="en">
                <a:solidFill>
                  <a:schemeClr val="dk1"/>
                </a:solidFill>
                <a:latin typeface="Inter"/>
                <a:ea typeface="Inter"/>
                <a:cs typeface="Inter"/>
                <a:sym typeface="Inter"/>
              </a:rPr>
              <a:t>PingPong makes it easy for students to use LLMs appropriately</a:t>
            </a:r>
            <a:endParaRPr>
              <a:solidFill>
                <a:schemeClr val="dk1"/>
              </a:solidFill>
              <a:latin typeface="Source Code Pro"/>
              <a:ea typeface="Source Code Pro"/>
              <a:cs typeface="Source Code Pro"/>
              <a:sym typeface="Source Code Pro"/>
            </a:endParaRPr>
          </a:p>
          <a:p>
            <a:pPr indent="0" lvl="0" marL="457200" rtl="0" algn="l">
              <a:spcBef>
                <a:spcPts val="1200"/>
              </a:spcBef>
              <a:spcAft>
                <a:spcPts val="0"/>
              </a:spcAft>
              <a:buNone/>
            </a:pPr>
            <a:r>
              <a:t/>
            </a:r>
            <a:endParaRPr>
              <a:solidFill>
                <a:schemeClr val="dk1"/>
              </a:solidFill>
              <a:latin typeface="Source Code Pro"/>
              <a:ea typeface="Source Code Pro"/>
              <a:cs typeface="Source Code Pro"/>
              <a:sym typeface="Source Code Pro"/>
            </a:endParaRPr>
          </a:p>
          <a:p>
            <a:pPr indent="0" lvl="0" marL="0" rtl="0" algn="l">
              <a:spcBef>
                <a:spcPts val="1200"/>
              </a:spcBef>
              <a:spcAft>
                <a:spcPts val="1200"/>
              </a:spcAft>
              <a:buNone/>
            </a:pPr>
            <a:r>
              <a:t/>
            </a:r>
            <a:endParaRPr>
              <a:solidFill>
                <a:schemeClr val="dk1"/>
              </a:solidFill>
              <a:latin typeface="Source Code Pro"/>
              <a:ea typeface="Source Code Pro"/>
              <a:cs typeface="Source Code Pro"/>
              <a:sym typeface="Source Code Pr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Inter"/>
                <a:ea typeface="Inter"/>
                <a:cs typeface="Inter"/>
                <a:sym typeface="Inter"/>
              </a:rPr>
              <a:t>Why Research PingPong Usage?</a:t>
            </a:r>
            <a:endParaRPr>
              <a:latin typeface="Inter"/>
              <a:ea typeface="Inter"/>
              <a:cs typeface="Inter"/>
              <a:sym typeface="Inter"/>
            </a:endParaRPr>
          </a:p>
        </p:txBody>
      </p:sp>
      <p:sp>
        <p:nvSpPr>
          <p:cNvPr id="88" name="Google Shape;88;p18"/>
          <p:cNvSpPr txBox="1"/>
          <p:nvPr>
            <p:ph idx="1" type="body"/>
          </p:nvPr>
        </p:nvSpPr>
        <p:spPr>
          <a:xfrm>
            <a:off x="311700" y="1017725"/>
            <a:ext cx="5315400" cy="3741000"/>
          </a:xfrm>
          <a:prstGeom prst="rect">
            <a:avLst/>
          </a:prstGeom>
        </p:spPr>
        <p:txBody>
          <a:bodyPr anchorCtr="0" anchor="t" bIns="91425" lIns="91425" spcFirstLastPara="1" rIns="91425" wrap="square" tIns="91425">
            <a:noAutofit/>
          </a:bodyPr>
          <a:lstStyle/>
          <a:p>
            <a:pPr indent="-340677" lvl="0" marL="457200" rtl="0" algn="l">
              <a:lnSpc>
                <a:spcPct val="115000"/>
              </a:lnSpc>
              <a:spcBef>
                <a:spcPts val="0"/>
              </a:spcBef>
              <a:spcAft>
                <a:spcPts val="0"/>
              </a:spcAft>
              <a:buClr>
                <a:schemeClr val="dk1"/>
              </a:buClr>
              <a:buSzPts val="1765"/>
              <a:buFont typeface="Inter"/>
              <a:buChar char="-"/>
            </a:pPr>
            <a:r>
              <a:rPr lang="en" sz="1765">
                <a:solidFill>
                  <a:schemeClr val="dk1"/>
                </a:solidFill>
                <a:latin typeface="Inter"/>
                <a:ea typeface="Inter"/>
                <a:cs typeface="Inter"/>
                <a:sym typeface="Inter"/>
              </a:rPr>
              <a:t>Demonstrate how LLMs can be used to benefit education</a:t>
            </a:r>
            <a:endParaRPr sz="1765">
              <a:solidFill>
                <a:schemeClr val="dk1"/>
              </a:solidFill>
              <a:latin typeface="Inter"/>
              <a:ea typeface="Inter"/>
              <a:cs typeface="Inter"/>
              <a:sym typeface="Inter"/>
            </a:endParaRPr>
          </a:p>
          <a:p>
            <a:pPr indent="-317182" lvl="1" marL="914400" rtl="0" algn="l">
              <a:lnSpc>
                <a:spcPct val="115000"/>
              </a:lnSpc>
              <a:spcBef>
                <a:spcPts val="0"/>
              </a:spcBef>
              <a:spcAft>
                <a:spcPts val="0"/>
              </a:spcAft>
              <a:buClr>
                <a:schemeClr val="dk1"/>
              </a:buClr>
              <a:buSzPts val="1395"/>
              <a:buFont typeface="Inter"/>
              <a:buChar char="-"/>
            </a:pPr>
            <a:r>
              <a:rPr lang="en" sz="1395">
                <a:solidFill>
                  <a:schemeClr val="dk1"/>
                </a:solidFill>
                <a:latin typeface="Inter"/>
                <a:ea typeface="Inter"/>
                <a:cs typeface="Inter"/>
                <a:sym typeface="Inter"/>
              </a:rPr>
              <a:t>Increase number of educational resources</a:t>
            </a:r>
            <a:endParaRPr sz="1395">
              <a:solidFill>
                <a:schemeClr val="dk1"/>
              </a:solidFill>
              <a:latin typeface="Inter"/>
              <a:ea typeface="Inter"/>
              <a:cs typeface="Inter"/>
              <a:sym typeface="Inter"/>
            </a:endParaRPr>
          </a:p>
          <a:p>
            <a:pPr indent="-317182" lvl="1" marL="914400" rtl="0" algn="l">
              <a:lnSpc>
                <a:spcPct val="115000"/>
              </a:lnSpc>
              <a:spcBef>
                <a:spcPts val="0"/>
              </a:spcBef>
              <a:spcAft>
                <a:spcPts val="0"/>
              </a:spcAft>
              <a:buClr>
                <a:schemeClr val="dk1"/>
              </a:buClr>
              <a:buSzPts val="1395"/>
              <a:buFont typeface="Inter"/>
              <a:buChar char="-"/>
            </a:pPr>
            <a:r>
              <a:rPr lang="en" sz="1395">
                <a:solidFill>
                  <a:schemeClr val="dk1"/>
                </a:solidFill>
                <a:latin typeface="Inter"/>
                <a:ea typeface="Inter"/>
                <a:cs typeface="Inter"/>
                <a:sym typeface="Inter"/>
              </a:rPr>
              <a:t>Make tutoring widely available</a:t>
            </a:r>
            <a:endParaRPr sz="1395">
              <a:solidFill>
                <a:schemeClr val="dk1"/>
              </a:solidFill>
              <a:latin typeface="Inter"/>
              <a:ea typeface="Inter"/>
              <a:cs typeface="Inter"/>
              <a:sym typeface="Inter"/>
            </a:endParaRPr>
          </a:p>
          <a:p>
            <a:pPr indent="-317182" lvl="1" marL="914400" rtl="0" algn="l">
              <a:lnSpc>
                <a:spcPct val="115000"/>
              </a:lnSpc>
              <a:spcBef>
                <a:spcPts val="0"/>
              </a:spcBef>
              <a:spcAft>
                <a:spcPts val="0"/>
              </a:spcAft>
              <a:buClr>
                <a:schemeClr val="dk1"/>
              </a:buClr>
              <a:buSzPts val="1395"/>
              <a:buFont typeface="Inter"/>
              <a:buChar char="-"/>
            </a:pPr>
            <a:r>
              <a:rPr lang="en" sz="1395">
                <a:solidFill>
                  <a:schemeClr val="dk1"/>
                </a:solidFill>
                <a:latin typeface="Inter"/>
                <a:ea typeface="Inter"/>
                <a:cs typeface="Inter"/>
                <a:sym typeface="Inter"/>
              </a:rPr>
              <a:t>Lower the barrier of entry to get help</a:t>
            </a:r>
            <a:endParaRPr sz="1395">
              <a:solidFill>
                <a:schemeClr val="dk1"/>
              </a:solidFill>
              <a:latin typeface="Inter"/>
              <a:ea typeface="Inter"/>
              <a:cs typeface="Inter"/>
              <a:sym typeface="Inter"/>
            </a:endParaRPr>
          </a:p>
          <a:p>
            <a:pPr indent="0" lvl="0" marL="0" rtl="0" algn="l">
              <a:lnSpc>
                <a:spcPct val="115000"/>
              </a:lnSpc>
              <a:spcBef>
                <a:spcPts val="1200"/>
              </a:spcBef>
              <a:spcAft>
                <a:spcPts val="0"/>
              </a:spcAft>
              <a:buNone/>
            </a:pPr>
            <a:r>
              <a:t/>
            </a:r>
            <a:endParaRPr sz="1395">
              <a:solidFill>
                <a:schemeClr val="dk1"/>
              </a:solidFill>
              <a:latin typeface="Inter"/>
              <a:ea typeface="Inter"/>
              <a:cs typeface="Inter"/>
              <a:sym typeface="Inter"/>
            </a:endParaRPr>
          </a:p>
          <a:p>
            <a:pPr indent="0" lvl="0" marL="914400" rtl="0" algn="l">
              <a:lnSpc>
                <a:spcPct val="105000"/>
              </a:lnSpc>
              <a:spcBef>
                <a:spcPts val="1200"/>
              </a:spcBef>
              <a:spcAft>
                <a:spcPts val="1200"/>
              </a:spcAft>
              <a:buSzPts val="1018"/>
              <a:buNone/>
            </a:pPr>
            <a:r>
              <a:t/>
            </a:r>
            <a:endParaRPr sz="1865">
              <a:solidFill>
                <a:schemeClr val="dk1"/>
              </a:solidFill>
              <a:latin typeface="Source Code Pro"/>
              <a:ea typeface="Source Code Pro"/>
              <a:cs typeface="Source Code Pro"/>
              <a:sym typeface="Source Code Pro"/>
            </a:endParaRPr>
          </a:p>
        </p:txBody>
      </p:sp>
      <p:pic>
        <p:nvPicPr>
          <p:cNvPr id="89" name="Google Shape;89;p18"/>
          <p:cNvPicPr preferRelativeResize="0"/>
          <p:nvPr/>
        </p:nvPicPr>
        <p:blipFill>
          <a:blip r:embed="rId4">
            <a:alphaModFix/>
          </a:blip>
          <a:stretch>
            <a:fillRect/>
          </a:stretch>
        </p:blipFill>
        <p:spPr>
          <a:xfrm>
            <a:off x="5627100" y="1254698"/>
            <a:ext cx="3021051" cy="2265800"/>
          </a:xfrm>
          <a:prstGeom prst="rect">
            <a:avLst/>
          </a:prstGeom>
          <a:noFill/>
          <a:ln>
            <a:noFill/>
          </a:ln>
        </p:spPr>
      </p:pic>
      <p:sp>
        <p:nvSpPr>
          <p:cNvPr id="90" name="Google Shape;90;p18"/>
          <p:cNvSpPr txBox="1"/>
          <p:nvPr/>
        </p:nvSpPr>
        <p:spPr>
          <a:xfrm>
            <a:off x="6044325" y="3520500"/>
            <a:ext cx="2336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Inter"/>
                <a:ea typeface="Inter"/>
                <a:cs typeface="Inter"/>
                <a:sym typeface="Inter"/>
              </a:rPr>
              <a:t>SLC at Berkeley</a:t>
            </a:r>
            <a:endParaRPr sz="1800">
              <a:solidFill>
                <a:schemeClr val="dk1"/>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Inter"/>
                <a:ea typeface="Inter"/>
                <a:cs typeface="Inter"/>
                <a:sym typeface="Inter"/>
              </a:rPr>
              <a:t>Why Research PingPong Usage?</a:t>
            </a:r>
            <a:endParaRPr>
              <a:latin typeface="Inter"/>
              <a:ea typeface="Inter"/>
              <a:cs typeface="Inter"/>
              <a:sym typeface="Inter"/>
            </a:endParaRPr>
          </a:p>
        </p:txBody>
      </p:sp>
      <p:sp>
        <p:nvSpPr>
          <p:cNvPr id="96" name="Google Shape;96;p19"/>
          <p:cNvSpPr txBox="1"/>
          <p:nvPr>
            <p:ph idx="1" type="body"/>
          </p:nvPr>
        </p:nvSpPr>
        <p:spPr>
          <a:xfrm>
            <a:off x="311700" y="1017725"/>
            <a:ext cx="5315400" cy="3741000"/>
          </a:xfrm>
          <a:prstGeom prst="rect">
            <a:avLst/>
          </a:prstGeom>
        </p:spPr>
        <p:txBody>
          <a:bodyPr anchorCtr="0" anchor="t" bIns="91425" lIns="91425" spcFirstLastPara="1" rIns="91425" wrap="square" tIns="91425">
            <a:noAutofit/>
          </a:bodyPr>
          <a:lstStyle/>
          <a:p>
            <a:pPr indent="-340677" lvl="0" marL="457200" rtl="0" algn="l">
              <a:lnSpc>
                <a:spcPct val="115000"/>
              </a:lnSpc>
              <a:spcBef>
                <a:spcPts val="0"/>
              </a:spcBef>
              <a:spcAft>
                <a:spcPts val="0"/>
              </a:spcAft>
              <a:buClr>
                <a:schemeClr val="dk1"/>
              </a:buClr>
              <a:buSzPts val="1765"/>
              <a:buFont typeface="Inter"/>
              <a:buChar char="-"/>
            </a:pPr>
            <a:r>
              <a:rPr lang="en" sz="1765">
                <a:solidFill>
                  <a:schemeClr val="dk1"/>
                </a:solidFill>
                <a:latin typeface="Inter"/>
                <a:ea typeface="Inter"/>
                <a:cs typeface="Inter"/>
                <a:sym typeface="Inter"/>
              </a:rPr>
              <a:t>Demonstrate how LLMs can be used to benefit education</a:t>
            </a:r>
            <a:endParaRPr sz="1765">
              <a:solidFill>
                <a:schemeClr val="dk1"/>
              </a:solidFill>
              <a:latin typeface="Inter"/>
              <a:ea typeface="Inter"/>
              <a:cs typeface="Inter"/>
              <a:sym typeface="Inter"/>
            </a:endParaRPr>
          </a:p>
          <a:p>
            <a:pPr indent="-317182" lvl="1" marL="914400" rtl="0" algn="l">
              <a:lnSpc>
                <a:spcPct val="115000"/>
              </a:lnSpc>
              <a:spcBef>
                <a:spcPts val="0"/>
              </a:spcBef>
              <a:spcAft>
                <a:spcPts val="0"/>
              </a:spcAft>
              <a:buClr>
                <a:schemeClr val="dk1"/>
              </a:buClr>
              <a:buSzPts val="1395"/>
              <a:buFont typeface="Inter"/>
              <a:buChar char="-"/>
            </a:pPr>
            <a:r>
              <a:rPr lang="en" sz="1395">
                <a:solidFill>
                  <a:schemeClr val="dk1"/>
                </a:solidFill>
                <a:latin typeface="Inter"/>
                <a:ea typeface="Inter"/>
                <a:cs typeface="Inter"/>
                <a:sym typeface="Inter"/>
              </a:rPr>
              <a:t>Increase number of educational resources</a:t>
            </a:r>
            <a:endParaRPr sz="1395">
              <a:solidFill>
                <a:schemeClr val="dk1"/>
              </a:solidFill>
              <a:latin typeface="Inter"/>
              <a:ea typeface="Inter"/>
              <a:cs typeface="Inter"/>
              <a:sym typeface="Inter"/>
            </a:endParaRPr>
          </a:p>
          <a:p>
            <a:pPr indent="-317182" lvl="1" marL="914400" rtl="0" algn="l">
              <a:lnSpc>
                <a:spcPct val="115000"/>
              </a:lnSpc>
              <a:spcBef>
                <a:spcPts val="0"/>
              </a:spcBef>
              <a:spcAft>
                <a:spcPts val="0"/>
              </a:spcAft>
              <a:buClr>
                <a:schemeClr val="dk1"/>
              </a:buClr>
              <a:buSzPts val="1395"/>
              <a:buFont typeface="Inter"/>
              <a:buChar char="-"/>
            </a:pPr>
            <a:r>
              <a:rPr lang="en" sz="1395">
                <a:solidFill>
                  <a:schemeClr val="dk1"/>
                </a:solidFill>
                <a:latin typeface="Inter"/>
                <a:ea typeface="Inter"/>
                <a:cs typeface="Inter"/>
                <a:sym typeface="Inter"/>
              </a:rPr>
              <a:t>Make tutoring widely available</a:t>
            </a:r>
            <a:endParaRPr sz="1395">
              <a:solidFill>
                <a:schemeClr val="dk1"/>
              </a:solidFill>
              <a:latin typeface="Inter"/>
              <a:ea typeface="Inter"/>
              <a:cs typeface="Inter"/>
              <a:sym typeface="Inter"/>
            </a:endParaRPr>
          </a:p>
          <a:p>
            <a:pPr indent="-317182" lvl="1" marL="914400" rtl="0" algn="l">
              <a:lnSpc>
                <a:spcPct val="115000"/>
              </a:lnSpc>
              <a:spcBef>
                <a:spcPts val="0"/>
              </a:spcBef>
              <a:spcAft>
                <a:spcPts val="0"/>
              </a:spcAft>
              <a:buClr>
                <a:schemeClr val="dk1"/>
              </a:buClr>
              <a:buSzPts val="1395"/>
              <a:buFont typeface="Inter"/>
              <a:buChar char="-"/>
            </a:pPr>
            <a:r>
              <a:rPr lang="en" sz="1395">
                <a:solidFill>
                  <a:schemeClr val="dk1"/>
                </a:solidFill>
                <a:latin typeface="Inter"/>
                <a:ea typeface="Inter"/>
                <a:cs typeface="Inter"/>
                <a:sym typeface="Inter"/>
              </a:rPr>
              <a:t>Lower the barrier of entry to get help</a:t>
            </a:r>
            <a:endParaRPr sz="1395">
              <a:solidFill>
                <a:schemeClr val="dk1"/>
              </a:solidFill>
              <a:latin typeface="Inter"/>
              <a:ea typeface="Inter"/>
              <a:cs typeface="Inter"/>
              <a:sym typeface="Inter"/>
            </a:endParaRPr>
          </a:p>
          <a:p>
            <a:pPr indent="0" lvl="0" marL="914400" rtl="0" algn="l">
              <a:lnSpc>
                <a:spcPct val="105000"/>
              </a:lnSpc>
              <a:spcBef>
                <a:spcPts val="1200"/>
              </a:spcBef>
              <a:spcAft>
                <a:spcPts val="0"/>
              </a:spcAft>
              <a:buNone/>
            </a:pPr>
            <a:r>
              <a:t/>
            </a:r>
            <a:endParaRPr sz="1395">
              <a:solidFill>
                <a:schemeClr val="dk1"/>
              </a:solidFill>
              <a:latin typeface="Inter"/>
              <a:ea typeface="Inter"/>
              <a:cs typeface="Inter"/>
              <a:sym typeface="Inter"/>
            </a:endParaRPr>
          </a:p>
          <a:p>
            <a:pPr indent="-340677" lvl="0" marL="457200" rtl="0" algn="l">
              <a:lnSpc>
                <a:spcPct val="115000"/>
              </a:lnSpc>
              <a:spcBef>
                <a:spcPts val="1200"/>
              </a:spcBef>
              <a:spcAft>
                <a:spcPts val="0"/>
              </a:spcAft>
              <a:buClr>
                <a:schemeClr val="dk1"/>
              </a:buClr>
              <a:buSzPts val="1765"/>
              <a:buFont typeface="Inter"/>
              <a:buChar char="-"/>
            </a:pPr>
            <a:r>
              <a:rPr lang="en" sz="1765">
                <a:solidFill>
                  <a:schemeClr val="dk1"/>
                </a:solidFill>
                <a:latin typeface="Inter"/>
                <a:ea typeface="Inter"/>
                <a:cs typeface="Inter"/>
                <a:sym typeface="Inter"/>
              </a:rPr>
              <a:t>Note the consequences of LLMs usage</a:t>
            </a:r>
            <a:endParaRPr sz="1765">
              <a:solidFill>
                <a:schemeClr val="dk1"/>
              </a:solidFill>
              <a:latin typeface="Inter"/>
              <a:ea typeface="Inter"/>
              <a:cs typeface="Inter"/>
              <a:sym typeface="Inter"/>
            </a:endParaRPr>
          </a:p>
          <a:p>
            <a:pPr indent="-317182" lvl="1" marL="914400" rtl="0" algn="l">
              <a:lnSpc>
                <a:spcPct val="115000"/>
              </a:lnSpc>
              <a:spcBef>
                <a:spcPts val="0"/>
              </a:spcBef>
              <a:spcAft>
                <a:spcPts val="0"/>
              </a:spcAft>
              <a:buClr>
                <a:schemeClr val="dk1"/>
              </a:buClr>
              <a:buSzPts val="1395"/>
              <a:buFont typeface="Inter"/>
              <a:buChar char="-"/>
            </a:pPr>
            <a:r>
              <a:rPr lang="en" sz="1395">
                <a:solidFill>
                  <a:schemeClr val="dk1"/>
                </a:solidFill>
                <a:latin typeface="Inter"/>
                <a:ea typeface="Inter"/>
                <a:cs typeface="Inter"/>
                <a:sym typeface="Inter"/>
              </a:rPr>
              <a:t>Lower office hours attendance </a:t>
            </a:r>
            <a:endParaRPr sz="1395">
              <a:solidFill>
                <a:schemeClr val="dk1"/>
              </a:solidFill>
              <a:latin typeface="Inter"/>
              <a:ea typeface="Inter"/>
              <a:cs typeface="Inter"/>
              <a:sym typeface="Inter"/>
            </a:endParaRPr>
          </a:p>
          <a:p>
            <a:pPr indent="-317182" lvl="1" marL="914400" rtl="0" algn="l">
              <a:lnSpc>
                <a:spcPct val="115000"/>
              </a:lnSpc>
              <a:spcBef>
                <a:spcPts val="0"/>
              </a:spcBef>
              <a:spcAft>
                <a:spcPts val="0"/>
              </a:spcAft>
              <a:buClr>
                <a:schemeClr val="dk1"/>
              </a:buClr>
              <a:buSzPts val="1395"/>
              <a:buFont typeface="Inter"/>
              <a:buChar char="-"/>
            </a:pPr>
            <a:r>
              <a:rPr lang="en" sz="1395">
                <a:solidFill>
                  <a:schemeClr val="dk1"/>
                </a:solidFill>
                <a:latin typeface="Inter"/>
                <a:ea typeface="Inter"/>
                <a:cs typeface="Inter"/>
                <a:sym typeface="Inter"/>
              </a:rPr>
              <a:t>Dependence on AI </a:t>
            </a:r>
            <a:endParaRPr sz="1395">
              <a:solidFill>
                <a:schemeClr val="dk1"/>
              </a:solidFill>
              <a:latin typeface="Inter"/>
              <a:ea typeface="Inter"/>
              <a:cs typeface="Inter"/>
              <a:sym typeface="Inter"/>
            </a:endParaRPr>
          </a:p>
          <a:p>
            <a:pPr indent="-317182" lvl="1" marL="914400" rtl="0" algn="l">
              <a:lnSpc>
                <a:spcPct val="115000"/>
              </a:lnSpc>
              <a:spcBef>
                <a:spcPts val="0"/>
              </a:spcBef>
              <a:spcAft>
                <a:spcPts val="0"/>
              </a:spcAft>
              <a:buClr>
                <a:schemeClr val="dk1"/>
              </a:buClr>
              <a:buSzPts val="1395"/>
              <a:buFont typeface="Inter"/>
              <a:buChar char="-"/>
            </a:pPr>
            <a:r>
              <a:rPr lang="en" sz="1395">
                <a:solidFill>
                  <a:schemeClr val="dk1"/>
                </a:solidFill>
                <a:latin typeface="Inter"/>
                <a:ea typeface="Inter"/>
                <a:cs typeface="Inter"/>
                <a:sym typeface="Inter"/>
              </a:rPr>
              <a:t>Unreliable information </a:t>
            </a:r>
            <a:endParaRPr sz="1395">
              <a:solidFill>
                <a:schemeClr val="dk1"/>
              </a:solidFill>
              <a:latin typeface="Inter"/>
              <a:ea typeface="Inter"/>
              <a:cs typeface="Inter"/>
              <a:sym typeface="Inter"/>
            </a:endParaRPr>
          </a:p>
          <a:p>
            <a:pPr indent="0" lvl="0" marL="914400" rtl="0" algn="l">
              <a:lnSpc>
                <a:spcPct val="105000"/>
              </a:lnSpc>
              <a:spcBef>
                <a:spcPts val="1200"/>
              </a:spcBef>
              <a:spcAft>
                <a:spcPts val="1200"/>
              </a:spcAft>
              <a:buSzPts val="1018"/>
              <a:buNone/>
            </a:pPr>
            <a:r>
              <a:t/>
            </a:r>
            <a:endParaRPr sz="1865">
              <a:solidFill>
                <a:schemeClr val="dk1"/>
              </a:solidFill>
              <a:latin typeface="Source Code Pro"/>
              <a:ea typeface="Source Code Pro"/>
              <a:cs typeface="Source Code Pro"/>
              <a:sym typeface="Source Code Pro"/>
            </a:endParaRPr>
          </a:p>
        </p:txBody>
      </p:sp>
      <p:pic>
        <p:nvPicPr>
          <p:cNvPr id="97" name="Google Shape;97;p19"/>
          <p:cNvPicPr preferRelativeResize="0"/>
          <p:nvPr/>
        </p:nvPicPr>
        <p:blipFill>
          <a:blip r:embed="rId4">
            <a:alphaModFix/>
          </a:blip>
          <a:stretch>
            <a:fillRect/>
          </a:stretch>
        </p:blipFill>
        <p:spPr>
          <a:xfrm>
            <a:off x="5627100" y="1254698"/>
            <a:ext cx="3021051" cy="2265800"/>
          </a:xfrm>
          <a:prstGeom prst="rect">
            <a:avLst/>
          </a:prstGeom>
          <a:noFill/>
          <a:ln>
            <a:noFill/>
          </a:ln>
        </p:spPr>
      </p:pic>
      <p:sp>
        <p:nvSpPr>
          <p:cNvPr id="98" name="Google Shape;98;p19"/>
          <p:cNvSpPr txBox="1"/>
          <p:nvPr/>
        </p:nvSpPr>
        <p:spPr>
          <a:xfrm>
            <a:off x="6044325" y="3520500"/>
            <a:ext cx="2336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Inter"/>
                <a:ea typeface="Inter"/>
                <a:cs typeface="Inter"/>
                <a:sym typeface="Inter"/>
              </a:rPr>
              <a:t>SLC at Berkeley</a:t>
            </a:r>
            <a:endParaRPr sz="1800">
              <a:solidFill>
                <a:schemeClr val="dk1"/>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Inter"/>
                <a:ea typeface="Inter"/>
                <a:cs typeface="Inter"/>
                <a:sym typeface="Inter"/>
              </a:rPr>
              <a:t>About our Online Survey</a:t>
            </a:r>
            <a:endParaRPr>
              <a:latin typeface="Inter"/>
              <a:ea typeface="Inter"/>
              <a:cs typeface="Inter"/>
              <a:sym typeface="Inter"/>
            </a:endParaRPr>
          </a:p>
        </p:txBody>
      </p:sp>
      <p:sp>
        <p:nvSpPr>
          <p:cNvPr id="104" name="Google Shape;104;p20"/>
          <p:cNvSpPr txBox="1"/>
          <p:nvPr>
            <p:ph idx="1" type="body"/>
          </p:nvPr>
        </p:nvSpPr>
        <p:spPr>
          <a:xfrm>
            <a:off x="311700" y="1017725"/>
            <a:ext cx="8348700" cy="2323500"/>
          </a:xfrm>
          <a:prstGeom prst="rect">
            <a:avLst/>
          </a:prstGeom>
        </p:spPr>
        <p:txBody>
          <a:bodyPr anchorCtr="0" anchor="t" bIns="91425" lIns="91425" spcFirstLastPara="1" rIns="91425" wrap="square" tIns="91425">
            <a:noAutofit/>
          </a:bodyPr>
          <a:lstStyle/>
          <a:p>
            <a:pPr indent="-340677" lvl="0" marL="457200" rtl="0" algn="l">
              <a:lnSpc>
                <a:spcPct val="150000"/>
              </a:lnSpc>
              <a:spcBef>
                <a:spcPts val="0"/>
              </a:spcBef>
              <a:spcAft>
                <a:spcPts val="0"/>
              </a:spcAft>
              <a:buClr>
                <a:schemeClr val="dk1"/>
              </a:buClr>
              <a:buSzPts val="1765"/>
              <a:buFont typeface="Inter"/>
              <a:buChar char="-"/>
            </a:pPr>
            <a:r>
              <a:rPr lang="en" sz="1765">
                <a:solidFill>
                  <a:schemeClr val="dk1"/>
                </a:solidFill>
                <a:latin typeface="Inter"/>
                <a:ea typeface="Inter"/>
                <a:cs typeface="Inter"/>
                <a:sym typeface="Inter"/>
              </a:rPr>
              <a:t>Target Population: Stat 131A students (mostly DS minors)</a:t>
            </a:r>
            <a:endParaRPr sz="1765">
              <a:solidFill>
                <a:schemeClr val="dk1"/>
              </a:solidFill>
              <a:latin typeface="Inter"/>
              <a:ea typeface="Inter"/>
              <a:cs typeface="Inter"/>
              <a:sym typeface="Inter"/>
            </a:endParaRPr>
          </a:p>
          <a:p>
            <a:pPr indent="-340677" lvl="0" marL="457200" rtl="0" algn="l">
              <a:lnSpc>
                <a:spcPct val="150000"/>
              </a:lnSpc>
              <a:spcBef>
                <a:spcPts val="0"/>
              </a:spcBef>
              <a:spcAft>
                <a:spcPts val="0"/>
              </a:spcAft>
              <a:buClr>
                <a:schemeClr val="dk1"/>
              </a:buClr>
              <a:buSzPts val="1765"/>
              <a:buFont typeface="Inter"/>
              <a:buChar char="-"/>
            </a:pPr>
            <a:r>
              <a:rPr lang="en" sz="1765">
                <a:solidFill>
                  <a:schemeClr val="dk1"/>
                </a:solidFill>
                <a:latin typeface="Inter"/>
                <a:ea typeface="Inter"/>
                <a:cs typeface="Inter"/>
                <a:sym typeface="Inter"/>
              </a:rPr>
              <a:t>Anonymous</a:t>
            </a:r>
            <a:endParaRPr sz="1765">
              <a:solidFill>
                <a:schemeClr val="dk1"/>
              </a:solidFill>
              <a:latin typeface="Inter"/>
              <a:ea typeface="Inter"/>
              <a:cs typeface="Inter"/>
              <a:sym typeface="Inter"/>
            </a:endParaRPr>
          </a:p>
          <a:p>
            <a:pPr indent="-340677" lvl="0" marL="457200" rtl="0" algn="l">
              <a:lnSpc>
                <a:spcPct val="150000"/>
              </a:lnSpc>
              <a:spcBef>
                <a:spcPts val="0"/>
              </a:spcBef>
              <a:spcAft>
                <a:spcPts val="0"/>
              </a:spcAft>
              <a:buClr>
                <a:schemeClr val="dk1"/>
              </a:buClr>
              <a:buSzPts val="1765"/>
              <a:buFont typeface="Inter"/>
              <a:buChar char="-"/>
            </a:pPr>
            <a:r>
              <a:rPr lang="en" sz="1765">
                <a:solidFill>
                  <a:schemeClr val="dk1"/>
                </a:solidFill>
                <a:latin typeface="Inter"/>
                <a:ea typeface="Inter"/>
                <a:cs typeface="Inter"/>
                <a:sym typeface="Inter"/>
              </a:rPr>
              <a:t>~15 questions</a:t>
            </a:r>
            <a:endParaRPr sz="1765">
              <a:solidFill>
                <a:schemeClr val="dk1"/>
              </a:solidFill>
              <a:latin typeface="Inter"/>
              <a:ea typeface="Inter"/>
              <a:cs typeface="Inter"/>
              <a:sym typeface="Inter"/>
            </a:endParaRPr>
          </a:p>
          <a:p>
            <a:pPr indent="-340677" lvl="0" marL="457200" rtl="0" algn="l">
              <a:lnSpc>
                <a:spcPct val="150000"/>
              </a:lnSpc>
              <a:spcBef>
                <a:spcPts val="0"/>
              </a:spcBef>
              <a:spcAft>
                <a:spcPts val="0"/>
              </a:spcAft>
              <a:buClr>
                <a:schemeClr val="dk1"/>
              </a:buClr>
              <a:buSzPts val="1765"/>
              <a:buFont typeface="Inter"/>
              <a:buChar char="-"/>
            </a:pPr>
            <a:r>
              <a:rPr lang="en" sz="1765">
                <a:solidFill>
                  <a:schemeClr val="dk1"/>
                </a:solidFill>
                <a:latin typeface="Inter"/>
                <a:ea typeface="Inter"/>
                <a:cs typeface="Inter"/>
                <a:sym typeface="Inter"/>
              </a:rPr>
              <a:t>53 </a:t>
            </a:r>
            <a:r>
              <a:rPr lang="en" sz="1765">
                <a:solidFill>
                  <a:schemeClr val="dk1"/>
                </a:solidFill>
                <a:latin typeface="Inter"/>
                <a:ea typeface="Inter"/>
                <a:cs typeface="Inter"/>
                <a:sym typeface="Inter"/>
              </a:rPr>
              <a:t>non-incentivized</a:t>
            </a:r>
            <a:r>
              <a:rPr lang="en" sz="1765">
                <a:solidFill>
                  <a:schemeClr val="dk1"/>
                </a:solidFill>
                <a:latin typeface="Inter"/>
                <a:ea typeface="Inter"/>
                <a:cs typeface="Inter"/>
                <a:sym typeface="Inter"/>
              </a:rPr>
              <a:t> r</a:t>
            </a:r>
            <a:r>
              <a:rPr lang="en" sz="1765">
                <a:solidFill>
                  <a:schemeClr val="dk1"/>
                </a:solidFill>
                <a:latin typeface="Inter"/>
                <a:ea typeface="Inter"/>
                <a:cs typeface="Inter"/>
                <a:sym typeface="Inter"/>
              </a:rPr>
              <a:t>esponses</a:t>
            </a:r>
            <a:r>
              <a:rPr lang="en" sz="1765">
                <a:solidFill>
                  <a:schemeClr val="dk1"/>
                </a:solidFill>
                <a:latin typeface="Inter"/>
                <a:ea typeface="Inter"/>
                <a:cs typeface="Inter"/>
                <a:sym typeface="Inter"/>
              </a:rPr>
              <a:t> from a class of 88 (~60%)</a:t>
            </a:r>
            <a:endParaRPr sz="1765">
              <a:solidFill>
                <a:schemeClr val="dk1"/>
              </a:solidFill>
              <a:latin typeface="Inter"/>
              <a:ea typeface="Inter"/>
              <a:cs typeface="Inter"/>
              <a:sym typeface="Inter"/>
            </a:endParaRPr>
          </a:p>
          <a:p>
            <a:pPr indent="0" lvl="0" marL="0" rtl="0" algn="l">
              <a:lnSpc>
                <a:spcPct val="105000"/>
              </a:lnSpc>
              <a:spcBef>
                <a:spcPts val="1200"/>
              </a:spcBef>
              <a:spcAft>
                <a:spcPts val="0"/>
              </a:spcAft>
              <a:buNone/>
            </a:pPr>
            <a:r>
              <a:t/>
            </a:r>
            <a:endParaRPr sz="1765">
              <a:solidFill>
                <a:schemeClr val="dk1"/>
              </a:solidFill>
              <a:latin typeface="Inter"/>
              <a:ea typeface="Inter"/>
              <a:cs typeface="Inter"/>
              <a:sym typeface="Inter"/>
            </a:endParaRPr>
          </a:p>
          <a:p>
            <a:pPr indent="0" lvl="0" marL="914400" rtl="0" algn="l">
              <a:lnSpc>
                <a:spcPct val="105000"/>
              </a:lnSpc>
              <a:spcBef>
                <a:spcPts val="1200"/>
              </a:spcBef>
              <a:spcAft>
                <a:spcPts val="1200"/>
              </a:spcAft>
              <a:buSzPts val="1018"/>
              <a:buNone/>
            </a:pPr>
            <a:r>
              <a:t/>
            </a:r>
            <a:endParaRPr sz="1865">
              <a:solidFill>
                <a:schemeClr val="dk1"/>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Inter"/>
                <a:ea typeface="Inter"/>
                <a:cs typeface="Inter"/>
                <a:sym typeface="Inter"/>
              </a:rPr>
              <a:t>Four Big Ideas From Survey</a:t>
            </a:r>
            <a:endParaRPr>
              <a:latin typeface="Inter"/>
              <a:ea typeface="Inter"/>
              <a:cs typeface="Inter"/>
              <a:sym typeface="Inter"/>
            </a:endParaRPr>
          </a:p>
        </p:txBody>
      </p:sp>
      <p:sp>
        <p:nvSpPr>
          <p:cNvPr id="110" name="Google Shape;110;p21"/>
          <p:cNvSpPr txBox="1"/>
          <p:nvPr/>
        </p:nvSpPr>
        <p:spPr>
          <a:xfrm>
            <a:off x="311700" y="1017725"/>
            <a:ext cx="8447700" cy="4464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1200"/>
              </a:spcAft>
              <a:buNone/>
            </a:pPr>
            <a:r>
              <a:rPr lang="en" sz="1700">
                <a:solidFill>
                  <a:schemeClr val="dk1"/>
                </a:solidFill>
                <a:highlight>
                  <a:srgbClr val="FFFFFF"/>
                </a:highlight>
                <a:latin typeface="Inter"/>
                <a:ea typeface="Inter"/>
                <a:cs typeface="Inter"/>
                <a:sym typeface="Inter"/>
              </a:rPr>
              <a:t>1. </a:t>
            </a:r>
            <a:r>
              <a:rPr lang="en" sz="1700">
                <a:solidFill>
                  <a:schemeClr val="dk1"/>
                </a:solidFill>
                <a:highlight>
                  <a:srgbClr val="FFFFFF"/>
                </a:highlight>
                <a:latin typeface="Inter"/>
                <a:ea typeface="Inter"/>
                <a:cs typeface="Inter"/>
                <a:sym typeface="Inter"/>
              </a:rPr>
              <a:t>Students </a:t>
            </a:r>
            <a:r>
              <a:rPr lang="en" sz="1700">
                <a:solidFill>
                  <a:schemeClr val="dk1"/>
                </a:solidFill>
                <a:highlight>
                  <a:srgbClr val="FFFFFF"/>
                </a:highlight>
                <a:latin typeface="Inter"/>
                <a:ea typeface="Inter"/>
                <a:cs typeface="Inter"/>
                <a:sym typeface="Inter"/>
              </a:rPr>
              <a:t>are aware+</a:t>
            </a:r>
            <a:r>
              <a:rPr b="1" lang="en" sz="1700">
                <a:solidFill>
                  <a:schemeClr val="dk1"/>
                </a:solidFill>
                <a:highlight>
                  <a:srgbClr val="FFFFFF"/>
                </a:highlight>
                <a:latin typeface="Inter"/>
                <a:ea typeface="Inter"/>
                <a:cs typeface="Inter"/>
                <a:sym typeface="Inter"/>
              </a:rPr>
              <a:t>concerned</a:t>
            </a:r>
            <a:r>
              <a:rPr lang="en" sz="1700">
                <a:solidFill>
                  <a:schemeClr val="dk1"/>
                </a:solidFill>
                <a:highlight>
                  <a:srgbClr val="FFFFFF"/>
                </a:highlight>
                <a:latin typeface="Inter"/>
                <a:ea typeface="Inter"/>
                <a:cs typeface="Inter"/>
                <a:sym typeface="Inter"/>
              </a:rPr>
              <a:t> about LLM dependence</a:t>
            </a:r>
            <a:r>
              <a:rPr lang="en" sz="1700">
                <a:solidFill>
                  <a:schemeClr val="dk1"/>
                </a:solidFill>
                <a:highlight>
                  <a:srgbClr val="FFFFFF"/>
                </a:highlight>
                <a:latin typeface="Inter"/>
                <a:ea typeface="Inter"/>
                <a:cs typeface="Inter"/>
                <a:sym typeface="Inter"/>
              </a:rPr>
              <a:t> </a:t>
            </a:r>
            <a:endParaRPr sz="1700">
              <a:solidFill>
                <a:schemeClr val="dk1"/>
              </a:solidFill>
              <a:highlight>
                <a:srgbClr val="FFFFFF"/>
              </a:highlight>
              <a:latin typeface="Inter"/>
              <a:ea typeface="Inter"/>
              <a:cs typeface="Inter"/>
              <a:sym typeface="Inter"/>
            </a:endParaRPr>
          </a:p>
        </p:txBody>
      </p:sp>
      <p:sp>
        <p:nvSpPr>
          <p:cNvPr id="111" name="Google Shape;111;p21"/>
          <p:cNvSpPr txBox="1"/>
          <p:nvPr/>
        </p:nvSpPr>
        <p:spPr>
          <a:xfrm>
            <a:off x="311700" y="1464125"/>
            <a:ext cx="6448500" cy="4464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1200"/>
              </a:spcAft>
              <a:buNone/>
            </a:pPr>
            <a:r>
              <a:rPr lang="en" sz="1700">
                <a:solidFill>
                  <a:schemeClr val="dk1"/>
                </a:solidFill>
                <a:highlight>
                  <a:schemeClr val="lt1"/>
                </a:highlight>
                <a:latin typeface="Inter"/>
                <a:ea typeface="Inter"/>
                <a:cs typeface="Inter"/>
                <a:sym typeface="Inter"/>
              </a:rPr>
              <a:t>2. </a:t>
            </a:r>
            <a:r>
              <a:rPr lang="en" sz="1700">
                <a:solidFill>
                  <a:schemeClr val="dk1"/>
                </a:solidFill>
                <a:highlight>
                  <a:schemeClr val="lt1"/>
                </a:highlight>
                <a:latin typeface="Inter"/>
                <a:ea typeface="Inter"/>
                <a:cs typeface="Inter"/>
                <a:sym typeface="Inter"/>
              </a:rPr>
              <a:t>PingPong </a:t>
            </a:r>
            <a:r>
              <a:rPr b="1" lang="en" sz="1700">
                <a:solidFill>
                  <a:schemeClr val="dk1"/>
                </a:solidFill>
                <a:highlight>
                  <a:schemeClr val="lt1"/>
                </a:highlight>
                <a:latin typeface="Inter"/>
                <a:ea typeface="Inter"/>
                <a:cs typeface="Inter"/>
                <a:sym typeface="Inter"/>
              </a:rPr>
              <a:t>slows down</a:t>
            </a:r>
            <a:r>
              <a:rPr lang="en" sz="1700">
                <a:solidFill>
                  <a:schemeClr val="dk1"/>
                </a:solidFill>
                <a:highlight>
                  <a:schemeClr val="lt1"/>
                </a:highlight>
                <a:latin typeface="Inter"/>
                <a:ea typeface="Inter"/>
                <a:cs typeface="Inter"/>
                <a:sym typeface="Inter"/>
              </a:rPr>
              <a:t> interactions (liked+disliked)</a:t>
            </a:r>
            <a:endParaRPr sz="1800">
              <a:solidFill>
                <a:schemeClr val="dk2"/>
              </a:solidFill>
            </a:endParaRPr>
          </a:p>
        </p:txBody>
      </p:sp>
      <p:sp>
        <p:nvSpPr>
          <p:cNvPr id="112" name="Google Shape;112;p21"/>
          <p:cNvSpPr txBox="1"/>
          <p:nvPr/>
        </p:nvSpPr>
        <p:spPr>
          <a:xfrm>
            <a:off x="311700" y="1910525"/>
            <a:ext cx="6689100" cy="4464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1200"/>
              </a:spcAft>
              <a:buNone/>
            </a:pPr>
            <a:r>
              <a:rPr lang="en" sz="1700">
                <a:solidFill>
                  <a:schemeClr val="dk1"/>
                </a:solidFill>
                <a:highlight>
                  <a:schemeClr val="lt1"/>
                </a:highlight>
                <a:latin typeface="Inter"/>
                <a:ea typeface="Inter"/>
                <a:cs typeface="Inter"/>
                <a:sym typeface="Inter"/>
              </a:rPr>
              <a:t>3. </a:t>
            </a:r>
            <a:r>
              <a:rPr lang="en" sz="1700">
                <a:solidFill>
                  <a:schemeClr val="dk1"/>
                </a:solidFill>
                <a:highlight>
                  <a:schemeClr val="lt1"/>
                </a:highlight>
                <a:latin typeface="Inter"/>
                <a:ea typeface="Inter"/>
                <a:cs typeface="Inter"/>
                <a:sym typeface="Inter"/>
              </a:rPr>
              <a:t>Students want </a:t>
            </a:r>
            <a:r>
              <a:rPr b="1" lang="en" sz="1700">
                <a:solidFill>
                  <a:schemeClr val="dk1"/>
                </a:solidFill>
                <a:highlight>
                  <a:schemeClr val="lt1"/>
                </a:highlight>
                <a:latin typeface="Inter"/>
                <a:ea typeface="Inter"/>
                <a:cs typeface="Inter"/>
                <a:sym typeface="Inter"/>
              </a:rPr>
              <a:t>customized</a:t>
            </a:r>
            <a:r>
              <a:rPr lang="en" sz="1700">
                <a:solidFill>
                  <a:schemeClr val="dk1"/>
                </a:solidFill>
                <a:highlight>
                  <a:schemeClr val="lt1"/>
                </a:highlight>
                <a:latin typeface="Inter"/>
                <a:ea typeface="Inter"/>
                <a:cs typeface="Inter"/>
                <a:sym typeface="Inter"/>
              </a:rPr>
              <a:t> chatbots in other courses</a:t>
            </a:r>
            <a:endParaRPr/>
          </a:p>
        </p:txBody>
      </p:sp>
      <p:sp>
        <p:nvSpPr>
          <p:cNvPr id="113" name="Google Shape;113;p21"/>
          <p:cNvSpPr txBox="1"/>
          <p:nvPr/>
        </p:nvSpPr>
        <p:spPr>
          <a:xfrm>
            <a:off x="311700" y="2356925"/>
            <a:ext cx="7988400" cy="4464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1200"/>
              </a:spcAft>
              <a:buNone/>
            </a:pPr>
            <a:r>
              <a:rPr lang="en" sz="1700">
                <a:solidFill>
                  <a:schemeClr val="dk1"/>
                </a:solidFill>
                <a:highlight>
                  <a:schemeClr val="lt1"/>
                </a:highlight>
                <a:latin typeface="Inter"/>
                <a:ea typeface="Inter"/>
                <a:cs typeface="Inter"/>
                <a:sym typeface="Inter"/>
              </a:rPr>
              <a:t>4. </a:t>
            </a:r>
            <a:r>
              <a:rPr lang="en" sz="1700">
                <a:solidFill>
                  <a:schemeClr val="dk1"/>
                </a:solidFill>
                <a:highlight>
                  <a:schemeClr val="lt1"/>
                </a:highlight>
                <a:latin typeface="Inter"/>
                <a:ea typeface="Inter"/>
                <a:cs typeface="Inter"/>
                <a:sym typeface="Inter"/>
              </a:rPr>
              <a:t>Students believe they go to </a:t>
            </a:r>
            <a:r>
              <a:rPr b="1" lang="en" sz="1700">
                <a:solidFill>
                  <a:schemeClr val="dk1"/>
                </a:solidFill>
                <a:highlight>
                  <a:schemeClr val="lt1"/>
                </a:highlight>
                <a:latin typeface="Inter"/>
                <a:ea typeface="Inter"/>
                <a:cs typeface="Inter"/>
                <a:sym typeface="Inter"/>
              </a:rPr>
              <a:t>OH less </a:t>
            </a:r>
            <a:r>
              <a:rPr lang="en" sz="1700">
                <a:solidFill>
                  <a:schemeClr val="dk1"/>
                </a:solidFill>
                <a:highlight>
                  <a:schemeClr val="lt1"/>
                </a:highlight>
                <a:latin typeface="Inter"/>
                <a:ea typeface="Inter"/>
                <a:cs typeface="Inter"/>
                <a:sym typeface="Inter"/>
              </a:rPr>
              <a:t>because of LLMs</a:t>
            </a:r>
            <a:endParaRPr sz="18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ph type="title"/>
          </p:nvPr>
        </p:nvSpPr>
        <p:spPr>
          <a:xfrm>
            <a:off x="311700" y="2285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Inter"/>
                <a:ea typeface="Inter"/>
                <a:cs typeface="Inter"/>
                <a:sym typeface="Inter"/>
              </a:rPr>
              <a:t>Now let’s get into the survey results</a:t>
            </a:r>
            <a:r>
              <a:rPr lang="en">
                <a:latin typeface="Inter"/>
                <a:ea typeface="Inter"/>
                <a:cs typeface="Inter"/>
                <a:sym typeface="Inter"/>
              </a:rPr>
              <a:t>...</a:t>
            </a:r>
            <a:endParaRPr>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latin typeface="Inter"/>
                <a:ea typeface="Inter"/>
                <a:cs typeface="Inter"/>
                <a:sym typeface="Inter"/>
              </a:rPr>
              <a:t>2/3 of respondents chatted w/ PingPong &gt;10x</a:t>
            </a:r>
            <a:endParaRPr>
              <a:latin typeface="Inter"/>
              <a:ea typeface="Inter"/>
              <a:cs typeface="Inter"/>
              <a:sym typeface="Inter"/>
            </a:endParaRPr>
          </a:p>
        </p:txBody>
      </p:sp>
      <p:sp>
        <p:nvSpPr>
          <p:cNvPr id="124" name="Google Shape;124;p23"/>
          <p:cNvSpPr txBox="1"/>
          <p:nvPr>
            <p:ph idx="1" type="body"/>
          </p:nvPr>
        </p:nvSpPr>
        <p:spPr>
          <a:xfrm>
            <a:off x="311700" y="1017725"/>
            <a:ext cx="9041100" cy="19938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750" u="sng">
                <a:solidFill>
                  <a:schemeClr val="dk1"/>
                </a:solidFill>
                <a:latin typeface="Inter"/>
                <a:ea typeface="Inter"/>
                <a:cs typeface="Inter"/>
                <a:sym typeface="Inter"/>
              </a:rPr>
              <a:t>Question</a:t>
            </a:r>
            <a:r>
              <a:rPr lang="en" sz="1750">
                <a:solidFill>
                  <a:schemeClr val="dk1"/>
                </a:solidFill>
                <a:latin typeface="Inter"/>
                <a:ea typeface="Inter"/>
                <a:cs typeface="Inter"/>
                <a:sym typeface="Inter"/>
              </a:rPr>
              <a:t>: </a:t>
            </a:r>
            <a:r>
              <a:rPr lang="en" sz="1750">
                <a:solidFill>
                  <a:schemeClr val="dk1"/>
                </a:solidFill>
                <a:highlight>
                  <a:srgbClr val="FFFFFF"/>
                </a:highlight>
                <a:latin typeface="Inter"/>
                <a:ea typeface="Inter"/>
                <a:cs typeface="Inter"/>
                <a:sym typeface="Inter"/>
              </a:rPr>
              <a:t>How many times have you used PingPong, approximately?</a:t>
            </a:r>
            <a:endParaRPr sz="1750">
              <a:solidFill>
                <a:schemeClr val="dk1"/>
              </a:solidFill>
              <a:latin typeface="Inter"/>
              <a:ea typeface="Inter"/>
              <a:cs typeface="Inter"/>
              <a:sym typeface="Inter"/>
            </a:endParaRPr>
          </a:p>
          <a:p>
            <a:pPr indent="0" lvl="0" marL="914400" rtl="0" algn="l">
              <a:lnSpc>
                <a:spcPct val="105000"/>
              </a:lnSpc>
              <a:spcBef>
                <a:spcPts val="1200"/>
              </a:spcBef>
              <a:spcAft>
                <a:spcPts val="1200"/>
              </a:spcAft>
              <a:buSzPts val="1018"/>
              <a:buNone/>
            </a:pPr>
            <a:r>
              <a:t/>
            </a:r>
            <a:endParaRPr sz="1750">
              <a:solidFill>
                <a:schemeClr val="dk1"/>
              </a:solidFill>
              <a:latin typeface="Source Code Pro"/>
              <a:ea typeface="Source Code Pro"/>
              <a:cs typeface="Source Code Pro"/>
              <a:sym typeface="Source Code Pr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Inter"/>
                <a:ea typeface="Inter"/>
                <a:cs typeface="Inter"/>
                <a:sym typeface="Inter"/>
              </a:rPr>
              <a:t>2/3 of </a:t>
            </a:r>
            <a:r>
              <a:rPr lang="en">
                <a:latin typeface="Inter"/>
                <a:ea typeface="Inter"/>
                <a:cs typeface="Inter"/>
                <a:sym typeface="Inter"/>
              </a:rPr>
              <a:t>respondents</a:t>
            </a:r>
            <a:r>
              <a:rPr lang="en">
                <a:latin typeface="Inter"/>
                <a:ea typeface="Inter"/>
                <a:cs typeface="Inter"/>
                <a:sym typeface="Inter"/>
              </a:rPr>
              <a:t> chatted w/ PingPong &gt;10x</a:t>
            </a:r>
            <a:endParaRPr>
              <a:latin typeface="Inter"/>
              <a:ea typeface="Inter"/>
              <a:cs typeface="Inter"/>
              <a:sym typeface="Inter"/>
            </a:endParaRPr>
          </a:p>
        </p:txBody>
      </p:sp>
      <p:sp>
        <p:nvSpPr>
          <p:cNvPr id="130" name="Google Shape;130;p24"/>
          <p:cNvSpPr txBox="1"/>
          <p:nvPr>
            <p:ph idx="1" type="body"/>
          </p:nvPr>
        </p:nvSpPr>
        <p:spPr>
          <a:xfrm>
            <a:off x="311700" y="1017725"/>
            <a:ext cx="9041100" cy="19938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750" u="sng">
                <a:solidFill>
                  <a:schemeClr val="dk1"/>
                </a:solidFill>
                <a:latin typeface="Inter"/>
                <a:ea typeface="Inter"/>
                <a:cs typeface="Inter"/>
                <a:sym typeface="Inter"/>
              </a:rPr>
              <a:t>Question</a:t>
            </a:r>
            <a:r>
              <a:rPr lang="en" sz="1750">
                <a:solidFill>
                  <a:schemeClr val="dk1"/>
                </a:solidFill>
                <a:latin typeface="Inter"/>
                <a:ea typeface="Inter"/>
                <a:cs typeface="Inter"/>
                <a:sym typeface="Inter"/>
              </a:rPr>
              <a:t>: </a:t>
            </a:r>
            <a:r>
              <a:rPr lang="en" sz="1750">
                <a:solidFill>
                  <a:schemeClr val="dk1"/>
                </a:solidFill>
                <a:highlight>
                  <a:srgbClr val="FFFFFF"/>
                </a:highlight>
                <a:latin typeface="Inter"/>
                <a:ea typeface="Inter"/>
                <a:cs typeface="Inter"/>
                <a:sym typeface="Inter"/>
              </a:rPr>
              <a:t>How many times have you used PingPong, approximately?</a:t>
            </a:r>
            <a:endParaRPr sz="1750">
              <a:solidFill>
                <a:schemeClr val="dk1"/>
              </a:solidFill>
              <a:latin typeface="Inter"/>
              <a:ea typeface="Inter"/>
              <a:cs typeface="Inter"/>
              <a:sym typeface="Inter"/>
            </a:endParaRPr>
          </a:p>
          <a:p>
            <a:pPr indent="0" lvl="0" marL="914400" rtl="0" algn="l">
              <a:lnSpc>
                <a:spcPct val="105000"/>
              </a:lnSpc>
              <a:spcBef>
                <a:spcPts val="1200"/>
              </a:spcBef>
              <a:spcAft>
                <a:spcPts val="1200"/>
              </a:spcAft>
              <a:buSzPts val="1018"/>
              <a:buNone/>
            </a:pPr>
            <a:r>
              <a:t/>
            </a:r>
            <a:endParaRPr sz="1750">
              <a:solidFill>
                <a:schemeClr val="dk1"/>
              </a:solidFill>
              <a:latin typeface="Source Code Pro"/>
              <a:ea typeface="Source Code Pro"/>
              <a:cs typeface="Source Code Pro"/>
              <a:sym typeface="Source Code Pro"/>
            </a:endParaRPr>
          </a:p>
        </p:txBody>
      </p:sp>
      <p:pic>
        <p:nvPicPr>
          <p:cNvPr id="131" name="Google Shape;131;p24"/>
          <p:cNvPicPr preferRelativeResize="0"/>
          <p:nvPr/>
        </p:nvPicPr>
        <p:blipFill rotWithShape="1">
          <a:blip r:embed="rId3">
            <a:alphaModFix/>
          </a:blip>
          <a:srcRect b="0" l="0" r="0" t="5589"/>
          <a:stretch/>
        </p:blipFill>
        <p:spPr>
          <a:xfrm>
            <a:off x="2437250" y="1689825"/>
            <a:ext cx="4269501" cy="316902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5"/>
          <p:cNvSpPr txBox="1"/>
          <p:nvPr>
            <p:ph type="title"/>
          </p:nvPr>
        </p:nvSpPr>
        <p:spPr>
          <a:xfrm>
            <a:off x="109675" y="485250"/>
            <a:ext cx="9034200" cy="1352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Inter"/>
                <a:ea typeface="Inter"/>
                <a:cs typeface="Inter"/>
                <a:sym typeface="Inter"/>
              </a:rPr>
              <a:t>T</a:t>
            </a:r>
            <a:r>
              <a:rPr lang="en">
                <a:latin typeface="Inter"/>
                <a:ea typeface="Inter"/>
                <a:cs typeface="Inter"/>
                <a:sym typeface="Inter"/>
              </a:rPr>
              <a:t>hose who chatted w/ PingPong </a:t>
            </a:r>
            <a:r>
              <a:rPr b="1" lang="en">
                <a:latin typeface="Inter"/>
                <a:ea typeface="Inter"/>
                <a:cs typeface="Inter"/>
                <a:sym typeface="Inter"/>
              </a:rPr>
              <a:t>more</a:t>
            </a:r>
            <a:r>
              <a:rPr lang="en">
                <a:latin typeface="Inter"/>
                <a:ea typeface="Inter"/>
                <a:cs typeface="Inter"/>
                <a:sym typeface="Inter"/>
              </a:rPr>
              <a:t> than 5 times:</a:t>
            </a:r>
            <a:endParaRPr>
              <a:latin typeface="Inter"/>
              <a:ea typeface="Inter"/>
              <a:cs typeface="Inter"/>
              <a:sym typeface="Inter"/>
            </a:endParaRPr>
          </a:p>
        </p:txBody>
      </p:sp>
      <p:pic>
        <p:nvPicPr>
          <p:cNvPr id="137" name="Google Shape;137;p25"/>
          <p:cNvPicPr preferRelativeResize="0"/>
          <p:nvPr/>
        </p:nvPicPr>
        <p:blipFill rotWithShape="1">
          <a:blip r:embed="rId3">
            <a:alphaModFix/>
          </a:blip>
          <a:srcRect b="0" l="0" r="0" t="5589"/>
          <a:stretch/>
        </p:blipFill>
        <p:spPr>
          <a:xfrm>
            <a:off x="2437250" y="1689825"/>
            <a:ext cx="4269501" cy="3169024"/>
          </a:xfrm>
          <a:prstGeom prst="rect">
            <a:avLst/>
          </a:prstGeom>
          <a:noFill/>
          <a:ln>
            <a:noFill/>
          </a:ln>
        </p:spPr>
      </p:pic>
      <p:sp>
        <p:nvSpPr>
          <p:cNvPr id="138" name="Google Shape;138;p25"/>
          <p:cNvSpPr/>
          <p:nvPr/>
        </p:nvSpPr>
        <p:spPr>
          <a:xfrm>
            <a:off x="3937000" y="2436100"/>
            <a:ext cx="2769900" cy="2216700"/>
          </a:xfrm>
          <a:prstGeom prst="rect">
            <a:avLst/>
          </a:prstGeom>
          <a:noFill/>
          <a:ln cap="flat" cmpd="sng" w="1905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Inter"/>
                <a:ea typeface="Inter"/>
                <a:cs typeface="Inter"/>
                <a:sym typeface="Inter"/>
              </a:rPr>
              <a:t>Minority of students prefer vanilla ChatGPT  </a:t>
            </a:r>
            <a:endParaRPr>
              <a:latin typeface="Inter"/>
              <a:ea typeface="Inter"/>
              <a:cs typeface="Inter"/>
              <a:sym typeface="Inter"/>
            </a:endParaRPr>
          </a:p>
        </p:txBody>
      </p:sp>
      <p:sp>
        <p:nvSpPr>
          <p:cNvPr id="144" name="Google Shape;144;p26"/>
          <p:cNvSpPr txBox="1"/>
          <p:nvPr>
            <p:ph idx="1" type="body"/>
          </p:nvPr>
        </p:nvSpPr>
        <p:spPr>
          <a:xfrm>
            <a:off x="187075" y="1017725"/>
            <a:ext cx="3943200" cy="1004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500" u="sng">
                <a:solidFill>
                  <a:schemeClr val="dk1"/>
                </a:solidFill>
                <a:latin typeface="Inter"/>
                <a:ea typeface="Inter"/>
                <a:cs typeface="Inter"/>
                <a:sym typeface="Inter"/>
              </a:rPr>
              <a:t>Question</a:t>
            </a:r>
            <a:r>
              <a:rPr lang="en" sz="1500">
                <a:solidFill>
                  <a:schemeClr val="dk1"/>
                </a:solidFill>
                <a:latin typeface="Inter"/>
                <a:ea typeface="Inter"/>
                <a:cs typeface="Inter"/>
                <a:sym typeface="Inter"/>
              </a:rPr>
              <a:t>: If you wanted to learn more about a statistical concept, would you prefer to use PingPong or another LLM?</a:t>
            </a:r>
            <a:endParaRPr sz="1500">
              <a:solidFill>
                <a:schemeClr val="dk1"/>
              </a:solidFill>
              <a:latin typeface="Inter"/>
              <a:ea typeface="Inter"/>
              <a:cs typeface="Inter"/>
              <a:sym typeface="Inter"/>
            </a:endParaRPr>
          </a:p>
          <a:p>
            <a:pPr indent="0" lvl="0" marL="914400" rtl="0" algn="l">
              <a:lnSpc>
                <a:spcPct val="105000"/>
              </a:lnSpc>
              <a:spcBef>
                <a:spcPts val="1200"/>
              </a:spcBef>
              <a:spcAft>
                <a:spcPts val="1200"/>
              </a:spcAft>
              <a:buSzPts val="1018"/>
              <a:buNone/>
            </a:pPr>
            <a:r>
              <a:t/>
            </a:r>
            <a:endParaRPr sz="1550">
              <a:solidFill>
                <a:schemeClr val="dk1"/>
              </a:solidFill>
              <a:latin typeface="Source Code Pro"/>
              <a:ea typeface="Source Code Pro"/>
              <a:cs typeface="Source Code Pro"/>
              <a:sym typeface="Source Code Pro"/>
            </a:endParaRPr>
          </a:p>
        </p:txBody>
      </p:sp>
      <p:sp>
        <p:nvSpPr>
          <p:cNvPr id="145" name="Google Shape;145;p26"/>
          <p:cNvSpPr txBox="1"/>
          <p:nvPr>
            <p:ph idx="1" type="body"/>
          </p:nvPr>
        </p:nvSpPr>
        <p:spPr>
          <a:xfrm>
            <a:off x="4320675" y="1017725"/>
            <a:ext cx="4424400" cy="1004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500" u="sng">
                <a:solidFill>
                  <a:schemeClr val="dk1"/>
                </a:solidFill>
                <a:latin typeface="Inter"/>
                <a:ea typeface="Inter"/>
                <a:cs typeface="Inter"/>
                <a:sym typeface="Inter"/>
              </a:rPr>
              <a:t>Question</a:t>
            </a:r>
            <a:r>
              <a:rPr lang="en" sz="1500">
                <a:solidFill>
                  <a:schemeClr val="dk1"/>
                </a:solidFill>
                <a:latin typeface="Inter"/>
                <a:ea typeface="Inter"/>
                <a:cs typeface="Inter"/>
                <a:sym typeface="Inter"/>
              </a:rPr>
              <a:t>: </a:t>
            </a:r>
            <a:r>
              <a:rPr lang="en" sz="1500">
                <a:solidFill>
                  <a:schemeClr val="dk1"/>
                </a:solidFill>
                <a:highlight>
                  <a:srgbClr val="FFFFFF"/>
                </a:highlight>
                <a:latin typeface="Inter"/>
                <a:ea typeface="Inter"/>
                <a:cs typeface="Inter"/>
                <a:sym typeface="Inter"/>
              </a:rPr>
              <a:t>Please elaborate on your response to the previous question.</a:t>
            </a:r>
            <a:endParaRPr sz="1500">
              <a:solidFill>
                <a:schemeClr val="dk1"/>
              </a:solidFill>
              <a:latin typeface="Inter"/>
              <a:ea typeface="Inter"/>
              <a:cs typeface="Inter"/>
              <a:sym typeface="Inter"/>
            </a:endParaRPr>
          </a:p>
          <a:p>
            <a:pPr indent="0" lvl="0" marL="914400" rtl="0" algn="l">
              <a:lnSpc>
                <a:spcPct val="105000"/>
              </a:lnSpc>
              <a:spcBef>
                <a:spcPts val="1200"/>
              </a:spcBef>
              <a:spcAft>
                <a:spcPts val="1200"/>
              </a:spcAft>
              <a:buSzPts val="1018"/>
              <a:buNone/>
            </a:pPr>
            <a:r>
              <a:t/>
            </a:r>
            <a:endParaRPr sz="1750">
              <a:solidFill>
                <a:schemeClr val="dk1"/>
              </a:solidFill>
              <a:latin typeface="Source Code Pro"/>
              <a:ea typeface="Source Code Pro"/>
              <a:cs typeface="Source Code Pro"/>
              <a:sym typeface="Source Code Pr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Inter"/>
                <a:ea typeface="Inter"/>
                <a:cs typeface="Inter"/>
                <a:sym typeface="Inter"/>
              </a:rPr>
              <a:t>Few </a:t>
            </a:r>
            <a:r>
              <a:rPr lang="en">
                <a:latin typeface="Inter"/>
                <a:ea typeface="Inter"/>
                <a:cs typeface="Inter"/>
                <a:sym typeface="Inter"/>
              </a:rPr>
              <a:t>students prefer vanilla ChatGPT  </a:t>
            </a:r>
            <a:endParaRPr>
              <a:latin typeface="Inter"/>
              <a:ea typeface="Inter"/>
              <a:cs typeface="Inter"/>
              <a:sym typeface="Inter"/>
            </a:endParaRPr>
          </a:p>
        </p:txBody>
      </p:sp>
      <p:sp>
        <p:nvSpPr>
          <p:cNvPr id="151" name="Google Shape;151;p27"/>
          <p:cNvSpPr txBox="1"/>
          <p:nvPr>
            <p:ph idx="1" type="body"/>
          </p:nvPr>
        </p:nvSpPr>
        <p:spPr>
          <a:xfrm>
            <a:off x="187075" y="1017725"/>
            <a:ext cx="3943200" cy="1004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500" u="sng">
                <a:solidFill>
                  <a:schemeClr val="dk1"/>
                </a:solidFill>
                <a:latin typeface="Inter"/>
                <a:ea typeface="Inter"/>
                <a:cs typeface="Inter"/>
                <a:sym typeface="Inter"/>
              </a:rPr>
              <a:t>Question</a:t>
            </a:r>
            <a:r>
              <a:rPr lang="en" sz="1500">
                <a:solidFill>
                  <a:schemeClr val="dk1"/>
                </a:solidFill>
                <a:latin typeface="Inter"/>
                <a:ea typeface="Inter"/>
                <a:cs typeface="Inter"/>
                <a:sym typeface="Inter"/>
              </a:rPr>
              <a:t>: If you wanted to learn more about a statistical concept, would you prefer to use PingPong or another LLM?</a:t>
            </a:r>
            <a:endParaRPr sz="1500">
              <a:solidFill>
                <a:schemeClr val="dk1"/>
              </a:solidFill>
              <a:latin typeface="Inter"/>
              <a:ea typeface="Inter"/>
              <a:cs typeface="Inter"/>
              <a:sym typeface="Inter"/>
            </a:endParaRPr>
          </a:p>
          <a:p>
            <a:pPr indent="0" lvl="0" marL="914400" rtl="0" algn="l">
              <a:lnSpc>
                <a:spcPct val="105000"/>
              </a:lnSpc>
              <a:spcBef>
                <a:spcPts val="1200"/>
              </a:spcBef>
              <a:spcAft>
                <a:spcPts val="1200"/>
              </a:spcAft>
              <a:buSzPts val="1018"/>
              <a:buNone/>
            </a:pPr>
            <a:r>
              <a:t/>
            </a:r>
            <a:endParaRPr sz="1550">
              <a:solidFill>
                <a:schemeClr val="dk1"/>
              </a:solidFill>
              <a:latin typeface="Source Code Pro"/>
              <a:ea typeface="Source Code Pro"/>
              <a:cs typeface="Source Code Pro"/>
              <a:sym typeface="Source Code Pro"/>
            </a:endParaRPr>
          </a:p>
        </p:txBody>
      </p:sp>
      <p:sp>
        <p:nvSpPr>
          <p:cNvPr id="152" name="Google Shape;152;p27"/>
          <p:cNvSpPr txBox="1"/>
          <p:nvPr>
            <p:ph idx="1" type="body"/>
          </p:nvPr>
        </p:nvSpPr>
        <p:spPr>
          <a:xfrm>
            <a:off x="4320675" y="1017725"/>
            <a:ext cx="4424400" cy="1004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500" u="sng">
                <a:solidFill>
                  <a:schemeClr val="dk1"/>
                </a:solidFill>
                <a:latin typeface="Inter"/>
                <a:ea typeface="Inter"/>
                <a:cs typeface="Inter"/>
                <a:sym typeface="Inter"/>
              </a:rPr>
              <a:t>Question</a:t>
            </a:r>
            <a:r>
              <a:rPr lang="en" sz="1500">
                <a:solidFill>
                  <a:schemeClr val="dk1"/>
                </a:solidFill>
                <a:latin typeface="Inter"/>
                <a:ea typeface="Inter"/>
                <a:cs typeface="Inter"/>
                <a:sym typeface="Inter"/>
              </a:rPr>
              <a:t>: </a:t>
            </a:r>
            <a:r>
              <a:rPr lang="en" sz="1500">
                <a:solidFill>
                  <a:schemeClr val="dk1"/>
                </a:solidFill>
                <a:highlight>
                  <a:srgbClr val="FFFFFF"/>
                </a:highlight>
                <a:latin typeface="Inter"/>
                <a:ea typeface="Inter"/>
                <a:cs typeface="Inter"/>
                <a:sym typeface="Inter"/>
              </a:rPr>
              <a:t>Please elaborate on your response to the previous question.</a:t>
            </a:r>
            <a:endParaRPr sz="1500">
              <a:solidFill>
                <a:schemeClr val="dk1"/>
              </a:solidFill>
              <a:latin typeface="Inter"/>
              <a:ea typeface="Inter"/>
              <a:cs typeface="Inter"/>
              <a:sym typeface="Inter"/>
            </a:endParaRPr>
          </a:p>
          <a:p>
            <a:pPr indent="0" lvl="0" marL="914400" rtl="0" algn="l">
              <a:lnSpc>
                <a:spcPct val="105000"/>
              </a:lnSpc>
              <a:spcBef>
                <a:spcPts val="1200"/>
              </a:spcBef>
              <a:spcAft>
                <a:spcPts val="1200"/>
              </a:spcAft>
              <a:buSzPts val="1018"/>
              <a:buNone/>
            </a:pPr>
            <a:r>
              <a:t/>
            </a:r>
            <a:endParaRPr sz="1750">
              <a:solidFill>
                <a:schemeClr val="dk1"/>
              </a:solidFill>
              <a:latin typeface="Source Code Pro"/>
              <a:ea typeface="Source Code Pro"/>
              <a:cs typeface="Source Code Pro"/>
              <a:sym typeface="Source Code Pro"/>
            </a:endParaRPr>
          </a:p>
        </p:txBody>
      </p:sp>
      <p:sp>
        <p:nvSpPr>
          <p:cNvPr id="153" name="Google Shape;153;p27"/>
          <p:cNvSpPr txBox="1"/>
          <p:nvPr/>
        </p:nvSpPr>
        <p:spPr>
          <a:xfrm>
            <a:off x="154225" y="2022125"/>
            <a:ext cx="40089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331F8A"/>
                </a:solidFill>
                <a:latin typeface="Inter"/>
                <a:ea typeface="Inter"/>
                <a:cs typeface="Inter"/>
                <a:sym typeface="Inter"/>
              </a:rPr>
              <a:t>45% - I would prefer to use PingPong</a:t>
            </a:r>
            <a:endParaRPr sz="1500">
              <a:solidFill>
                <a:schemeClr val="dk1"/>
              </a:solidFill>
              <a:latin typeface="Inter"/>
              <a:ea typeface="Inter"/>
              <a:cs typeface="Inter"/>
              <a:sym typeface="Inter"/>
            </a:endParaRPr>
          </a:p>
        </p:txBody>
      </p:sp>
      <p:sp>
        <p:nvSpPr>
          <p:cNvPr id="154" name="Google Shape;154;p27"/>
          <p:cNvSpPr txBox="1"/>
          <p:nvPr/>
        </p:nvSpPr>
        <p:spPr>
          <a:xfrm>
            <a:off x="154225" y="2589450"/>
            <a:ext cx="3943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FF7F50"/>
                </a:solidFill>
                <a:latin typeface="Inter"/>
                <a:ea typeface="Inter"/>
                <a:cs typeface="Inter"/>
                <a:sym typeface="Inter"/>
              </a:rPr>
              <a:t>25% - I would prefer to use another LLM </a:t>
            </a:r>
            <a:endParaRPr sz="1800">
              <a:solidFill>
                <a:schemeClr val="dk2"/>
              </a:solidFill>
            </a:endParaRPr>
          </a:p>
        </p:txBody>
      </p:sp>
      <p:sp>
        <p:nvSpPr>
          <p:cNvPr id="155" name="Google Shape;155;p27"/>
          <p:cNvSpPr txBox="1"/>
          <p:nvPr/>
        </p:nvSpPr>
        <p:spPr>
          <a:xfrm>
            <a:off x="187075" y="3156775"/>
            <a:ext cx="2157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677DB7"/>
                </a:solidFill>
                <a:latin typeface="Inter"/>
                <a:ea typeface="Inter"/>
                <a:cs typeface="Inter"/>
                <a:sym typeface="Inter"/>
              </a:rPr>
              <a:t>30% - I am indifferent</a:t>
            </a:r>
            <a:endParaRPr sz="1800">
              <a:solidFill>
                <a:srgbClr val="677DB7"/>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8"/>
          <p:cNvSpPr txBox="1"/>
          <p:nvPr/>
        </p:nvSpPr>
        <p:spPr>
          <a:xfrm>
            <a:off x="4421900" y="1604250"/>
            <a:ext cx="4312200" cy="29793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rgbClr val="FF7F50"/>
              </a:solidFill>
            </a:endParaRPr>
          </a:p>
        </p:txBody>
      </p:sp>
      <p:sp>
        <p:nvSpPr>
          <p:cNvPr id="161" name="Google Shape;161;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Inter"/>
                <a:ea typeface="Inter"/>
                <a:cs typeface="Inter"/>
                <a:sym typeface="Inter"/>
              </a:rPr>
              <a:t>Few </a:t>
            </a:r>
            <a:r>
              <a:rPr lang="en">
                <a:latin typeface="Inter"/>
                <a:ea typeface="Inter"/>
                <a:cs typeface="Inter"/>
                <a:sym typeface="Inter"/>
              </a:rPr>
              <a:t>students</a:t>
            </a:r>
            <a:r>
              <a:rPr lang="en">
                <a:latin typeface="Inter"/>
                <a:ea typeface="Inter"/>
                <a:cs typeface="Inter"/>
                <a:sym typeface="Inter"/>
              </a:rPr>
              <a:t> prefer vanilla ChatGPT  </a:t>
            </a:r>
            <a:endParaRPr>
              <a:latin typeface="Inter"/>
              <a:ea typeface="Inter"/>
              <a:cs typeface="Inter"/>
              <a:sym typeface="Inter"/>
            </a:endParaRPr>
          </a:p>
        </p:txBody>
      </p:sp>
      <p:sp>
        <p:nvSpPr>
          <p:cNvPr id="162" name="Google Shape;162;p28"/>
          <p:cNvSpPr txBox="1"/>
          <p:nvPr>
            <p:ph idx="1" type="body"/>
          </p:nvPr>
        </p:nvSpPr>
        <p:spPr>
          <a:xfrm>
            <a:off x="187075" y="1017725"/>
            <a:ext cx="3943200" cy="1004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500" u="sng">
                <a:solidFill>
                  <a:schemeClr val="dk1"/>
                </a:solidFill>
                <a:latin typeface="Inter"/>
                <a:ea typeface="Inter"/>
                <a:cs typeface="Inter"/>
                <a:sym typeface="Inter"/>
              </a:rPr>
              <a:t>Question</a:t>
            </a:r>
            <a:r>
              <a:rPr lang="en" sz="1500">
                <a:solidFill>
                  <a:schemeClr val="dk1"/>
                </a:solidFill>
                <a:latin typeface="Inter"/>
                <a:ea typeface="Inter"/>
                <a:cs typeface="Inter"/>
                <a:sym typeface="Inter"/>
              </a:rPr>
              <a:t>: </a:t>
            </a:r>
            <a:r>
              <a:rPr lang="en" sz="1500">
                <a:solidFill>
                  <a:schemeClr val="dk1"/>
                </a:solidFill>
                <a:latin typeface="Inter"/>
                <a:ea typeface="Inter"/>
                <a:cs typeface="Inter"/>
                <a:sym typeface="Inter"/>
              </a:rPr>
              <a:t>If you wanted to learn more about a statistical concept, would you prefer to use </a:t>
            </a:r>
            <a:r>
              <a:rPr lang="en" sz="1500">
                <a:solidFill>
                  <a:schemeClr val="dk1"/>
                </a:solidFill>
                <a:latin typeface="Inter"/>
                <a:ea typeface="Inter"/>
                <a:cs typeface="Inter"/>
                <a:sym typeface="Inter"/>
              </a:rPr>
              <a:t>PingPong</a:t>
            </a:r>
            <a:r>
              <a:rPr lang="en" sz="1500">
                <a:solidFill>
                  <a:schemeClr val="dk1"/>
                </a:solidFill>
                <a:latin typeface="Inter"/>
                <a:ea typeface="Inter"/>
                <a:cs typeface="Inter"/>
                <a:sym typeface="Inter"/>
              </a:rPr>
              <a:t> or another LLM?</a:t>
            </a:r>
            <a:endParaRPr sz="1500">
              <a:solidFill>
                <a:schemeClr val="dk1"/>
              </a:solidFill>
              <a:latin typeface="Inter"/>
              <a:ea typeface="Inter"/>
              <a:cs typeface="Inter"/>
              <a:sym typeface="Inter"/>
            </a:endParaRPr>
          </a:p>
          <a:p>
            <a:pPr indent="0" lvl="0" marL="914400" rtl="0" algn="l">
              <a:lnSpc>
                <a:spcPct val="105000"/>
              </a:lnSpc>
              <a:spcBef>
                <a:spcPts val="1200"/>
              </a:spcBef>
              <a:spcAft>
                <a:spcPts val="1200"/>
              </a:spcAft>
              <a:buSzPts val="1018"/>
              <a:buNone/>
            </a:pPr>
            <a:r>
              <a:t/>
            </a:r>
            <a:endParaRPr sz="1550">
              <a:solidFill>
                <a:schemeClr val="dk1"/>
              </a:solidFill>
              <a:latin typeface="Source Code Pro"/>
              <a:ea typeface="Source Code Pro"/>
              <a:cs typeface="Source Code Pro"/>
              <a:sym typeface="Source Code Pro"/>
            </a:endParaRPr>
          </a:p>
        </p:txBody>
      </p:sp>
      <p:sp>
        <p:nvSpPr>
          <p:cNvPr id="163" name="Google Shape;163;p28"/>
          <p:cNvSpPr txBox="1"/>
          <p:nvPr>
            <p:ph idx="1" type="body"/>
          </p:nvPr>
        </p:nvSpPr>
        <p:spPr>
          <a:xfrm>
            <a:off x="4320675" y="1017725"/>
            <a:ext cx="4424400" cy="1004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500" u="sng">
                <a:solidFill>
                  <a:schemeClr val="dk1"/>
                </a:solidFill>
                <a:latin typeface="Inter"/>
                <a:ea typeface="Inter"/>
                <a:cs typeface="Inter"/>
                <a:sym typeface="Inter"/>
              </a:rPr>
              <a:t>Question</a:t>
            </a:r>
            <a:r>
              <a:rPr lang="en" sz="1500">
                <a:solidFill>
                  <a:schemeClr val="dk1"/>
                </a:solidFill>
                <a:latin typeface="Inter"/>
                <a:ea typeface="Inter"/>
                <a:cs typeface="Inter"/>
                <a:sym typeface="Inter"/>
              </a:rPr>
              <a:t>: </a:t>
            </a:r>
            <a:r>
              <a:rPr lang="en" sz="1500">
                <a:solidFill>
                  <a:schemeClr val="dk1"/>
                </a:solidFill>
                <a:highlight>
                  <a:srgbClr val="FFFFFF"/>
                </a:highlight>
                <a:latin typeface="Inter"/>
                <a:ea typeface="Inter"/>
                <a:cs typeface="Inter"/>
                <a:sym typeface="Inter"/>
              </a:rPr>
              <a:t>Please elaborate on your response to the previous question.</a:t>
            </a:r>
            <a:endParaRPr sz="1500">
              <a:solidFill>
                <a:schemeClr val="dk1"/>
              </a:solidFill>
              <a:latin typeface="Inter"/>
              <a:ea typeface="Inter"/>
              <a:cs typeface="Inter"/>
              <a:sym typeface="Inter"/>
            </a:endParaRPr>
          </a:p>
          <a:p>
            <a:pPr indent="0" lvl="0" marL="914400" rtl="0" algn="l">
              <a:lnSpc>
                <a:spcPct val="105000"/>
              </a:lnSpc>
              <a:spcBef>
                <a:spcPts val="1200"/>
              </a:spcBef>
              <a:spcAft>
                <a:spcPts val="1200"/>
              </a:spcAft>
              <a:buSzPts val="1018"/>
              <a:buNone/>
            </a:pPr>
            <a:r>
              <a:t/>
            </a:r>
            <a:endParaRPr sz="1750">
              <a:solidFill>
                <a:schemeClr val="dk1"/>
              </a:solidFill>
              <a:latin typeface="Source Code Pro"/>
              <a:ea typeface="Source Code Pro"/>
              <a:cs typeface="Source Code Pro"/>
              <a:sym typeface="Source Code Pro"/>
            </a:endParaRPr>
          </a:p>
        </p:txBody>
      </p:sp>
      <p:sp>
        <p:nvSpPr>
          <p:cNvPr id="164" name="Google Shape;164;p28"/>
          <p:cNvSpPr txBox="1"/>
          <p:nvPr/>
        </p:nvSpPr>
        <p:spPr>
          <a:xfrm>
            <a:off x="4572000" y="2022125"/>
            <a:ext cx="41190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rgbClr val="331F8A"/>
                </a:solidFill>
                <a:latin typeface="Inter"/>
                <a:ea typeface="Inter"/>
                <a:cs typeface="Inter"/>
                <a:sym typeface="Inter"/>
              </a:rPr>
              <a:t>“</a:t>
            </a:r>
            <a:r>
              <a:rPr i="1" lang="en" sz="1300">
                <a:solidFill>
                  <a:srgbClr val="331F8A"/>
                </a:solidFill>
                <a:latin typeface="Inter"/>
                <a:ea typeface="Inter"/>
                <a:cs typeface="Inter"/>
                <a:sym typeface="Inter"/>
              </a:rPr>
              <a:t>I feel PingPong will </a:t>
            </a:r>
            <a:r>
              <a:rPr b="1" i="1" lang="en" sz="1300">
                <a:solidFill>
                  <a:srgbClr val="331F8A"/>
                </a:solidFill>
                <a:latin typeface="Inter"/>
                <a:ea typeface="Inter"/>
                <a:cs typeface="Inter"/>
                <a:sym typeface="Inter"/>
              </a:rPr>
              <a:t>actually challenge</a:t>
            </a:r>
            <a:r>
              <a:rPr i="1" lang="en" sz="1300">
                <a:solidFill>
                  <a:srgbClr val="331F8A"/>
                </a:solidFill>
                <a:latin typeface="Inter"/>
                <a:ea typeface="Inter"/>
                <a:cs typeface="Inter"/>
                <a:sym typeface="Inter"/>
              </a:rPr>
              <a:t> me to further understand the concept while another LLM such as ChatGPT would just </a:t>
            </a:r>
            <a:r>
              <a:rPr b="1" i="1" lang="en" sz="1300">
                <a:solidFill>
                  <a:srgbClr val="331F8A"/>
                </a:solidFill>
                <a:latin typeface="Inter"/>
                <a:ea typeface="Inter"/>
                <a:cs typeface="Inter"/>
                <a:sym typeface="Inter"/>
              </a:rPr>
              <a:t>give me the answer</a:t>
            </a:r>
            <a:r>
              <a:rPr i="1" lang="en" sz="1300">
                <a:solidFill>
                  <a:srgbClr val="331F8A"/>
                </a:solidFill>
                <a:latin typeface="Inter"/>
                <a:ea typeface="Inter"/>
                <a:cs typeface="Inter"/>
                <a:sym typeface="Inter"/>
              </a:rPr>
              <a:t>. </a:t>
            </a:r>
            <a:r>
              <a:rPr lang="en" sz="1300">
                <a:solidFill>
                  <a:srgbClr val="331F8A"/>
                </a:solidFill>
                <a:latin typeface="Inter"/>
                <a:ea typeface="Inter"/>
                <a:cs typeface="Inter"/>
                <a:sym typeface="Inter"/>
              </a:rPr>
              <a:t>” </a:t>
            </a:r>
            <a:endParaRPr sz="1300">
              <a:solidFill>
                <a:srgbClr val="331F8A"/>
              </a:solidFill>
              <a:latin typeface="Inter"/>
              <a:ea typeface="Inter"/>
              <a:cs typeface="Inter"/>
              <a:sym typeface="Inter"/>
            </a:endParaRPr>
          </a:p>
        </p:txBody>
      </p:sp>
      <p:sp>
        <p:nvSpPr>
          <p:cNvPr id="165" name="Google Shape;165;p28"/>
          <p:cNvSpPr txBox="1"/>
          <p:nvPr/>
        </p:nvSpPr>
        <p:spPr>
          <a:xfrm>
            <a:off x="4528425" y="3178275"/>
            <a:ext cx="40089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rgbClr val="331F8A"/>
                </a:solidFill>
                <a:latin typeface="Inter"/>
                <a:ea typeface="Inter"/>
                <a:cs typeface="Inter"/>
                <a:sym typeface="Inter"/>
              </a:rPr>
              <a:t>“</a:t>
            </a:r>
            <a:r>
              <a:rPr i="1" lang="en" sz="1300">
                <a:solidFill>
                  <a:srgbClr val="331F8A"/>
                </a:solidFill>
                <a:latin typeface="Inter"/>
                <a:ea typeface="Inter"/>
                <a:cs typeface="Inter"/>
                <a:sym typeface="Inter"/>
              </a:rPr>
              <a:t>Pingpong seems very </a:t>
            </a:r>
            <a:r>
              <a:rPr b="1" i="1" lang="en" sz="1300">
                <a:solidFill>
                  <a:srgbClr val="331F8A"/>
                </a:solidFill>
                <a:latin typeface="Inter"/>
                <a:ea typeface="Inter"/>
                <a:cs typeface="Inter"/>
                <a:sym typeface="Inter"/>
              </a:rPr>
              <a:t>specialized</a:t>
            </a:r>
            <a:r>
              <a:rPr i="1" lang="en" sz="1300">
                <a:solidFill>
                  <a:srgbClr val="331F8A"/>
                </a:solidFill>
                <a:latin typeface="Inter"/>
                <a:ea typeface="Inter"/>
                <a:cs typeface="Inter"/>
                <a:sym typeface="Inter"/>
              </a:rPr>
              <a:t> toward the course I am taking, and I feel the responses show better </a:t>
            </a:r>
            <a:r>
              <a:rPr b="1" i="1" lang="en" sz="1300">
                <a:solidFill>
                  <a:srgbClr val="331F8A"/>
                </a:solidFill>
                <a:latin typeface="Inter"/>
                <a:ea typeface="Inter"/>
                <a:cs typeface="Inter"/>
                <a:sym typeface="Inter"/>
              </a:rPr>
              <a:t>understanding </a:t>
            </a:r>
            <a:r>
              <a:rPr i="1" lang="en" sz="1300">
                <a:solidFill>
                  <a:srgbClr val="331F8A"/>
                </a:solidFill>
                <a:latin typeface="Inter"/>
                <a:ea typeface="Inter"/>
                <a:cs typeface="Inter"/>
                <a:sym typeface="Inter"/>
              </a:rPr>
              <a:t>and</a:t>
            </a:r>
            <a:r>
              <a:rPr b="1" i="1" lang="en" sz="1300">
                <a:solidFill>
                  <a:srgbClr val="331F8A"/>
                </a:solidFill>
                <a:latin typeface="Inter"/>
                <a:ea typeface="Inter"/>
                <a:cs typeface="Inter"/>
                <a:sym typeface="Inter"/>
              </a:rPr>
              <a:t> relevance</a:t>
            </a:r>
            <a:r>
              <a:rPr i="1" lang="en" sz="1300">
                <a:solidFill>
                  <a:srgbClr val="331F8A"/>
                </a:solidFill>
                <a:latin typeface="Inter"/>
                <a:ea typeface="Inter"/>
                <a:cs typeface="Inter"/>
                <a:sym typeface="Inter"/>
              </a:rPr>
              <a:t> to course concepts compared to other LLMs.</a:t>
            </a:r>
            <a:r>
              <a:rPr lang="en" sz="1300">
                <a:solidFill>
                  <a:srgbClr val="331F8A"/>
                </a:solidFill>
                <a:latin typeface="Inter"/>
                <a:ea typeface="Inter"/>
                <a:cs typeface="Inter"/>
                <a:sym typeface="Inter"/>
              </a:rPr>
              <a:t>”</a:t>
            </a:r>
            <a:endParaRPr sz="1300">
              <a:solidFill>
                <a:srgbClr val="331F8A"/>
              </a:solidFill>
              <a:latin typeface="Inter"/>
              <a:ea typeface="Inter"/>
              <a:cs typeface="Inter"/>
              <a:sym typeface="Inter"/>
            </a:endParaRPr>
          </a:p>
        </p:txBody>
      </p:sp>
      <p:sp>
        <p:nvSpPr>
          <p:cNvPr id="166" name="Google Shape;166;p28"/>
          <p:cNvSpPr txBox="1"/>
          <p:nvPr/>
        </p:nvSpPr>
        <p:spPr>
          <a:xfrm>
            <a:off x="154225" y="2022125"/>
            <a:ext cx="40089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331F8A"/>
                </a:solidFill>
                <a:latin typeface="Inter"/>
                <a:ea typeface="Inter"/>
                <a:cs typeface="Inter"/>
                <a:sym typeface="Inter"/>
              </a:rPr>
              <a:t>45% - I would prefer to use PingPong</a:t>
            </a:r>
            <a:endParaRPr sz="1500">
              <a:solidFill>
                <a:schemeClr val="dk1"/>
              </a:solidFill>
              <a:latin typeface="Inter"/>
              <a:ea typeface="Inter"/>
              <a:cs typeface="Inter"/>
              <a:sym typeface="Inter"/>
            </a:endParaRPr>
          </a:p>
        </p:txBody>
      </p:sp>
      <p:sp>
        <p:nvSpPr>
          <p:cNvPr id="167" name="Google Shape;167;p28"/>
          <p:cNvSpPr txBox="1"/>
          <p:nvPr/>
        </p:nvSpPr>
        <p:spPr>
          <a:xfrm>
            <a:off x="154225" y="2589450"/>
            <a:ext cx="3943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999999"/>
                </a:solidFill>
                <a:latin typeface="Inter"/>
                <a:ea typeface="Inter"/>
                <a:cs typeface="Inter"/>
                <a:sym typeface="Inter"/>
              </a:rPr>
              <a:t>25% - I would prefer to use another LLM </a:t>
            </a:r>
            <a:endParaRPr sz="1800">
              <a:solidFill>
                <a:srgbClr val="999999"/>
              </a:solidFill>
            </a:endParaRPr>
          </a:p>
        </p:txBody>
      </p:sp>
      <p:sp>
        <p:nvSpPr>
          <p:cNvPr id="168" name="Google Shape;168;p28"/>
          <p:cNvSpPr txBox="1"/>
          <p:nvPr/>
        </p:nvSpPr>
        <p:spPr>
          <a:xfrm>
            <a:off x="187075" y="3156775"/>
            <a:ext cx="2157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999999"/>
                </a:solidFill>
                <a:latin typeface="Inter"/>
                <a:ea typeface="Inter"/>
                <a:cs typeface="Inter"/>
                <a:sym typeface="Inter"/>
              </a:rPr>
              <a:t>30% - I am indifferent</a:t>
            </a:r>
            <a:endParaRPr sz="1800">
              <a:solidFill>
                <a:srgbClr val="999999"/>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9"/>
          <p:cNvSpPr txBox="1"/>
          <p:nvPr/>
        </p:nvSpPr>
        <p:spPr>
          <a:xfrm>
            <a:off x="4421900" y="1604250"/>
            <a:ext cx="4312200" cy="29793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rgbClr val="FF7F50"/>
              </a:solidFill>
            </a:endParaRPr>
          </a:p>
        </p:txBody>
      </p:sp>
      <p:sp>
        <p:nvSpPr>
          <p:cNvPr id="174" name="Google Shape;174;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Inter"/>
                <a:ea typeface="Inter"/>
                <a:cs typeface="Inter"/>
                <a:sym typeface="Inter"/>
              </a:rPr>
              <a:t>Few </a:t>
            </a:r>
            <a:r>
              <a:rPr lang="en">
                <a:latin typeface="Inter"/>
                <a:ea typeface="Inter"/>
                <a:cs typeface="Inter"/>
                <a:sym typeface="Inter"/>
              </a:rPr>
              <a:t>students prefer vanilla ChatGPT  </a:t>
            </a:r>
            <a:endParaRPr>
              <a:latin typeface="Inter"/>
              <a:ea typeface="Inter"/>
              <a:cs typeface="Inter"/>
              <a:sym typeface="Inter"/>
            </a:endParaRPr>
          </a:p>
        </p:txBody>
      </p:sp>
      <p:sp>
        <p:nvSpPr>
          <p:cNvPr id="175" name="Google Shape;175;p29"/>
          <p:cNvSpPr txBox="1"/>
          <p:nvPr>
            <p:ph idx="1" type="body"/>
          </p:nvPr>
        </p:nvSpPr>
        <p:spPr>
          <a:xfrm>
            <a:off x="187075" y="1017725"/>
            <a:ext cx="3943200" cy="1004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500" u="sng">
                <a:solidFill>
                  <a:schemeClr val="dk1"/>
                </a:solidFill>
                <a:latin typeface="Inter"/>
                <a:ea typeface="Inter"/>
                <a:cs typeface="Inter"/>
                <a:sym typeface="Inter"/>
              </a:rPr>
              <a:t>Question</a:t>
            </a:r>
            <a:r>
              <a:rPr lang="en" sz="1500">
                <a:solidFill>
                  <a:schemeClr val="dk1"/>
                </a:solidFill>
                <a:latin typeface="Inter"/>
                <a:ea typeface="Inter"/>
                <a:cs typeface="Inter"/>
                <a:sym typeface="Inter"/>
              </a:rPr>
              <a:t>: If you wanted to learn more about a statistical concept, would you prefer to use PingPong or another LLM?</a:t>
            </a:r>
            <a:endParaRPr sz="1500">
              <a:solidFill>
                <a:schemeClr val="dk1"/>
              </a:solidFill>
              <a:latin typeface="Inter"/>
              <a:ea typeface="Inter"/>
              <a:cs typeface="Inter"/>
              <a:sym typeface="Inter"/>
            </a:endParaRPr>
          </a:p>
          <a:p>
            <a:pPr indent="0" lvl="0" marL="914400" rtl="0" algn="l">
              <a:lnSpc>
                <a:spcPct val="105000"/>
              </a:lnSpc>
              <a:spcBef>
                <a:spcPts val="1200"/>
              </a:spcBef>
              <a:spcAft>
                <a:spcPts val="1200"/>
              </a:spcAft>
              <a:buSzPts val="1018"/>
              <a:buNone/>
            </a:pPr>
            <a:r>
              <a:t/>
            </a:r>
            <a:endParaRPr sz="1550">
              <a:solidFill>
                <a:schemeClr val="dk1"/>
              </a:solidFill>
              <a:latin typeface="Source Code Pro"/>
              <a:ea typeface="Source Code Pro"/>
              <a:cs typeface="Source Code Pro"/>
              <a:sym typeface="Source Code Pro"/>
            </a:endParaRPr>
          </a:p>
        </p:txBody>
      </p:sp>
      <p:sp>
        <p:nvSpPr>
          <p:cNvPr id="176" name="Google Shape;176;p29"/>
          <p:cNvSpPr txBox="1"/>
          <p:nvPr>
            <p:ph idx="1" type="body"/>
          </p:nvPr>
        </p:nvSpPr>
        <p:spPr>
          <a:xfrm>
            <a:off x="4320675" y="1017725"/>
            <a:ext cx="4424400" cy="1004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500" u="sng">
                <a:solidFill>
                  <a:schemeClr val="dk1"/>
                </a:solidFill>
                <a:latin typeface="Inter"/>
                <a:ea typeface="Inter"/>
                <a:cs typeface="Inter"/>
                <a:sym typeface="Inter"/>
              </a:rPr>
              <a:t>Question</a:t>
            </a:r>
            <a:r>
              <a:rPr lang="en" sz="1500">
                <a:solidFill>
                  <a:schemeClr val="dk1"/>
                </a:solidFill>
                <a:latin typeface="Inter"/>
                <a:ea typeface="Inter"/>
                <a:cs typeface="Inter"/>
                <a:sym typeface="Inter"/>
              </a:rPr>
              <a:t>: </a:t>
            </a:r>
            <a:r>
              <a:rPr lang="en" sz="1500">
                <a:solidFill>
                  <a:schemeClr val="dk1"/>
                </a:solidFill>
                <a:highlight>
                  <a:srgbClr val="FFFFFF"/>
                </a:highlight>
                <a:latin typeface="Inter"/>
                <a:ea typeface="Inter"/>
                <a:cs typeface="Inter"/>
                <a:sym typeface="Inter"/>
              </a:rPr>
              <a:t>Please elaborate on your response to the previous question.</a:t>
            </a:r>
            <a:endParaRPr sz="1500">
              <a:solidFill>
                <a:schemeClr val="dk1"/>
              </a:solidFill>
              <a:latin typeface="Inter"/>
              <a:ea typeface="Inter"/>
              <a:cs typeface="Inter"/>
              <a:sym typeface="Inter"/>
            </a:endParaRPr>
          </a:p>
          <a:p>
            <a:pPr indent="0" lvl="0" marL="914400" rtl="0" algn="l">
              <a:lnSpc>
                <a:spcPct val="105000"/>
              </a:lnSpc>
              <a:spcBef>
                <a:spcPts val="1200"/>
              </a:spcBef>
              <a:spcAft>
                <a:spcPts val="1200"/>
              </a:spcAft>
              <a:buSzPts val="1018"/>
              <a:buNone/>
            </a:pPr>
            <a:r>
              <a:t/>
            </a:r>
            <a:endParaRPr sz="1750">
              <a:solidFill>
                <a:schemeClr val="dk1"/>
              </a:solidFill>
              <a:latin typeface="Source Code Pro"/>
              <a:ea typeface="Source Code Pro"/>
              <a:cs typeface="Source Code Pro"/>
              <a:sym typeface="Source Code Pro"/>
            </a:endParaRPr>
          </a:p>
        </p:txBody>
      </p:sp>
      <p:sp>
        <p:nvSpPr>
          <p:cNvPr id="177" name="Google Shape;177;p29"/>
          <p:cNvSpPr txBox="1"/>
          <p:nvPr/>
        </p:nvSpPr>
        <p:spPr>
          <a:xfrm>
            <a:off x="4488200" y="2022125"/>
            <a:ext cx="41796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rgbClr val="FF7F50"/>
                </a:solidFill>
                <a:latin typeface="Inter"/>
                <a:ea typeface="Inter"/>
                <a:cs typeface="Inter"/>
                <a:sym typeface="Inter"/>
              </a:rPr>
              <a:t>“</a:t>
            </a:r>
            <a:r>
              <a:rPr i="1" lang="en" sz="1300">
                <a:solidFill>
                  <a:srgbClr val="FF7F50"/>
                </a:solidFill>
                <a:latin typeface="Inter"/>
                <a:ea typeface="Inter"/>
                <a:cs typeface="Inter"/>
                <a:sym typeface="Inter"/>
              </a:rPr>
              <a:t>Other LLMs feel more </a:t>
            </a:r>
            <a:r>
              <a:rPr b="1" i="1" lang="en" sz="1300">
                <a:solidFill>
                  <a:srgbClr val="FF7F50"/>
                </a:solidFill>
                <a:latin typeface="Inter"/>
                <a:ea typeface="Inter"/>
                <a:cs typeface="Inter"/>
                <a:sym typeface="Inter"/>
              </a:rPr>
              <a:t>efficient</a:t>
            </a:r>
            <a:r>
              <a:rPr i="1" lang="en" sz="1300">
                <a:solidFill>
                  <a:srgbClr val="FF7F50"/>
                </a:solidFill>
                <a:latin typeface="Inter"/>
                <a:ea typeface="Inter"/>
                <a:cs typeface="Inter"/>
                <a:sym typeface="Inter"/>
              </a:rPr>
              <a:t>. They give the answer </a:t>
            </a:r>
            <a:r>
              <a:rPr b="1" i="1" lang="en" sz="1300">
                <a:solidFill>
                  <a:srgbClr val="FF7F50"/>
                </a:solidFill>
                <a:latin typeface="Inter"/>
                <a:ea typeface="Inter"/>
                <a:cs typeface="Inter"/>
                <a:sym typeface="Inter"/>
              </a:rPr>
              <a:t>clearly and concisely </a:t>
            </a:r>
            <a:r>
              <a:rPr i="1" lang="en" sz="1300">
                <a:solidFill>
                  <a:srgbClr val="FF7F50"/>
                </a:solidFill>
                <a:latin typeface="Inter"/>
                <a:ea typeface="Inter"/>
                <a:cs typeface="Inter"/>
                <a:sym typeface="Inter"/>
              </a:rPr>
              <a:t>better than PingPong.</a:t>
            </a:r>
            <a:r>
              <a:rPr lang="en" sz="1300">
                <a:solidFill>
                  <a:srgbClr val="FF7F50"/>
                </a:solidFill>
                <a:latin typeface="Inter"/>
                <a:ea typeface="Inter"/>
                <a:cs typeface="Inter"/>
                <a:sym typeface="Inter"/>
              </a:rPr>
              <a:t>”</a:t>
            </a:r>
            <a:endParaRPr sz="1300">
              <a:solidFill>
                <a:srgbClr val="FF7F50"/>
              </a:solidFill>
              <a:latin typeface="Inter"/>
              <a:ea typeface="Inter"/>
              <a:cs typeface="Inter"/>
              <a:sym typeface="Inter"/>
            </a:endParaRPr>
          </a:p>
        </p:txBody>
      </p:sp>
      <p:sp>
        <p:nvSpPr>
          <p:cNvPr id="178" name="Google Shape;178;p29"/>
          <p:cNvSpPr txBox="1"/>
          <p:nvPr/>
        </p:nvSpPr>
        <p:spPr>
          <a:xfrm>
            <a:off x="154225" y="2022125"/>
            <a:ext cx="40089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999999"/>
                </a:solidFill>
                <a:latin typeface="Inter"/>
                <a:ea typeface="Inter"/>
                <a:cs typeface="Inter"/>
                <a:sym typeface="Inter"/>
              </a:rPr>
              <a:t>45% - I would prefer to use PingPong</a:t>
            </a:r>
            <a:endParaRPr sz="1500">
              <a:solidFill>
                <a:srgbClr val="999999"/>
              </a:solidFill>
              <a:latin typeface="Inter"/>
              <a:ea typeface="Inter"/>
              <a:cs typeface="Inter"/>
              <a:sym typeface="Inter"/>
            </a:endParaRPr>
          </a:p>
        </p:txBody>
      </p:sp>
      <p:sp>
        <p:nvSpPr>
          <p:cNvPr id="179" name="Google Shape;179;p29"/>
          <p:cNvSpPr txBox="1"/>
          <p:nvPr/>
        </p:nvSpPr>
        <p:spPr>
          <a:xfrm>
            <a:off x="154225" y="2589450"/>
            <a:ext cx="3943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FF7F50"/>
                </a:solidFill>
                <a:latin typeface="Inter"/>
                <a:ea typeface="Inter"/>
                <a:cs typeface="Inter"/>
                <a:sym typeface="Inter"/>
              </a:rPr>
              <a:t>25% - I would prefer to use another LLM </a:t>
            </a:r>
            <a:endParaRPr sz="1800">
              <a:solidFill>
                <a:schemeClr val="dk2"/>
              </a:solidFill>
            </a:endParaRPr>
          </a:p>
        </p:txBody>
      </p:sp>
      <p:sp>
        <p:nvSpPr>
          <p:cNvPr id="180" name="Google Shape;180;p29"/>
          <p:cNvSpPr txBox="1"/>
          <p:nvPr/>
        </p:nvSpPr>
        <p:spPr>
          <a:xfrm>
            <a:off x="4488200" y="2901050"/>
            <a:ext cx="4179600" cy="118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rgbClr val="FF7F50"/>
                </a:solidFill>
                <a:latin typeface="Inter"/>
                <a:ea typeface="Inter"/>
                <a:cs typeface="Inter"/>
                <a:sym typeface="Inter"/>
              </a:rPr>
              <a:t>“</a:t>
            </a:r>
            <a:r>
              <a:rPr i="1" lang="en" sz="1300">
                <a:solidFill>
                  <a:srgbClr val="FF7F50"/>
                </a:solidFill>
                <a:latin typeface="Inter"/>
                <a:ea typeface="Inter"/>
                <a:cs typeface="Inter"/>
                <a:sym typeface="Inter"/>
              </a:rPr>
              <a:t>Other LLMs seem to have</a:t>
            </a:r>
            <a:r>
              <a:rPr b="1" i="1" lang="en" sz="1300">
                <a:solidFill>
                  <a:srgbClr val="FF7F50"/>
                </a:solidFill>
                <a:latin typeface="Inter"/>
                <a:ea typeface="Inter"/>
                <a:cs typeface="Inter"/>
                <a:sym typeface="Inter"/>
              </a:rPr>
              <a:t> more context </a:t>
            </a:r>
            <a:r>
              <a:rPr i="1" lang="en" sz="1300">
                <a:solidFill>
                  <a:srgbClr val="FF7F50"/>
                </a:solidFill>
                <a:latin typeface="Inter"/>
                <a:ea typeface="Inter"/>
                <a:cs typeface="Inter"/>
                <a:sym typeface="Inter"/>
              </a:rPr>
              <a:t>when I ask questions for studying purposes... E.g. if I ask it to explain a function, it asks me to first try to explain it, but in that context it makes more sense for PingPong to</a:t>
            </a:r>
            <a:r>
              <a:rPr b="1" i="1" lang="en" sz="1300">
                <a:solidFill>
                  <a:srgbClr val="FF7F50"/>
                </a:solidFill>
                <a:latin typeface="Inter"/>
                <a:ea typeface="Inter"/>
                <a:cs typeface="Inter"/>
                <a:sym typeface="Inter"/>
              </a:rPr>
              <a:t> just explain</a:t>
            </a:r>
            <a:r>
              <a:rPr i="1" lang="en" sz="1300">
                <a:solidFill>
                  <a:srgbClr val="FF7F50"/>
                </a:solidFill>
                <a:latin typeface="Inter"/>
                <a:ea typeface="Inter"/>
                <a:cs typeface="Inter"/>
                <a:sym typeface="Inter"/>
              </a:rPr>
              <a:t> the function.</a:t>
            </a:r>
            <a:r>
              <a:rPr lang="en" sz="1300">
                <a:solidFill>
                  <a:srgbClr val="FF7F50"/>
                </a:solidFill>
                <a:latin typeface="Inter"/>
                <a:ea typeface="Inter"/>
                <a:cs typeface="Inter"/>
                <a:sym typeface="Inter"/>
              </a:rPr>
              <a:t>”</a:t>
            </a:r>
            <a:endParaRPr sz="1300">
              <a:solidFill>
                <a:srgbClr val="FF7F50"/>
              </a:solidFill>
              <a:latin typeface="Inter"/>
              <a:ea typeface="Inter"/>
              <a:cs typeface="Inter"/>
              <a:sym typeface="Inter"/>
            </a:endParaRPr>
          </a:p>
        </p:txBody>
      </p:sp>
      <p:sp>
        <p:nvSpPr>
          <p:cNvPr id="181" name="Google Shape;181;p29"/>
          <p:cNvSpPr txBox="1"/>
          <p:nvPr/>
        </p:nvSpPr>
        <p:spPr>
          <a:xfrm>
            <a:off x="187075" y="3156775"/>
            <a:ext cx="2157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999999"/>
                </a:solidFill>
                <a:latin typeface="Inter"/>
                <a:ea typeface="Inter"/>
                <a:cs typeface="Inter"/>
                <a:sym typeface="Inter"/>
              </a:rPr>
              <a:t>30% - I am indifferent</a:t>
            </a:r>
            <a:endParaRPr sz="1800">
              <a:solidFill>
                <a:srgbClr val="999999"/>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0"/>
          <p:cNvSpPr txBox="1"/>
          <p:nvPr/>
        </p:nvSpPr>
        <p:spPr>
          <a:xfrm>
            <a:off x="4421900" y="1604250"/>
            <a:ext cx="4312200" cy="29793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rgbClr val="FF7F50"/>
              </a:solidFill>
            </a:endParaRPr>
          </a:p>
        </p:txBody>
      </p:sp>
      <p:sp>
        <p:nvSpPr>
          <p:cNvPr id="187" name="Google Shape;187;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Inter"/>
                <a:ea typeface="Inter"/>
                <a:cs typeface="Inter"/>
                <a:sym typeface="Inter"/>
              </a:rPr>
              <a:t>Few </a:t>
            </a:r>
            <a:r>
              <a:rPr lang="en">
                <a:latin typeface="Inter"/>
                <a:ea typeface="Inter"/>
                <a:cs typeface="Inter"/>
                <a:sym typeface="Inter"/>
              </a:rPr>
              <a:t>prefer vanilla ChatGPT  </a:t>
            </a:r>
            <a:endParaRPr>
              <a:latin typeface="Inter"/>
              <a:ea typeface="Inter"/>
              <a:cs typeface="Inter"/>
              <a:sym typeface="Inter"/>
            </a:endParaRPr>
          </a:p>
        </p:txBody>
      </p:sp>
      <p:sp>
        <p:nvSpPr>
          <p:cNvPr id="188" name="Google Shape;188;p30"/>
          <p:cNvSpPr txBox="1"/>
          <p:nvPr>
            <p:ph idx="1" type="body"/>
          </p:nvPr>
        </p:nvSpPr>
        <p:spPr>
          <a:xfrm>
            <a:off x="187075" y="1017725"/>
            <a:ext cx="3943200" cy="1004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500" u="sng">
                <a:solidFill>
                  <a:schemeClr val="dk1"/>
                </a:solidFill>
                <a:latin typeface="Inter"/>
                <a:ea typeface="Inter"/>
                <a:cs typeface="Inter"/>
                <a:sym typeface="Inter"/>
              </a:rPr>
              <a:t>Question</a:t>
            </a:r>
            <a:r>
              <a:rPr lang="en" sz="1500">
                <a:solidFill>
                  <a:schemeClr val="dk1"/>
                </a:solidFill>
                <a:latin typeface="Inter"/>
                <a:ea typeface="Inter"/>
                <a:cs typeface="Inter"/>
                <a:sym typeface="Inter"/>
              </a:rPr>
              <a:t>: If you wanted to learn more about a statistical concept, would you prefer to use PingPong or another LLM?</a:t>
            </a:r>
            <a:endParaRPr sz="1500">
              <a:solidFill>
                <a:schemeClr val="dk1"/>
              </a:solidFill>
              <a:latin typeface="Inter"/>
              <a:ea typeface="Inter"/>
              <a:cs typeface="Inter"/>
              <a:sym typeface="Inter"/>
            </a:endParaRPr>
          </a:p>
          <a:p>
            <a:pPr indent="0" lvl="0" marL="914400" rtl="0" algn="l">
              <a:lnSpc>
                <a:spcPct val="105000"/>
              </a:lnSpc>
              <a:spcBef>
                <a:spcPts val="1200"/>
              </a:spcBef>
              <a:spcAft>
                <a:spcPts val="1200"/>
              </a:spcAft>
              <a:buSzPts val="1018"/>
              <a:buNone/>
            </a:pPr>
            <a:r>
              <a:t/>
            </a:r>
            <a:endParaRPr sz="1550">
              <a:solidFill>
                <a:schemeClr val="dk1"/>
              </a:solidFill>
              <a:latin typeface="Source Code Pro"/>
              <a:ea typeface="Source Code Pro"/>
              <a:cs typeface="Source Code Pro"/>
              <a:sym typeface="Source Code Pro"/>
            </a:endParaRPr>
          </a:p>
        </p:txBody>
      </p:sp>
      <p:sp>
        <p:nvSpPr>
          <p:cNvPr id="189" name="Google Shape;189;p30"/>
          <p:cNvSpPr txBox="1"/>
          <p:nvPr>
            <p:ph idx="1" type="body"/>
          </p:nvPr>
        </p:nvSpPr>
        <p:spPr>
          <a:xfrm>
            <a:off x="4320675" y="1017725"/>
            <a:ext cx="4424400" cy="1004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500" u="sng">
                <a:solidFill>
                  <a:schemeClr val="dk1"/>
                </a:solidFill>
                <a:latin typeface="Inter"/>
                <a:ea typeface="Inter"/>
                <a:cs typeface="Inter"/>
                <a:sym typeface="Inter"/>
              </a:rPr>
              <a:t>Question</a:t>
            </a:r>
            <a:r>
              <a:rPr lang="en" sz="1500">
                <a:solidFill>
                  <a:schemeClr val="dk1"/>
                </a:solidFill>
                <a:latin typeface="Inter"/>
                <a:ea typeface="Inter"/>
                <a:cs typeface="Inter"/>
                <a:sym typeface="Inter"/>
              </a:rPr>
              <a:t>: </a:t>
            </a:r>
            <a:r>
              <a:rPr lang="en" sz="1500">
                <a:solidFill>
                  <a:schemeClr val="dk1"/>
                </a:solidFill>
                <a:highlight>
                  <a:srgbClr val="FFFFFF"/>
                </a:highlight>
                <a:latin typeface="Inter"/>
                <a:ea typeface="Inter"/>
                <a:cs typeface="Inter"/>
                <a:sym typeface="Inter"/>
              </a:rPr>
              <a:t>Please elaborate on your response to the previous question.</a:t>
            </a:r>
            <a:endParaRPr sz="1500">
              <a:solidFill>
                <a:schemeClr val="dk1"/>
              </a:solidFill>
              <a:latin typeface="Inter"/>
              <a:ea typeface="Inter"/>
              <a:cs typeface="Inter"/>
              <a:sym typeface="Inter"/>
            </a:endParaRPr>
          </a:p>
          <a:p>
            <a:pPr indent="0" lvl="0" marL="914400" rtl="0" algn="l">
              <a:lnSpc>
                <a:spcPct val="105000"/>
              </a:lnSpc>
              <a:spcBef>
                <a:spcPts val="1200"/>
              </a:spcBef>
              <a:spcAft>
                <a:spcPts val="1200"/>
              </a:spcAft>
              <a:buSzPts val="1018"/>
              <a:buNone/>
            </a:pPr>
            <a:r>
              <a:t/>
            </a:r>
            <a:endParaRPr sz="1750">
              <a:solidFill>
                <a:schemeClr val="dk1"/>
              </a:solidFill>
              <a:latin typeface="Source Code Pro"/>
              <a:ea typeface="Source Code Pro"/>
              <a:cs typeface="Source Code Pro"/>
              <a:sym typeface="Source Code Pro"/>
            </a:endParaRPr>
          </a:p>
        </p:txBody>
      </p:sp>
      <p:sp>
        <p:nvSpPr>
          <p:cNvPr id="190" name="Google Shape;190;p30"/>
          <p:cNvSpPr txBox="1"/>
          <p:nvPr/>
        </p:nvSpPr>
        <p:spPr>
          <a:xfrm>
            <a:off x="154225" y="2022125"/>
            <a:ext cx="40089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999999"/>
                </a:solidFill>
                <a:latin typeface="Inter"/>
                <a:ea typeface="Inter"/>
                <a:cs typeface="Inter"/>
                <a:sym typeface="Inter"/>
              </a:rPr>
              <a:t>45% - I would prefer to use PingPong</a:t>
            </a:r>
            <a:endParaRPr sz="1500">
              <a:solidFill>
                <a:srgbClr val="999999"/>
              </a:solidFill>
              <a:latin typeface="Inter"/>
              <a:ea typeface="Inter"/>
              <a:cs typeface="Inter"/>
              <a:sym typeface="Inter"/>
            </a:endParaRPr>
          </a:p>
        </p:txBody>
      </p:sp>
      <p:sp>
        <p:nvSpPr>
          <p:cNvPr id="191" name="Google Shape;191;p30"/>
          <p:cNvSpPr txBox="1"/>
          <p:nvPr/>
        </p:nvSpPr>
        <p:spPr>
          <a:xfrm>
            <a:off x="4573550" y="2201100"/>
            <a:ext cx="4008900" cy="178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rgbClr val="677DB7"/>
                </a:solidFill>
                <a:latin typeface="Inter"/>
                <a:ea typeface="Inter"/>
                <a:cs typeface="Inter"/>
                <a:sym typeface="Inter"/>
              </a:rPr>
              <a:t>“</a:t>
            </a:r>
            <a:r>
              <a:rPr i="1" lang="en" sz="1300">
                <a:solidFill>
                  <a:srgbClr val="677DB7"/>
                </a:solidFill>
                <a:latin typeface="Inter"/>
                <a:ea typeface="Inter"/>
                <a:cs typeface="Inter"/>
                <a:sym typeface="Inter"/>
              </a:rPr>
              <a:t>Depending on the type of question or prompt I am asking, I think I would prefer to use the LLM of Ping Pong over </a:t>
            </a:r>
            <a:r>
              <a:rPr i="1" lang="en" sz="1300">
                <a:solidFill>
                  <a:srgbClr val="677DB7"/>
                </a:solidFill>
                <a:latin typeface="Inter"/>
                <a:ea typeface="Inter"/>
                <a:cs typeface="Inter"/>
                <a:sym typeface="Inter"/>
              </a:rPr>
              <a:t>Chat GPT</a:t>
            </a:r>
            <a:r>
              <a:rPr i="1" lang="en" sz="1300">
                <a:solidFill>
                  <a:srgbClr val="677DB7"/>
                </a:solidFill>
                <a:latin typeface="Inter"/>
                <a:ea typeface="Inter"/>
                <a:cs typeface="Inter"/>
                <a:sym typeface="Inter"/>
              </a:rPr>
              <a:t> more for </a:t>
            </a:r>
            <a:r>
              <a:rPr b="1" i="1" lang="en" sz="1300">
                <a:solidFill>
                  <a:srgbClr val="677DB7"/>
                </a:solidFill>
                <a:latin typeface="Inter"/>
                <a:ea typeface="Inter"/>
                <a:cs typeface="Inter"/>
                <a:sym typeface="Inter"/>
              </a:rPr>
              <a:t>learning information</a:t>
            </a:r>
            <a:r>
              <a:rPr i="1" lang="en" sz="1300">
                <a:solidFill>
                  <a:srgbClr val="677DB7"/>
                </a:solidFill>
                <a:latin typeface="Inter"/>
                <a:ea typeface="Inter"/>
                <a:cs typeface="Inter"/>
                <a:sym typeface="Inter"/>
              </a:rPr>
              <a:t> on a specific topic as that is what I used it on… But I would use chat gpt for ideas in terms of paper formatting, code output, and general use as I enjoy the </a:t>
            </a:r>
            <a:r>
              <a:rPr b="1" i="1" lang="en" sz="1300">
                <a:solidFill>
                  <a:srgbClr val="677DB7"/>
                </a:solidFill>
                <a:latin typeface="Inter"/>
                <a:ea typeface="Inter"/>
                <a:cs typeface="Inter"/>
                <a:sym typeface="Inter"/>
              </a:rPr>
              <a:t>simplicity</a:t>
            </a:r>
            <a:r>
              <a:rPr i="1" lang="en" sz="1300">
                <a:solidFill>
                  <a:srgbClr val="677DB7"/>
                </a:solidFill>
                <a:latin typeface="Inter"/>
                <a:ea typeface="Inter"/>
                <a:cs typeface="Inter"/>
                <a:sym typeface="Inter"/>
              </a:rPr>
              <a:t> and aesthetic of chatgpt.</a:t>
            </a:r>
            <a:r>
              <a:rPr lang="en" sz="1300">
                <a:solidFill>
                  <a:srgbClr val="677DB7"/>
                </a:solidFill>
                <a:latin typeface="Inter"/>
                <a:ea typeface="Inter"/>
                <a:cs typeface="Inter"/>
                <a:sym typeface="Inter"/>
              </a:rPr>
              <a:t>”</a:t>
            </a:r>
            <a:endParaRPr sz="1300">
              <a:solidFill>
                <a:srgbClr val="677DB7"/>
              </a:solidFill>
              <a:latin typeface="Inter"/>
              <a:ea typeface="Inter"/>
              <a:cs typeface="Inter"/>
              <a:sym typeface="Inter"/>
            </a:endParaRPr>
          </a:p>
        </p:txBody>
      </p:sp>
      <p:sp>
        <p:nvSpPr>
          <p:cNvPr id="192" name="Google Shape;192;p30"/>
          <p:cNvSpPr txBox="1"/>
          <p:nvPr/>
        </p:nvSpPr>
        <p:spPr>
          <a:xfrm>
            <a:off x="154225" y="2589450"/>
            <a:ext cx="3943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999999"/>
                </a:solidFill>
                <a:latin typeface="Inter"/>
                <a:ea typeface="Inter"/>
                <a:cs typeface="Inter"/>
                <a:sym typeface="Inter"/>
              </a:rPr>
              <a:t>25% - I would prefer to use another LLM</a:t>
            </a:r>
            <a:r>
              <a:rPr lang="en" sz="1500">
                <a:solidFill>
                  <a:srgbClr val="FF7F50"/>
                </a:solidFill>
                <a:latin typeface="Inter"/>
                <a:ea typeface="Inter"/>
                <a:cs typeface="Inter"/>
                <a:sym typeface="Inter"/>
              </a:rPr>
              <a:t> </a:t>
            </a:r>
            <a:endParaRPr sz="1800">
              <a:solidFill>
                <a:schemeClr val="dk2"/>
              </a:solidFill>
            </a:endParaRPr>
          </a:p>
        </p:txBody>
      </p:sp>
      <p:sp>
        <p:nvSpPr>
          <p:cNvPr id="193" name="Google Shape;193;p30"/>
          <p:cNvSpPr txBox="1"/>
          <p:nvPr/>
        </p:nvSpPr>
        <p:spPr>
          <a:xfrm>
            <a:off x="187075" y="3156775"/>
            <a:ext cx="2157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677DB7"/>
                </a:solidFill>
                <a:latin typeface="Inter"/>
                <a:ea typeface="Inter"/>
                <a:cs typeface="Inter"/>
                <a:sym typeface="Inter"/>
              </a:rPr>
              <a:t>30% - I am indifferent</a:t>
            </a:r>
            <a:endParaRPr sz="1800">
              <a:solidFill>
                <a:srgbClr val="677DB7"/>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1"/>
          <p:cNvSpPr txBox="1"/>
          <p:nvPr>
            <p:ph type="title"/>
          </p:nvPr>
        </p:nvSpPr>
        <p:spPr>
          <a:xfrm>
            <a:off x="209025" y="485250"/>
            <a:ext cx="8520600" cy="1352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Inter"/>
                <a:ea typeface="Inter"/>
                <a:cs typeface="Inter"/>
                <a:sym typeface="Inter"/>
              </a:rPr>
              <a:t>Moving to questions posed to</a:t>
            </a:r>
            <a:r>
              <a:rPr lang="en">
                <a:latin typeface="Inter"/>
                <a:ea typeface="Inter"/>
                <a:cs typeface="Inter"/>
                <a:sym typeface="Inter"/>
              </a:rPr>
              <a:t> </a:t>
            </a:r>
            <a:r>
              <a:rPr lang="en" u="sng">
                <a:latin typeface="Inter"/>
                <a:ea typeface="Inter"/>
                <a:cs typeface="Inter"/>
                <a:sym typeface="Inter"/>
              </a:rPr>
              <a:t>all</a:t>
            </a:r>
            <a:r>
              <a:rPr lang="en">
                <a:latin typeface="Inter"/>
                <a:ea typeface="Inter"/>
                <a:cs typeface="Inter"/>
                <a:sym typeface="Inter"/>
              </a:rPr>
              <a:t> students:</a:t>
            </a:r>
            <a:endParaRPr>
              <a:latin typeface="Inter"/>
              <a:ea typeface="Inter"/>
              <a:cs typeface="Inter"/>
              <a:sym typeface="Inter"/>
            </a:endParaRPr>
          </a:p>
        </p:txBody>
      </p:sp>
      <p:pic>
        <p:nvPicPr>
          <p:cNvPr id="199" name="Google Shape;199;p31"/>
          <p:cNvPicPr preferRelativeResize="0"/>
          <p:nvPr/>
        </p:nvPicPr>
        <p:blipFill rotWithShape="1">
          <a:blip r:embed="rId3">
            <a:alphaModFix/>
          </a:blip>
          <a:srcRect b="0" l="0" r="0" t="5177"/>
          <a:stretch/>
        </p:blipFill>
        <p:spPr>
          <a:xfrm>
            <a:off x="2437250" y="1676025"/>
            <a:ext cx="4269501" cy="3182825"/>
          </a:xfrm>
          <a:prstGeom prst="rect">
            <a:avLst/>
          </a:prstGeom>
          <a:noFill/>
          <a:ln>
            <a:noFill/>
          </a:ln>
        </p:spPr>
      </p:pic>
      <p:sp>
        <p:nvSpPr>
          <p:cNvPr id="200" name="Google Shape;200;p31"/>
          <p:cNvSpPr/>
          <p:nvPr/>
        </p:nvSpPr>
        <p:spPr>
          <a:xfrm>
            <a:off x="2984500" y="2245600"/>
            <a:ext cx="3722400" cy="2424600"/>
          </a:xfrm>
          <a:prstGeom prst="rect">
            <a:avLst/>
          </a:prstGeom>
          <a:noFill/>
          <a:ln cap="flat" cmpd="sng" w="1905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2"/>
          <p:cNvSpPr txBox="1"/>
          <p:nvPr>
            <p:ph type="title"/>
          </p:nvPr>
        </p:nvSpPr>
        <p:spPr>
          <a:xfrm>
            <a:off x="311700" y="2472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Inter"/>
                <a:ea typeface="Inter"/>
                <a:cs typeface="Inter"/>
                <a:sym typeface="Inter"/>
              </a:rPr>
              <a:t>Are LLMs replacing course staff?</a:t>
            </a:r>
            <a:endParaRPr>
              <a:latin typeface="Inter"/>
              <a:ea typeface="Inter"/>
              <a:cs typeface="Inter"/>
              <a:sym typeface="Inter"/>
            </a:endParaRPr>
          </a:p>
        </p:txBody>
      </p:sp>
      <p:sp>
        <p:nvSpPr>
          <p:cNvPr id="206" name="Google Shape;206;p32"/>
          <p:cNvSpPr txBox="1"/>
          <p:nvPr>
            <p:ph idx="1" type="body"/>
          </p:nvPr>
        </p:nvSpPr>
        <p:spPr>
          <a:xfrm>
            <a:off x="207775" y="721000"/>
            <a:ext cx="4333500" cy="1004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500" u="sng">
                <a:solidFill>
                  <a:schemeClr val="dk1"/>
                </a:solidFill>
                <a:latin typeface="Inter"/>
                <a:ea typeface="Inter"/>
                <a:cs typeface="Inter"/>
                <a:sym typeface="Inter"/>
              </a:rPr>
              <a:t>Question</a:t>
            </a:r>
            <a:r>
              <a:rPr lang="en" sz="1500" u="sng">
                <a:solidFill>
                  <a:schemeClr val="dk1"/>
                </a:solidFill>
                <a:latin typeface="Inter"/>
                <a:ea typeface="Inter"/>
                <a:cs typeface="Inter"/>
                <a:sym typeface="Inter"/>
              </a:rPr>
              <a:t> 6</a:t>
            </a:r>
            <a:r>
              <a:rPr lang="en" sz="1500">
                <a:solidFill>
                  <a:schemeClr val="dk1"/>
                </a:solidFill>
                <a:latin typeface="Inter"/>
                <a:ea typeface="Inter"/>
                <a:cs typeface="Inter"/>
                <a:sym typeface="Inter"/>
              </a:rPr>
              <a:t>: If course staff were</a:t>
            </a:r>
            <a:r>
              <a:rPr b="1" lang="en" sz="1500">
                <a:solidFill>
                  <a:schemeClr val="dk1"/>
                </a:solidFill>
                <a:latin typeface="Inter"/>
                <a:ea typeface="Inter"/>
                <a:cs typeface="Inter"/>
                <a:sym typeface="Inter"/>
              </a:rPr>
              <a:t> not available</a:t>
            </a:r>
            <a:r>
              <a:rPr lang="en" sz="1500">
                <a:solidFill>
                  <a:schemeClr val="dk1"/>
                </a:solidFill>
                <a:latin typeface="Inter"/>
                <a:ea typeface="Inter"/>
                <a:cs typeface="Inter"/>
                <a:sym typeface="Inter"/>
              </a:rPr>
              <a:t>, what percentage of your questions could PingPong </a:t>
            </a:r>
            <a:r>
              <a:rPr b="1" lang="en" sz="1500">
                <a:solidFill>
                  <a:schemeClr val="dk1"/>
                </a:solidFill>
                <a:latin typeface="Inter"/>
                <a:ea typeface="Inter"/>
                <a:cs typeface="Inter"/>
                <a:sym typeface="Inter"/>
              </a:rPr>
              <a:t>fully</a:t>
            </a:r>
            <a:r>
              <a:rPr lang="en" sz="1500">
                <a:solidFill>
                  <a:schemeClr val="dk1"/>
                </a:solidFill>
                <a:latin typeface="Inter"/>
                <a:ea typeface="Inter"/>
                <a:cs typeface="Inter"/>
                <a:sym typeface="Inter"/>
              </a:rPr>
              <a:t> answer?</a:t>
            </a:r>
            <a:endParaRPr sz="1500">
              <a:solidFill>
                <a:schemeClr val="dk1"/>
              </a:solidFill>
              <a:latin typeface="Inter"/>
              <a:ea typeface="Inter"/>
              <a:cs typeface="Inter"/>
              <a:sym typeface="Inter"/>
            </a:endParaRPr>
          </a:p>
          <a:p>
            <a:pPr indent="0" lvl="0" marL="914400" rtl="0" algn="l">
              <a:lnSpc>
                <a:spcPct val="105000"/>
              </a:lnSpc>
              <a:spcBef>
                <a:spcPts val="1200"/>
              </a:spcBef>
              <a:spcAft>
                <a:spcPts val="1200"/>
              </a:spcAft>
              <a:buSzPts val="1018"/>
              <a:buNone/>
            </a:pPr>
            <a:r>
              <a:t/>
            </a:r>
            <a:endParaRPr sz="1550">
              <a:solidFill>
                <a:schemeClr val="dk1"/>
              </a:solidFill>
              <a:latin typeface="Source Code Pro"/>
              <a:ea typeface="Source Code Pro"/>
              <a:cs typeface="Source Code Pro"/>
              <a:sym typeface="Source Code Pro"/>
            </a:endParaRPr>
          </a:p>
        </p:txBody>
      </p:sp>
      <p:sp>
        <p:nvSpPr>
          <p:cNvPr id="207" name="Google Shape;207;p32"/>
          <p:cNvSpPr txBox="1"/>
          <p:nvPr>
            <p:ph idx="1" type="body"/>
          </p:nvPr>
        </p:nvSpPr>
        <p:spPr>
          <a:xfrm>
            <a:off x="4573150" y="721000"/>
            <a:ext cx="4258500" cy="1004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500" u="sng">
                <a:solidFill>
                  <a:schemeClr val="dk1"/>
                </a:solidFill>
                <a:latin typeface="Inter"/>
                <a:ea typeface="Inter"/>
                <a:cs typeface="Inter"/>
                <a:sym typeface="Inter"/>
              </a:rPr>
              <a:t>Question 9</a:t>
            </a:r>
            <a:r>
              <a:rPr lang="en" sz="1500">
                <a:solidFill>
                  <a:schemeClr val="dk1"/>
                </a:solidFill>
                <a:latin typeface="Inter"/>
                <a:ea typeface="Inter"/>
                <a:cs typeface="Inter"/>
                <a:sym typeface="Inter"/>
              </a:rPr>
              <a:t>: Without access to LLMs, I would attend STAT 131A office hours...</a:t>
            </a:r>
            <a:endParaRPr sz="1500">
              <a:solidFill>
                <a:schemeClr val="dk1"/>
              </a:solidFill>
              <a:latin typeface="Inter"/>
              <a:ea typeface="Inter"/>
              <a:cs typeface="Inter"/>
              <a:sym typeface="Inter"/>
            </a:endParaRPr>
          </a:p>
          <a:p>
            <a:pPr indent="0" lvl="0" marL="914400" rtl="0" algn="l">
              <a:lnSpc>
                <a:spcPct val="105000"/>
              </a:lnSpc>
              <a:spcBef>
                <a:spcPts val="1200"/>
              </a:spcBef>
              <a:spcAft>
                <a:spcPts val="1200"/>
              </a:spcAft>
              <a:buSzPts val="1018"/>
              <a:buNone/>
            </a:pPr>
            <a:r>
              <a:t/>
            </a:r>
            <a:endParaRPr sz="1550">
              <a:solidFill>
                <a:schemeClr val="dk1"/>
              </a:solidFill>
              <a:latin typeface="Source Code Pro"/>
              <a:ea typeface="Source Code Pro"/>
              <a:cs typeface="Source Code Pro"/>
              <a:sym typeface="Source Code Pr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3"/>
          <p:cNvSpPr txBox="1"/>
          <p:nvPr>
            <p:ph type="title"/>
          </p:nvPr>
        </p:nvSpPr>
        <p:spPr>
          <a:xfrm>
            <a:off x="311700" y="2472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Inter"/>
                <a:ea typeface="Inter"/>
                <a:cs typeface="Inter"/>
                <a:sym typeface="Inter"/>
              </a:rPr>
              <a:t>Majority of questions are answered by PingPong</a:t>
            </a:r>
            <a:r>
              <a:rPr lang="en">
                <a:latin typeface="Inter"/>
                <a:ea typeface="Inter"/>
                <a:cs typeface="Inter"/>
                <a:sym typeface="Inter"/>
              </a:rPr>
              <a:t> </a:t>
            </a:r>
            <a:endParaRPr>
              <a:latin typeface="Inter"/>
              <a:ea typeface="Inter"/>
              <a:cs typeface="Inter"/>
              <a:sym typeface="Inter"/>
            </a:endParaRPr>
          </a:p>
        </p:txBody>
      </p:sp>
      <p:sp>
        <p:nvSpPr>
          <p:cNvPr id="213" name="Google Shape;213;p33"/>
          <p:cNvSpPr txBox="1"/>
          <p:nvPr>
            <p:ph idx="1" type="body"/>
          </p:nvPr>
        </p:nvSpPr>
        <p:spPr>
          <a:xfrm>
            <a:off x="207775" y="721000"/>
            <a:ext cx="4333500" cy="1004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500" u="sng">
                <a:solidFill>
                  <a:schemeClr val="dk1"/>
                </a:solidFill>
                <a:latin typeface="Inter"/>
                <a:ea typeface="Inter"/>
                <a:cs typeface="Inter"/>
                <a:sym typeface="Inter"/>
              </a:rPr>
              <a:t>Question</a:t>
            </a:r>
            <a:r>
              <a:rPr lang="en" sz="1500" u="sng">
                <a:solidFill>
                  <a:schemeClr val="dk1"/>
                </a:solidFill>
                <a:latin typeface="Inter"/>
                <a:ea typeface="Inter"/>
                <a:cs typeface="Inter"/>
                <a:sym typeface="Inter"/>
              </a:rPr>
              <a:t> 6</a:t>
            </a:r>
            <a:r>
              <a:rPr lang="en" sz="1500">
                <a:solidFill>
                  <a:schemeClr val="dk1"/>
                </a:solidFill>
                <a:latin typeface="Inter"/>
                <a:ea typeface="Inter"/>
                <a:cs typeface="Inter"/>
                <a:sym typeface="Inter"/>
              </a:rPr>
              <a:t>: </a:t>
            </a:r>
            <a:r>
              <a:rPr lang="en" sz="1500">
                <a:solidFill>
                  <a:schemeClr val="dk1"/>
                </a:solidFill>
                <a:latin typeface="Inter"/>
                <a:ea typeface="Inter"/>
                <a:cs typeface="Inter"/>
                <a:sym typeface="Inter"/>
              </a:rPr>
              <a:t>If course staff were </a:t>
            </a:r>
            <a:r>
              <a:rPr b="1" lang="en" sz="1500">
                <a:solidFill>
                  <a:schemeClr val="dk1"/>
                </a:solidFill>
                <a:latin typeface="Inter"/>
                <a:ea typeface="Inter"/>
                <a:cs typeface="Inter"/>
                <a:sym typeface="Inter"/>
              </a:rPr>
              <a:t>not available</a:t>
            </a:r>
            <a:r>
              <a:rPr lang="en" sz="1500">
                <a:solidFill>
                  <a:schemeClr val="dk1"/>
                </a:solidFill>
                <a:latin typeface="Inter"/>
                <a:ea typeface="Inter"/>
                <a:cs typeface="Inter"/>
                <a:sym typeface="Inter"/>
              </a:rPr>
              <a:t>, what percentage of your questions could PingPong </a:t>
            </a:r>
            <a:r>
              <a:rPr b="1" lang="en" sz="1500">
                <a:solidFill>
                  <a:schemeClr val="dk1"/>
                </a:solidFill>
                <a:latin typeface="Inter"/>
                <a:ea typeface="Inter"/>
                <a:cs typeface="Inter"/>
                <a:sym typeface="Inter"/>
              </a:rPr>
              <a:t>fully</a:t>
            </a:r>
            <a:r>
              <a:rPr lang="en" sz="1500">
                <a:solidFill>
                  <a:schemeClr val="dk1"/>
                </a:solidFill>
                <a:latin typeface="Inter"/>
                <a:ea typeface="Inter"/>
                <a:cs typeface="Inter"/>
                <a:sym typeface="Inter"/>
              </a:rPr>
              <a:t> answer?</a:t>
            </a:r>
            <a:endParaRPr sz="1500">
              <a:solidFill>
                <a:schemeClr val="dk1"/>
              </a:solidFill>
              <a:latin typeface="Inter"/>
              <a:ea typeface="Inter"/>
              <a:cs typeface="Inter"/>
              <a:sym typeface="Inter"/>
            </a:endParaRPr>
          </a:p>
          <a:p>
            <a:pPr indent="0" lvl="0" marL="914400" rtl="0" algn="l">
              <a:lnSpc>
                <a:spcPct val="105000"/>
              </a:lnSpc>
              <a:spcBef>
                <a:spcPts val="1200"/>
              </a:spcBef>
              <a:spcAft>
                <a:spcPts val="1200"/>
              </a:spcAft>
              <a:buSzPts val="1018"/>
              <a:buNone/>
            </a:pPr>
            <a:r>
              <a:t/>
            </a:r>
            <a:endParaRPr sz="1550">
              <a:solidFill>
                <a:schemeClr val="dk1"/>
              </a:solidFill>
              <a:latin typeface="Source Code Pro"/>
              <a:ea typeface="Source Code Pro"/>
              <a:cs typeface="Source Code Pro"/>
              <a:sym typeface="Source Code Pro"/>
            </a:endParaRPr>
          </a:p>
        </p:txBody>
      </p:sp>
      <p:sp>
        <p:nvSpPr>
          <p:cNvPr id="214" name="Google Shape;214;p33"/>
          <p:cNvSpPr txBox="1"/>
          <p:nvPr>
            <p:ph idx="1" type="body"/>
          </p:nvPr>
        </p:nvSpPr>
        <p:spPr>
          <a:xfrm>
            <a:off x="4573150" y="721000"/>
            <a:ext cx="4258500" cy="1004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500" u="sng">
                <a:solidFill>
                  <a:schemeClr val="dk1"/>
                </a:solidFill>
                <a:latin typeface="Inter"/>
                <a:ea typeface="Inter"/>
                <a:cs typeface="Inter"/>
                <a:sym typeface="Inter"/>
              </a:rPr>
              <a:t>Question 9</a:t>
            </a:r>
            <a:r>
              <a:rPr lang="en" sz="1500">
                <a:solidFill>
                  <a:schemeClr val="dk1"/>
                </a:solidFill>
                <a:latin typeface="Inter"/>
                <a:ea typeface="Inter"/>
                <a:cs typeface="Inter"/>
                <a:sym typeface="Inter"/>
              </a:rPr>
              <a:t>: </a:t>
            </a:r>
            <a:r>
              <a:rPr lang="en" sz="1500">
                <a:solidFill>
                  <a:schemeClr val="dk1"/>
                </a:solidFill>
                <a:latin typeface="Inter"/>
                <a:ea typeface="Inter"/>
                <a:cs typeface="Inter"/>
                <a:sym typeface="Inter"/>
              </a:rPr>
              <a:t>Without access to LLMs, I would attend STAT 131A office hours...</a:t>
            </a:r>
            <a:endParaRPr sz="1500">
              <a:solidFill>
                <a:schemeClr val="dk1"/>
              </a:solidFill>
              <a:latin typeface="Inter"/>
              <a:ea typeface="Inter"/>
              <a:cs typeface="Inter"/>
              <a:sym typeface="Inter"/>
            </a:endParaRPr>
          </a:p>
          <a:p>
            <a:pPr indent="0" lvl="0" marL="914400" rtl="0" algn="l">
              <a:lnSpc>
                <a:spcPct val="105000"/>
              </a:lnSpc>
              <a:spcBef>
                <a:spcPts val="1200"/>
              </a:spcBef>
              <a:spcAft>
                <a:spcPts val="1200"/>
              </a:spcAft>
              <a:buSzPts val="1018"/>
              <a:buNone/>
            </a:pPr>
            <a:r>
              <a:t/>
            </a:r>
            <a:endParaRPr sz="1550">
              <a:solidFill>
                <a:schemeClr val="dk1"/>
              </a:solidFill>
              <a:latin typeface="Source Code Pro"/>
              <a:ea typeface="Source Code Pro"/>
              <a:cs typeface="Source Code Pro"/>
              <a:sym typeface="Source Code Pro"/>
            </a:endParaRPr>
          </a:p>
        </p:txBody>
      </p:sp>
      <p:pic>
        <p:nvPicPr>
          <p:cNvPr id="215" name="Google Shape;215;p33"/>
          <p:cNvPicPr preferRelativeResize="0"/>
          <p:nvPr/>
        </p:nvPicPr>
        <p:blipFill rotWithShape="1">
          <a:blip r:embed="rId3">
            <a:alphaModFix/>
          </a:blip>
          <a:srcRect b="0" l="0" r="0" t="6138"/>
          <a:stretch/>
        </p:blipFill>
        <p:spPr>
          <a:xfrm>
            <a:off x="311700" y="1800150"/>
            <a:ext cx="3799599" cy="2770500"/>
          </a:xfrm>
          <a:prstGeom prst="rect">
            <a:avLst/>
          </a:prstGeom>
          <a:noFill/>
          <a:ln>
            <a:noFill/>
          </a:ln>
        </p:spPr>
      </p:pic>
      <p:pic>
        <p:nvPicPr>
          <p:cNvPr id="216" name="Google Shape;216;p33"/>
          <p:cNvPicPr preferRelativeResize="0"/>
          <p:nvPr/>
        </p:nvPicPr>
        <p:blipFill rotWithShape="1">
          <a:blip r:embed="rId4">
            <a:alphaModFix/>
          </a:blip>
          <a:srcRect b="0" l="0" r="0" t="5820"/>
          <a:stretch/>
        </p:blipFill>
        <p:spPr>
          <a:xfrm>
            <a:off x="4748625" y="1800150"/>
            <a:ext cx="3723424" cy="293220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Inter"/>
                <a:ea typeface="Inter"/>
                <a:cs typeface="Inter"/>
                <a:sym typeface="Inter"/>
              </a:rPr>
              <a:t>Half </a:t>
            </a:r>
            <a:r>
              <a:rPr i="1" lang="en">
                <a:latin typeface="Inter"/>
                <a:ea typeface="Inter"/>
                <a:cs typeface="Inter"/>
                <a:sym typeface="Inter"/>
              </a:rPr>
              <a:t>think </a:t>
            </a:r>
            <a:r>
              <a:rPr lang="en">
                <a:latin typeface="Inter"/>
                <a:ea typeface="Inter"/>
                <a:cs typeface="Inter"/>
                <a:sym typeface="Inter"/>
              </a:rPr>
              <a:t>their understanding is different</a:t>
            </a:r>
            <a:endParaRPr>
              <a:latin typeface="Inter"/>
              <a:ea typeface="Inter"/>
              <a:cs typeface="Inter"/>
              <a:sym typeface="Inter"/>
            </a:endParaRPr>
          </a:p>
        </p:txBody>
      </p:sp>
      <p:sp>
        <p:nvSpPr>
          <p:cNvPr id="222" name="Google Shape;222;p34"/>
          <p:cNvSpPr txBox="1"/>
          <p:nvPr>
            <p:ph idx="1" type="body"/>
          </p:nvPr>
        </p:nvSpPr>
        <p:spPr>
          <a:xfrm>
            <a:off x="311700" y="1067175"/>
            <a:ext cx="8520600" cy="5727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500" u="sng">
                <a:solidFill>
                  <a:schemeClr val="dk1"/>
                </a:solidFill>
                <a:latin typeface="Inter"/>
                <a:ea typeface="Inter"/>
                <a:cs typeface="Inter"/>
                <a:sym typeface="Inter"/>
              </a:rPr>
              <a:t>Question</a:t>
            </a:r>
            <a:r>
              <a:rPr lang="en" sz="1500">
                <a:solidFill>
                  <a:schemeClr val="dk1"/>
                </a:solidFill>
                <a:latin typeface="Inter"/>
                <a:ea typeface="Inter"/>
                <a:cs typeface="Inter"/>
                <a:sym typeface="Inter"/>
              </a:rPr>
              <a:t>: </a:t>
            </a:r>
            <a:r>
              <a:rPr lang="en" sz="1500">
                <a:solidFill>
                  <a:srgbClr val="202124"/>
                </a:solidFill>
                <a:highlight>
                  <a:srgbClr val="FFFFFF"/>
                </a:highlight>
                <a:latin typeface="Inter"/>
                <a:ea typeface="Inter"/>
                <a:cs typeface="Inter"/>
                <a:sym typeface="Inter"/>
              </a:rPr>
              <a:t>Without LLMs, do you think your </a:t>
            </a:r>
            <a:r>
              <a:rPr b="1" lang="en" sz="1500">
                <a:solidFill>
                  <a:srgbClr val="202124"/>
                </a:solidFill>
                <a:highlight>
                  <a:srgbClr val="FFFFFF"/>
                </a:highlight>
                <a:latin typeface="Inter"/>
                <a:ea typeface="Inter"/>
                <a:cs typeface="Inter"/>
                <a:sym typeface="Inter"/>
              </a:rPr>
              <a:t>understanding</a:t>
            </a:r>
            <a:r>
              <a:rPr lang="en" sz="1500">
                <a:solidFill>
                  <a:srgbClr val="202124"/>
                </a:solidFill>
                <a:highlight>
                  <a:srgbClr val="FFFFFF"/>
                </a:highlight>
                <a:latin typeface="Inter"/>
                <a:ea typeface="Inter"/>
                <a:cs typeface="Inter"/>
                <a:sym typeface="Inter"/>
              </a:rPr>
              <a:t> of the STAT 131A </a:t>
            </a:r>
            <a:r>
              <a:rPr b="1" lang="en" sz="1500">
                <a:solidFill>
                  <a:srgbClr val="202124"/>
                </a:solidFill>
                <a:highlight>
                  <a:srgbClr val="FFFFFF"/>
                </a:highlight>
                <a:latin typeface="Inter"/>
                <a:ea typeface="Inter"/>
                <a:cs typeface="Inter"/>
                <a:sym typeface="Inter"/>
              </a:rPr>
              <a:t>material</a:t>
            </a:r>
            <a:r>
              <a:rPr b="1" lang="en" sz="1500">
                <a:solidFill>
                  <a:srgbClr val="202124"/>
                </a:solidFill>
                <a:highlight>
                  <a:srgbClr val="FFFFFF"/>
                </a:highlight>
                <a:latin typeface="Inter"/>
                <a:ea typeface="Inter"/>
                <a:cs typeface="Inter"/>
                <a:sym typeface="Inter"/>
              </a:rPr>
              <a:t> </a:t>
            </a:r>
            <a:r>
              <a:rPr lang="en" sz="1500">
                <a:solidFill>
                  <a:srgbClr val="202124"/>
                </a:solidFill>
                <a:highlight>
                  <a:srgbClr val="FFFFFF"/>
                </a:highlight>
                <a:latin typeface="Inter"/>
                <a:ea typeface="Inter"/>
                <a:cs typeface="Inter"/>
                <a:sym typeface="Inter"/>
              </a:rPr>
              <a:t>would be different? </a:t>
            </a:r>
            <a:endParaRPr>
              <a:solidFill>
                <a:schemeClr val="dk1"/>
              </a:solidFill>
              <a:latin typeface="Inter"/>
              <a:ea typeface="Inter"/>
              <a:cs typeface="Inter"/>
              <a:sym typeface="Inter"/>
            </a:endParaRPr>
          </a:p>
          <a:p>
            <a:pPr indent="0" lvl="0" marL="914400" rtl="0" algn="l">
              <a:lnSpc>
                <a:spcPct val="105000"/>
              </a:lnSpc>
              <a:spcBef>
                <a:spcPts val="1200"/>
              </a:spcBef>
              <a:spcAft>
                <a:spcPts val="1200"/>
              </a:spcAft>
              <a:buSzPts val="1018"/>
              <a:buNone/>
            </a:pPr>
            <a:r>
              <a:t/>
            </a:r>
            <a:endParaRPr sz="1550">
              <a:solidFill>
                <a:schemeClr val="dk1"/>
              </a:solidFill>
              <a:latin typeface="Source Code Pro"/>
              <a:ea typeface="Source Code Pro"/>
              <a:cs typeface="Source Code Pro"/>
              <a:sym typeface="Source Code Pr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5"/>
          <p:cNvSpPr txBox="1"/>
          <p:nvPr/>
        </p:nvSpPr>
        <p:spPr>
          <a:xfrm>
            <a:off x="312450" y="1689350"/>
            <a:ext cx="1236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Inter"/>
                <a:ea typeface="Inter"/>
                <a:cs typeface="Inter"/>
                <a:sym typeface="Inter"/>
              </a:rPr>
              <a:t>No: 49%</a:t>
            </a:r>
            <a:r>
              <a:rPr lang="en" sz="1800">
                <a:solidFill>
                  <a:schemeClr val="dk2"/>
                </a:solidFill>
                <a:latin typeface="Inter"/>
                <a:ea typeface="Inter"/>
                <a:cs typeface="Inter"/>
                <a:sym typeface="Inter"/>
              </a:rPr>
              <a:t> </a:t>
            </a:r>
            <a:endParaRPr sz="1800">
              <a:solidFill>
                <a:schemeClr val="dk2"/>
              </a:solidFill>
              <a:latin typeface="Inter"/>
              <a:ea typeface="Inter"/>
              <a:cs typeface="Inter"/>
              <a:sym typeface="Inter"/>
            </a:endParaRPr>
          </a:p>
        </p:txBody>
      </p:sp>
      <p:sp>
        <p:nvSpPr>
          <p:cNvPr id="228" name="Google Shape;228;p35"/>
          <p:cNvSpPr txBox="1"/>
          <p:nvPr/>
        </p:nvSpPr>
        <p:spPr>
          <a:xfrm>
            <a:off x="4658450" y="1718338"/>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Inter"/>
                <a:ea typeface="Inter"/>
                <a:cs typeface="Inter"/>
                <a:sym typeface="Inter"/>
              </a:rPr>
              <a:t>Yes: 51%</a:t>
            </a:r>
            <a:endParaRPr>
              <a:latin typeface="Inter"/>
              <a:ea typeface="Inter"/>
              <a:cs typeface="Inter"/>
              <a:sym typeface="Inter"/>
            </a:endParaRPr>
          </a:p>
        </p:txBody>
      </p:sp>
      <p:sp>
        <p:nvSpPr>
          <p:cNvPr id="229" name="Google Shape;229;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Inter"/>
                <a:ea typeface="Inter"/>
                <a:cs typeface="Inter"/>
                <a:sym typeface="Inter"/>
              </a:rPr>
              <a:t>Half </a:t>
            </a:r>
            <a:r>
              <a:rPr i="1" lang="en">
                <a:latin typeface="Inter"/>
                <a:ea typeface="Inter"/>
                <a:cs typeface="Inter"/>
                <a:sym typeface="Inter"/>
              </a:rPr>
              <a:t>think </a:t>
            </a:r>
            <a:r>
              <a:rPr lang="en">
                <a:latin typeface="Inter"/>
                <a:ea typeface="Inter"/>
                <a:cs typeface="Inter"/>
                <a:sym typeface="Inter"/>
              </a:rPr>
              <a:t>their understanding is different</a:t>
            </a:r>
            <a:endParaRPr>
              <a:latin typeface="Inter"/>
              <a:ea typeface="Inter"/>
              <a:cs typeface="Inter"/>
              <a:sym typeface="Inter"/>
            </a:endParaRPr>
          </a:p>
        </p:txBody>
      </p:sp>
      <p:sp>
        <p:nvSpPr>
          <p:cNvPr id="230" name="Google Shape;230;p35"/>
          <p:cNvSpPr txBox="1"/>
          <p:nvPr>
            <p:ph idx="1" type="body"/>
          </p:nvPr>
        </p:nvSpPr>
        <p:spPr>
          <a:xfrm>
            <a:off x="311700" y="1067175"/>
            <a:ext cx="8520600" cy="5727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500" u="sng">
                <a:solidFill>
                  <a:schemeClr val="dk1"/>
                </a:solidFill>
                <a:latin typeface="Inter"/>
                <a:ea typeface="Inter"/>
                <a:cs typeface="Inter"/>
                <a:sym typeface="Inter"/>
              </a:rPr>
              <a:t>Question</a:t>
            </a:r>
            <a:r>
              <a:rPr lang="en" sz="1500">
                <a:solidFill>
                  <a:schemeClr val="dk1"/>
                </a:solidFill>
                <a:latin typeface="Inter"/>
                <a:ea typeface="Inter"/>
                <a:cs typeface="Inter"/>
                <a:sym typeface="Inter"/>
              </a:rPr>
              <a:t>: </a:t>
            </a:r>
            <a:r>
              <a:rPr lang="en" sz="1500">
                <a:solidFill>
                  <a:srgbClr val="202124"/>
                </a:solidFill>
                <a:highlight>
                  <a:srgbClr val="FFFFFF"/>
                </a:highlight>
                <a:latin typeface="Inter"/>
                <a:ea typeface="Inter"/>
                <a:cs typeface="Inter"/>
                <a:sym typeface="Inter"/>
              </a:rPr>
              <a:t>Without LLMs, do you think your </a:t>
            </a:r>
            <a:r>
              <a:rPr b="1" lang="en" sz="1500">
                <a:solidFill>
                  <a:srgbClr val="202124"/>
                </a:solidFill>
                <a:highlight>
                  <a:srgbClr val="FFFFFF"/>
                </a:highlight>
                <a:latin typeface="Inter"/>
                <a:ea typeface="Inter"/>
                <a:cs typeface="Inter"/>
                <a:sym typeface="Inter"/>
              </a:rPr>
              <a:t>understanding</a:t>
            </a:r>
            <a:r>
              <a:rPr lang="en" sz="1500">
                <a:solidFill>
                  <a:srgbClr val="202124"/>
                </a:solidFill>
                <a:highlight>
                  <a:srgbClr val="FFFFFF"/>
                </a:highlight>
                <a:latin typeface="Inter"/>
                <a:ea typeface="Inter"/>
                <a:cs typeface="Inter"/>
                <a:sym typeface="Inter"/>
              </a:rPr>
              <a:t> of the STAT 131A </a:t>
            </a:r>
            <a:r>
              <a:rPr b="1" lang="en" sz="1500">
                <a:solidFill>
                  <a:srgbClr val="202124"/>
                </a:solidFill>
                <a:highlight>
                  <a:srgbClr val="FFFFFF"/>
                </a:highlight>
                <a:latin typeface="Inter"/>
                <a:ea typeface="Inter"/>
                <a:cs typeface="Inter"/>
                <a:sym typeface="Inter"/>
              </a:rPr>
              <a:t>material</a:t>
            </a:r>
            <a:r>
              <a:rPr b="1" lang="en" sz="1500">
                <a:solidFill>
                  <a:srgbClr val="202124"/>
                </a:solidFill>
                <a:highlight>
                  <a:srgbClr val="FFFFFF"/>
                </a:highlight>
                <a:latin typeface="Inter"/>
                <a:ea typeface="Inter"/>
                <a:cs typeface="Inter"/>
                <a:sym typeface="Inter"/>
              </a:rPr>
              <a:t> </a:t>
            </a:r>
            <a:r>
              <a:rPr lang="en" sz="1500">
                <a:solidFill>
                  <a:srgbClr val="202124"/>
                </a:solidFill>
                <a:highlight>
                  <a:srgbClr val="FFFFFF"/>
                </a:highlight>
                <a:latin typeface="Inter"/>
                <a:ea typeface="Inter"/>
                <a:cs typeface="Inter"/>
                <a:sym typeface="Inter"/>
              </a:rPr>
              <a:t>would be different? </a:t>
            </a:r>
            <a:endParaRPr>
              <a:solidFill>
                <a:schemeClr val="dk1"/>
              </a:solidFill>
              <a:latin typeface="Inter"/>
              <a:ea typeface="Inter"/>
              <a:cs typeface="Inter"/>
              <a:sym typeface="Inter"/>
            </a:endParaRPr>
          </a:p>
          <a:p>
            <a:pPr indent="0" lvl="0" marL="914400" rtl="0" algn="l">
              <a:lnSpc>
                <a:spcPct val="105000"/>
              </a:lnSpc>
              <a:spcBef>
                <a:spcPts val="1200"/>
              </a:spcBef>
              <a:spcAft>
                <a:spcPts val="1200"/>
              </a:spcAft>
              <a:buSzPts val="1018"/>
              <a:buNone/>
            </a:pPr>
            <a:r>
              <a:t/>
            </a:r>
            <a:endParaRPr sz="1550">
              <a:solidFill>
                <a:schemeClr val="dk1"/>
              </a:solidFill>
              <a:latin typeface="Source Code Pro"/>
              <a:ea typeface="Source Code Pro"/>
              <a:cs typeface="Source Code Pro"/>
              <a:sym typeface="Source Code Pr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6"/>
          <p:cNvSpPr txBox="1"/>
          <p:nvPr/>
        </p:nvSpPr>
        <p:spPr>
          <a:xfrm>
            <a:off x="312450" y="2122300"/>
            <a:ext cx="40116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Inter"/>
                <a:ea typeface="Inter"/>
                <a:cs typeface="Inter"/>
                <a:sym typeface="Inter"/>
              </a:rPr>
              <a:t>“</a:t>
            </a:r>
            <a:r>
              <a:rPr i="1" lang="en" sz="1500">
                <a:latin typeface="Inter"/>
                <a:ea typeface="Inter"/>
                <a:cs typeface="Inter"/>
                <a:sym typeface="Inter"/>
              </a:rPr>
              <a:t>Probably not. I mostly use lecture slides, and sometimes go to PingPong to</a:t>
            </a:r>
            <a:r>
              <a:rPr b="1" i="1" lang="en" sz="1500">
                <a:latin typeface="Inter"/>
                <a:ea typeface="Inter"/>
                <a:cs typeface="Inter"/>
                <a:sym typeface="Inter"/>
              </a:rPr>
              <a:t> refresh my memory</a:t>
            </a:r>
            <a:r>
              <a:rPr i="1" lang="en" sz="1500">
                <a:latin typeface="Inter"/>
                <a:ea typeface="Inter"/>
                <a:cs typeface="Inter"/>
                <a:sym typeface="Inter"/>
              </a:rPr>
              <a:t>, not necessarily to understand concepts differently.</a:t>
            </a:r>
            <a:r>
              <a:rPr lang="en" sz="1500">
                <a:latin typeface="Inter"/>
                <a:ea typeface="Inter"/>
                <a:cs typeface="Inter"/>
                <a:sym typeface="Inter"/>
              </a:rPr>
              <a:t>”</a:t>
            </a:r>
            <a:endParaRPr sz="1500">
              <a:latin typeface="Inter"/>
              <a:ea typeface="Inter"/>
              <a:cs typeface="Inter"/>
              <a:sym typeface="Inter"/>
            </a:endParaRPr>
          </a:p>
        </p:txBody>
      </p:sp>
      <p:sp>
        <p:nvSpPr>
          <p:cNvPr id="236" name="Google Shape;236;p36"/>
          <p:cNvSpPr txBox="1"/>
          <p:nvPr/>
        </p:nvSpPr>
        <p:spPr>
          <a:xfrm>
            <a:off x="367500" y="3815500"/>
            <a:ext cx="39030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Inter"/>
                <a:ea typeface="Inter"/>
                <a:cs typeface="Inter"/>
                <a:sym typeface="Inter"/>
              </a:rPr>
              <a:t>“</a:t>
            </a:r>
            <a:r>
              <a:rPr i="1" lang="en" sz="1500">
                <a:latin typeface="Inter"/>
                <a:ea typeface="Inter"/>
                <a:cs typeface="Inter"/>
                <a:sym typeface="Inter"/>
              </a:rPr>
              <a:t>I think it would be about the same, </a:t>
            </a:r>
            <a:r>
              <a:rPr b="1" i="1" lang="en" sz="1500">
                <a:latin typeface="Inter"/>
                <a:ea typeface="Inter"/>
                <a:cs typeface="Inter"/>
                <a:sym typeface="Inter"/>
              </a:rPr>
              <a:t>assignments would just take longer</a:t>
            </a:r>
            <a:r>
              <a:rPr i="1" lang="en" sz="1500">
                <a:latin typeface="Inter"/>
                <a:ea typeface="Inter"/>
                <a:cs typeface="Inter"/>
                <a:sym typeface="Inter"/>
              </a:rPr>
              <a:t> due to minor misunderstandings.</a:t>
            </a:r>
            <a:r>
              <a:rPr lang="en" sz="1500">
                <a:latin typeface="Inter"/>
                <a:ea typeface="Inter"/>
                <a:cs typeface="Inter"/>
                <a:sym typeface="Inter"/>
              </a:rPr>
              <a:t>”</a:t>
            </a:r>
            <a:endParaRPr sz="1500">
              <a:latin typeface="Inter"/>
              <a:ea typeface="Inter"/>
              <a:cs typeface="Inter"/>
              <a:sym typeface="Inter"/>
            </a:endParaRPr>
          </a:p>
        </p:txBody>
      </p:sp>
      <p:sp>
        <p:nvSpPr>
          <p:cNvPr id="237" name="Google Shape;237;p36"/>
          <p:cNvSpPr/>
          <p:nvPr/>
        </p:nvSpPr>
        <p:spPr>
          <a:xfrm>
            <a:off x="312450" y="2200525"/>
            <a:ext cx="4011600" cy="2497500"/>
          </a:xfrm>
          <a:prstGeom prst="rect">
            <a:avLst/>
          </a:prstGeom>
          <a:noFill/>
          <a:ln cap="flat" cmpd="sng" w="19050">
            <a:solidFill>
              <a:srgbClr val="FF7F5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8" name="Google Shape;238;p36"/>
          <p:cNvSpPr txBox="1"/>
          <p:nvPr/>
        </p:nvSpPr>
        <p:spPr>
          <a:xfrm>
            <a:off x="312450" y="1689350"/>
            <a:ext cx="1236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Inter"/>
                <a:ea typeface="Inter"/>
                <a:cs typeface="Inter"/>
                <a:sym typeface="Inter"/>
              </a:rPr>
              <a:t>No: 49%</a:t>
            </a:r>
            <a:r>
              <a:rPr lang="en" sz="1800">
                <a:solidFill>
                  <a:schemeClr val="dk2"/>
                </a:solidFill>
                <a:latin typeface="Inter"/>
                <a:ea typeface="Inter"/>
                <a:cs typeface="Inter"/>
                <a:sym typeface="Inter"/>
              </a:rPr>
              <a:t> </a:t>
            </a:r>
            <a:endParaRPr sz="1800">
              <a:solidFill>
                <a:schemeClr val="dk2"/>
              </a:solidFill>
              <a:latin typeface="Inter"/>
              <a:ea typeface="Inter"/>
              <a:cs typeface="Inter"/>
              <a:sym typeface="Inter"/>
            </a:endParaRPr>
          </a:p>
        </p:txBody>
      </p:sp>
      <p:sp>
        <p:nvSpPr>
          <p:cNvPr id="239" name="Google Shape;239;p36"/>
          <p:cNvSpPr txBox="1"/>
          <p:nvPr/>
        </p:nvSpPr>
        <p:spPr>
          <a:xfrm>
            <a:off x="4658450" y="1718338"/>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999999"/>
                </a:solidFill>
                <a:latin typeface="Inter"/>
                <a:ea typeface="Inter"/>
                <a:cs typeface="Inter"/>
                <a:sym typeface="Inter"/>
              </a:rPr>
              <a:t>Yes</a:t>
            </a:r>
            <a:r>
              <a:rPr b="1" lang="en" sz="1800">
                <a:solidFill>
                  <a:srgbClr val="999999"/>
                </a:solidFill>
                <a:latin typeface="Inter"/>
                <a:ea typeface="Inter"/>
                <a:cs typeface="Inter"/>
                <a:sym typeface="Inter"/>
              </a:rPr>
              <a:t>: 51%</a:t>
            </a:r>
            <a:endParaRPr>
              <a:solidFill>
                <a:srgbClr val="999999"/>
              </a:solidFill>
              <a:latin typeface="Inter"/>
              <a:ea typeface="Inter"/>
              <a:cs typeface="Inter"/>
              <a:sym typeface="Inter"/>
            </a:endParaRPr>
          </a:p>
        </p:txBody>
      </p:sp>
      <p:sp>
        <p:nvSpPr>
          <p:cNvPr id="240" name="Google Shape;240;p36"/>
          <p:cNvSpPr txBox="1"/>
          <p:nvPr/>
        </p:nvSpPr>
        <p:spPr>
          <a:xfrm>
            <a:off x="313200" y="3169000"/>
            <a:ext cx="4011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latin typeface="Inter"/>
                <a:ea typeface="Inter"/>
                <a:cs typeface="Inter"/>
                <a:sym typeface="Inter"/>
              </a:rPr>
              <a:t>“</a:t>
            </a:r>
            <a:r>
              <a:rPr i="1" lang="en" sz="1500">
                <a:solidFill>
                  <a:schemeClr val="dk1"/>
                </a:solidFill>
                <a:latin typeface="Inter"/>
                <a:ea typeface="Inter"/>
                <a:cs typeface="Inter"/>
                <a:sym typeface="Inter"/>
              </a:rPr>
              <a:t>No, because the other resources </a:t>
            </a:r>
            <a:r>
              <a:rPr b="1" i="1" lang="en" sz="1500">
                <a:solidFill>
                  <a:schemeClr val="dk1"/>
                </a:solidFill>
                <a:latin typeface="Inter"/>
                <a:ea typeface="Inter"/>
                <a:cs typeface="Inter"/>
                <a:sym typeface="Inter"/>
              </a:rPr>
              <a:t>adequately cover </a:t>
            </a:r>
            <a:r>
              <a:rPr i="1" lang="en" sz="1500">
                <a:solidFill>
                  <a:schemeClr val="dk1"/>
                </a:solidFill>
                <a:latin typeface="Inter"/>
                <a:ea typeface="Inter"/>
                <a:cs typeface="Inter"/>
                <a:sym typeface="Inter"/>
              </a:rPr>
              <a:t>the material.</a:t>
            </a:r>
            <a:r>
              <a:rPr lang="en" sz="1500">
                <a:solidFill>
                  <a:schemeClr val="dk1"/>
                </a:solidFill>
                <a:latin typeface="Inter"/>
                <a:ea typeface="Inter"/>
                <a:cs typeface="Inter"/>
                <a:sym typeface="Inter"/>
              </a:rPr>
              <a:t>”</a:t>
            </a:r>
            <a:endParaRPr sz="1500">
              <a:solidFill>
                <a:schemeClr val="dk1"/>
              </a:solidFill>
              <a:latin typeface="Inter"/>
              <a:ea typeface="Inter"/>
              <a:cs typeface="Inter"/>
              <a:sym typeface="Inter"/>
            </a:endParaRPr>
          </a:p>
        </p:txBody>
      </p:sp>
      <p:sp>
        <p:nvSpPr>
          <p:cNvPr id="241" name="Google Shape;241;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Inter"/>
                <a:ea typeface="Inter"/>
                <a:cs typeface="Inter"/>
                <a:sym typeface="Inter"/>
              </a:rPr>
              <a:t>Half </a:t>
            </a:r>
            <a:r>
              <a:rPr i="1" lang="en">
                <a:latin typeface="Inter"/>
                <a:ea typeface="Inter"/>
                <a:cs typeface="Inter"/>
                <a:sym typeface="Inter"/>
              </a:rPr>
              <a:t>think </a:t>
            </a:r>
            <a:r>
              <a:rPr lang="en">
                <a:latin typeface="Inter"/>
                <a:ea typeface="Inter"/>
                <a:cs typeface="Inter"/>
                <a:sym typeface="Inter"/>
              </a:rPr>
              <a:t>their understanding is different</a:t>
            </a:r>
            <a:endParaRPr>
              <a:latin typeface="Inter"/>
              <a:ea typeface="Inter"/>
              <a:cs typeface="Inter"/>
              <a:sym typeface="Inter"/>
            </a:endParaRPr>
          </a:p>
        </p:txBody>
      </p:sp>
      <p:sp>
        <p:nvSpPr>
          <p:cNvPr id="242" name="Google Shape;242;p36"/>
          <p:cNvSpPr txBox="1"/>
          <p:nvPr>
            <p:ph idx="1" type="body"/>
          </p:nvPr>
        </p:nvSpPr>
        <p:spPr>
          <a:xfrm>
            <a:off x="311700" y="1067175"/>
            <a:ext cx="8520600" cy="5727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500" u="sng">
                <a:solidFill>
                  <a:schemeClr val="dk1"/>
                </a:solidFill>
                <a:latin typeface="Inter"/>
                <a:ea typeface="Inter"/>
                <a:cs typeface="Inter"/>
                <a:sym typeface="Inter"/>
              </a:rPr>
              <a:t>Question</a:t>
            </a:r>
            <a:r>
              <a:rPr lang="en" sz="1500">
                <a:solidFill>
                  <a:schemeClr val="dk1"/>
                </a:solidFill>
                <a:latin typeface="Inter"/>
                <a:ea typeface="Inter"/>
                <a:cs typeface="Inter"/>
                <a:sym typeface="Inter"/>
              </a:rPr>
              <a:t>: </a:t>
            </a:r>
            <a:r>
              <a:rPr lang="en" sz="1500">
                <a:solidFill>
                  <a:srgbClr val="202124"/>
                </a:solidFill>
                <a:highlight>
                  <a:srgbClr val="FFFFFF"/>
                </a:highlight>
                <a:latin typeface="Inter"/>
                <a:ea typeface="Inter"/>
                <a:cs typeface="Inter"/>
                <a:sym typeface="Inter"/>
              </a:rPr>
              <a:t>Without LLMs, do you think your </a:t>
            </a:r>
            <a:r>
              <a:rPr b="1" lang="en" sz="1500">
                <a:solidFill>
                  <a:srgbClr val="202124"/>
                </a:solidFill>
                <a:highlight>
                  <a:srgbClr val="FFFFFF"/>
                </a:highlight>
                <a:latin typeface="Inter"/>
                <a:ea typeface="Inter"/>
                <a:cs typeface="Inter"/>
                <a:sym typeface="Inter"/>
              </a:rPr>
              <a:t>understanding</a:t>
            </a:r>
            <a:r>
              <a:rPr lang="en" sz="1500">
                <a:solidFill>
                  <a:srgbClr val="202124"/>
                </a:solidFill>
                <a:highlight>
                  <a:srgbClr val="FFFFFF"/>
                </a:highlight>
                <a:latin typeface="Inter"/>
                <a:ea typeface="Inter"/>
                <a:cs typeface="Inter"/>
                <a:sym typeface="Inter"/>
              </a:rPr>
              <a:t> of the STAT 131A </a:t>
            </a:r>
            <a:r>
              <a:rPr b="1" lang="en" sz="1500">
                <a:solidFill>
                  <a:srgbClr val="202124"/>
                </a:solidFill>
                <a:highlight>
                  <a:srgbClr val="FFFFFF"/>
                </a:highlight>
                <a:latin typeface="Inter"/>
                <a:ea typeface="Inter"/>
                <a:cs typeface="Inter"/>
                <a:sym typeface="Inter"/>
              </a:rPr>
              <a:t>material</a:t>
            </a:r>
            <a:r>
              <a:rPr b="1" lang="en" sz="1500">
                <a:solidFill>
                  <a:srgbClr val="202124"/>
                </a:solidFill>
                <a:highlight>
                  <a:srgbClr val="FFFFFF"/>
                </a:highlight>
                <a:latin typeface="Inter"/>
                <a:ea typeface="Inter"/>
                <a:cs typeface="Inter"/>
                <a:sym typeface="Inter"/>
              </a:rPr>
              <a:t> </a:t>
            </a:r>
            <a:r>
              <a:rPr lang="en" sz="1500">
                <a:solidFill>
                  <a:srgbClr val="202124"/>
                </a:solidFill>
                <a:highlight>
                  <a:srgbClr val="FFFFFF"/>
                </a:highlight>
                <a:latin typeface="Inter"/>
                <a:ea typeface="Inter"/>
                <a:cs typeface="Inter"/>
                <a:sym typeface="Inter"/>
              </a:rPr>
              <a:t>would be different? </a:t>
            </a:r>
            <a:endParaRPr>
              <a:solidFill>
                <a:schemeClr val="dk1"/>
              </a:solidFill>
              <a:latin typeface="Inter"/>
              <a:ea typeface="Inter"/>
              <a:cs typeface="Inter"/>
              <a:sym typeface="Inter"/>
            </a:endParaRPr>
          </a:p>
          <a:p>
            <a:pPr indent="0" lvl="0" marL="914400" rtl="0" algn="l">
              <a:lnSpc>
                <a:spcPct val="105000"/>
              </a:lnSpc>
              <a:spcBef>
                <a:spcPts val="1200"/>
              </a:spcBef>
              <a:spcAft>
                <a:spcPts val="1200"/>
              </a:spcAft>
              <a:buSzPts val="1018"/>
              <a:buNone/>
            </a:pPr>
            <a:r>
              <a:t/>
            </a:r>
            <a:endParaRPr sz="1550">
              <a:solidFill>
                <a:schemeClr val="dk1"/>
              </a:solidFill>
              <a:latin typeface="Source Code Pro"/>
              <a:ea typeface="Source Code Pro"/>
              <a:cs typeface="Source Code Pro"/>
              <a:sym typeface="Source Code Pr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7"/>
          <p:cNvSpPr/>
          <p:nvPr/>
        </p:nvSpPr>
        <p:spPr>
          <a:xfrm>
            <a:off x="312450" y="2200525"/>
            <a:ext cx="4011600" cy="24975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8" name="Google Shape;248;p37"/>
          <p:cNvSpPr txBox="1"/>
          <p:nvPr/>
        </p:nvSpPr>
        <p:spPr>
          <a:xfrm>
            <a:off x="312450" y="2122300"/>
            <a:ext cx="40116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999999"/>
                </a:solidFill>
                <a:latin typeface="Inter"/>
                <a:ea typeface="Inter"/>
                <a:cs typeface="Inter"/>
                <a:sym typeface="Inter"/>
              </a:rPr>
              <a:t>“</a:t>
            </a:r>
            <a:r>
              <a:rPr i="1" lang="en" sz="1500">
                <a:solidFill>
                  <a:srgbClr val="999999"/>
                </a:solidFill>
                <a:latin typeface="Inter"/>
                <a:ea typeface="Inter"/>
                <a:cs typeface="Inter"/>
                <a:sym typeface="Inter"/>
              </a:rPr>
              <a:t>Probably not. I mostly use lecture slides, and sometimes go to PingPong to</a:t>
            </a:r>
            <a:r>
              <a:rPr b="1" i="1" lang="en" sz="1500">
                <a:solidFill>
                  <a:srgbClr val="999999"/>
                </a:solidFill>
                <a:latin typeface="Inter"/>
                <a:ea typeface="Inter"/>
                <a:cs typeface="Inter"/>
                <a:sym typeface="Inter"/>
              </a:rPr>
              <a:t> refresh my memory</a:t>
            </a:r>
            <a:r>
              <a:rPr i="1" lang="en" sz="1500">
                <a:solidFill>
                  <a:srgbClr val="999999"/>
                </a:solidFill>
                <a:latin typeface="Inter"/>
                <a:ea typeface="Inter"/>
                <a:cs typeface="Inter"/>
                <a:sym typeface="Inter"/>
              </a:rPr>
              <a:t>, not necessarily to understand concepts differently.</a:t>
            </a:r>
            <a:r>
              <a:rPr lang="en" sz="1500">
                <a:solidFill>
                  <a:srgbClr val="999999"/>
                </a:solidFill>
                <a:latin typeface="Inter"/>
                <a:ea typeface="Inter"/>
                <a:cs typeface="Inter"/>
                <a:sym typeface="Inter"/>
              </a:rPr>
              <a:t>”</a:t>
            </a:r>
            <a:endParaRPr sz="1500">
              <a:solidFill>
                <a:srgbClr val="999999"/>
              </a:solidFill>
              <a:latin typeface="Inter"/>
              <a:ea typeface="Inter"/>
              <a:cs typeface="Inter"/>
              <a:sym typeface="Inter"/>
            </a:endParaRPr>
          </a:p>
        </p:txBody>
      </p:sp>
      <p:sp>
        <p:nvSpPr>
          <p:cNvPr id="249" name="Google Shape;249;p37"/>
          <p:cNvSpPr txBox="1"/>
          <p:nvPr/>
        </p:nvSpPr>
        <p:spPr>
          <a:xfrm>
            <a:off x="367500" y="3815500"/>
            <a:ext cx="39030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999999"/>
                </a:solidFill>
                <a:latin typeface="Inter"/>
                <a:ea typeface="Inter"/>
                <a:cs typeface="Inter"/>
                <a:sym typeface="Inter"/>
              </a:rPr>
              <a:t>“</a:t>
            </a:r>
            <a:r>
              <a:rPr i="1" lang="en" sz="1500">
                <a:solidFill>
                  <a:srgbClr val="999999"/>
                </a:solidFill>
                <a:latin typeface="Inter"/>
                <a:ea typeface="Inter"/>
                <a:cs typeface="Inter"/>
                <a:sym typeface="Inter"/>
              </a:rPr>
              <a:t>I think it would be about the same, </a:t>
            </a:r>
            <a:r>
              <a:rPr b="1" i="1" lang="en" sz="1500">
                <a:solidFill>
                  <a:srgbClr val="999999"/>
                </a:solidFill>
                <a:latin typeface="Inter"/>
                <a:ea typeface="Inter"/>
                <a:cs typeface="Inter"/>
                <a:sym typeface="Inter"/>
              </a:rPr>
              <a:t>assignments would just take longer</a:t>
            </a:r>
            <a:r>
              <a:rPr i="1" lang="en" sz="1500">
                <a:solidFill>
                  <a:srgbClr val="999999"/>
                </a:solidFill>
                <a:latin typeface="Inter"/>
                <a:ea typeface="Inter"/>
                <a:cs typeface="Inter"/>
                <a:sym typeface="Inter"/>
              </a:rPr>
              <a:t> due to minor misunderstandings.</a:t>
            </a:r>
            <a:r>
              <a:rPr lang="en" sz="1500">
                <a:solidFill>
                  <a:srgbClr val="999999"/>
                </a:solidFill>
                <a:latin typeface="Inter"/>
                <a:ea typeface="Inter"/>
                <a:cs typeface="Inter"/>
                <a:sym typeface="Inter"/>
              </a:rPr>
              <a:t>”</a:t>
            </a:r>
            <a:endParaRPr sz="1500">
              <a:solidFill>
                <a:srgbClr val="999999"/>
              </a:solidFill>
              <a:latin typeface="Inter"/>
              <a:ea typeface="Inter"/>
              <a:cs typeface="Inter"/>
              <a:sym typeface="Inter"/>
            </a:endParaRPr>
          </a:p>
        </p:txBody>
      </p:sp>
      <p:sp>
        <p:nvSpPr>
          <p:cNvPr id="250" name="Google Shape;250;p37"/>
          <p:cNvSpPr txBox="1"/>
          <p:nvPr/>
        </p:nvSpPr>
        <p:spPr>
          <a:xfrm>
            <a:off x="4658450" y="2122300"/>
            <a:ext cx="36888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Inter"/>
                <a:ea typeface="Inter"/>
                <a:cs typeface="Inter"/>
                <a:sym typeface="Inter"/>
              </a:rPr>
              <a:t>“</a:t>
            </a:r>
            <a:r>
              <a:rPr i="1" lang="en" sz="1500">
                <a:latin typeface="Inter"/>
                <a:ea typeface="Inter"/>
                <a:cs typeface="Inter"/>
                <a:sym typeface="Inter"/>
              </a:rPr>
              <a:t>Yes, it would be worse because LLMs answer my questions in real time and I </a:t>
            </a:r>
            <a:r>
              <a:rPr b="1" i="1" lang="en" sz="1500">
                <a:latin typeface="Inter"/>
                <a:ea typeface="Inter"/>
                <a:cs typeface="Inter"/>
                <a:sym typeface="Inter"/>
              </a:rPr>
              <a:t>don't feel 'judged'</a:t>
            </a:r>
            <a:r>
              <a:rPr i="1" lang="en" sz="1500">
                <a:latin typeface="Inter"/>
                <a:ea typeface="Inter"/>
                <a:cs typeface="Inter"/>
                <a:sym typeface="Inter"/>
              </a:rPr>
              <a:t> by my lack of understanding of a topic.</a:t>
            </a:r>
            <a:r>
              <a:rPr lang="en" sz="1500">
                <a:latin typeface="Inter"/>
                <a:ea typeface="Inter"/>
                <a:cs typeface="Inter"/>
                <a:sym typeface="Inter"/>
              </a:rPr>
              <a:t>”</a:t>
            </a:r>
            <a:endParaRPr sz="1500">
              <a:latin typeface="Inter"/>
              <a:ea typeface="Inter"/>
              <a:cs typeface="Inter"/>
              <a:sym typeface="Inter"/>
            </a:endParaRPr>
          </a:p>
        </p:txBody>
      </p:sp>
      <p:sp>
        <p:nvSpPr>
          <p:cNvPr id="251" name="Google Shape;251;p37"/>
          <p:cNvSpPr txBox="1"/>
          <p:nvPr/>
        </p:nvSpPr>
        <p:spPr>
          <a:xfrm>
            <a:off x="4658450" y="3338200"/>
            <a:ext cx="4011600" cy="133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Inter"/>
                <a:ea typeface="Inter"/>
                <a:cs typeface="Inter"/>
                <a:sym typeface="Inter"/>
              </a:rPr>
              <a:t>“</a:t>
            </a:r>
            <a:r>
              <a:rPr i="1" lang="en" sz="1500">
                <a:latin typeface="Inter"/>
                <a:ea typeface="Inter"/>
                <a:cs typeface="Inter"/>
                <a:sym typeface="Inter"/>
              </a:rPr>
              <a:t>Yes I think I’d understand a bit less given that sometimes </a:t>
            </a:r>
            <a:r>
              <a:rPr b="1" i="1" lang="en" sz="1500">
                <a:latin typeface="Inter"/>
                <a:ea typeface="Inter"/>
                <a:cs typeface="Inter"/>
                <a:sym typeface="Inter"/>
              </a:rPr>
              <a:t>office hours conflicts</a:t>
            </a:r>
            <a:r>
              <a:rPr i="1" lang="en" sz="1500">
                <a:latin typeface="Inter"/>
                <a:ea typeface="Inter"/>
                <a:cs typeface="Inter"/>
                <a:sym typeface="Inter"/>
              </a:rPr>
              <a:t> with other things I can rely on Pingpong to explain concepts I’m confused about from lecture.</a:t>
            </a:r>
            <a:r>
              <a:rPr lang="en" sz="1500">
                <a:latin typeface="Inter"/>
                <a:ea typeface="Inter"/>
                <a:cs typeface="Inter"/>
                <a:sym typeface="Inter"/>
              </a:rPr>
              <a:t>”</a:t>
            </a:r>
            <a:endParaRPr sz="1500">
              <a:latin typeface="Inter"/>
              <a:ea typeface="Inter"/>
              <a:cs typeface="Inter"/>
              <a:sym typeface="Inter"/>
            </a:endParaRPr>
          </a:p>
        </p:txBody>
      </p:sp>
      <p:sp>
        <p:nvSpPr>
          <p:cNvPr id="252" name="Google Shape;252;p37"/>
          <p:cNvSpPr/>
          <p:nvPr/>
        </p:nvSpPr>
        <p:spPr>
          <a:xfrm>
            <a:off x="4658450" y="2200525"/>
            <a:ext cx="4011600" cy="2497500"/>
          </a:xfrm>
          <a:prstGeom prst="rect">
            <a:avLst/>
          </a:prstGeom>
          <a:noFill/>
          <a:ln cap="flat" cmpd="sng" w="19050">
            <a:solidFill>
              <a:srgbClr val="331F8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3" name="Google Shape;253;p37"/>
          <p:cNvSpPr txBox="1"/>
          <p:nvPr/>
        </p:nvSpPr>
        <p:spPr>
          <a:xfrm>
            <a:off x="312450" y="1689350"/>
            <a:ext cx="1236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999999"/>
                </a:solidFill>
                <a:latin typeface="Inter"/>
                <a:ea typeface="Inter"/>
                <a:cs typeface="Inter"/>
                <a:sym typeface="Inter"/>
              </a:rPr>
              <a:t>No: 49%</a:t>
            </a:r>
            <a:r>
              <a:rPr lang="en" sz="1800">
                <a:solidFill>
                  <a:srgbClr val="999999"/>
                </a:solidFill>
                <a:latin typeface="Inter"/>
                <a:ea typeface="Inter"/>
                <a:cs typeface="Inter"/>
                <a:sym typeface="Inter"/>
              </a:rPr>
              <a:t> </a:t>
            </a:r>
            <a:endParaRPr sz="1800">
              <a:solidFill>
                <a:srgbClr val="999999"/>
              </a:solidFill>
              <a:latin typeface="Inter"/>
              <a:ea typeface="Inter"/>
              <a:cs typeface="Inter"/>
              <a:sym typeface="Inter"/>
            </a:endParaRPr>
          </a:p>
        </p:txBody>
      </p:sp>
      <p:sp>
        <p:nvSpPr>
          <p:cNvPr id="254" name="Google Shape;254;p37"/>
          <p:cNvSpPr txBox="1"/>
          <p:nvPr/>
        </p:nvSpPr>
        <p:spPr>
          <a:xfrm>
            <a:off x="4658450" y="1718338"/>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Inter"/>
                <a:ea typeface="Inter"/>
                <a:cs typeface="Inter"/>
                <a:sym typeface="Inter"/>
              </a:rPr>
              <a:t>Yes: 51%</a:t>
            </a:r>
            <a:endParaRPr>
              <a:latin typeface="Inter"/>
              <a:ea typeface="Inter"/>
              <a:cs typeface="Inter"/>
              <a:sym typeface="Inter"/>
            </a:endParaRPr>
          </a:p>
        </p:txBody>
      </p:sp>
      <p:sp>
        <p:nvSpPr>
          <p:cNvPr id="255" name="Google Shape;255;p37"/>
          <p:cNvSpPr txBox="1"/>
          <p:nvPr/>
        </p:nvSpPr>
        <p:spPr>
          <a:xfrm>
            <a:off x="313200" y="3169000"/>
            <a:ext cx="4011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999999"/>
                </a:solidFill>
                <a:latin typeface="Inter"/>
                <a:ea typeface="Inter"/>
                <a:cs typeface="Inter"/>
                <a:sym typeface="Inter"/>
              </a:rPr>
              <a:t>“</a:t>
            </a:r>
            <a:r>
              <a:rPr i="1" lang="en" sz="1500">
                <a:solidFill>
                  <a:srgbClr val="999999"/>
                </a:solidFill>
                <a:latin typeface="Inter"/>
                <a:ea typeface="Inter"/>
                <a:cs typeface="Inter"/>
                <a:sym typeface="Inter"/>
              </a:rPr>
              <a:t>No, because the other resources </a:t>
            </a:r>
            <a:r>
              <a:rPr b="1" i="1" lang="en" sz="1500">
                <a:solidFill>
                  <a:srgbClr val="999999"/>
                </a:solidFill>
                <a:latin typeface="Inter"/>
                <a:ea typeface="Inter"/>
                <a:cs typeface="Inter"/>
                <a:sym typeface="Inter"/>
              </a:rPr>
              <a:t>adequately cover </a:t>
            </a:r>
            <a:r>
              <a:rPr i="1" lang="en" sz="1500">
                <a:solidFill>
                  <a:srgbClr val="999999"/>
                </a:solidFill>
                <a:latin typeface="Inter"/>
                <a:ea typeface="Inter"/>
                <a:cs typeface="Inter"/>
                <a:sym typeface="Inter"/>
              </a:rPr>
              <a:t>the material.</a:t>
            </a:r>
            <a:r>
              <a:rPr lang="en" sz="1500">
                <a:solidFill>
                  <a:srgbClr val="999999"/>
                </a:solidFill>
                <a:latin typeface="Inter"/>
                <a:ea typeface="Inter"/>
                <a:cs typeface="Inter"/>
                <a:sym typeface="Inter"/>
              </a:rPr>
              <a:t>”</a:t>
            </a:r>
            <a:endParaRPr sz="1500">
              <a:solidFill>
                <a:srgbClr val="999999"/>
              </a:solidFill>
              <a:latin typeface="Inter"/>
              <a:ea typeface="Inter"/>
              <a:cs typeface="Inter"/>
              <a:sym typeface="Inter"/>
            </a:endParaRPr>
          </a:p>
        </p:txBody>
      </p:sp>
      <p:sp>
        <p:nvSpPr>
          <p:cNvPr id="256" name="Google Shape;256;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Inter"/>
                <a:ea typeface="Inter"/>
                <a:cs typeface="Inter"/>
                <a:sym typeface="Inter"/>
              </a:rPr>
              <a:t>Half </a:t>
            </a:r>
            <a:r>
              <a:rPr i="1" lang="en">
                <a:latin typeface="Inter"/>
                <a:ea typeface="Inter"/>
                <a:cs typeface="Inter"/>
                <a:sym typeface="Inter"/>
              </a:rPr>
              <a:t>think </a:t>
            </a:r>
            <a:r>
              <a:rPr lang="en">
                <a:latin typeface="Inter"/>
                <a:ea typeface="Inter"/>
                <a:cs typeface="Inter"/>
                <a:sym typeface="Inter"/>
              </a:rPr>
              <a:t>their understanding is different</a:t>
            </a:r>
            <a:endParaRPr>
              <a:latin typeface="Inter"/>
              <a:ea typeface="Inter"/>
              <a:cs typeface="Inter"/>
              <a:sym typeface="Inter"/>
            </a:endParaRPr>
          </a:p>
        </p:txBody>
      </p:sp>
      <p:sp>
        <p:nvSpPr>
          <p:cNvPr id="257" name="Google Shape;257;p37"/>
          <p:cNvSpPr txBox="1"/>
          <p:nvPr>
            <p:ph idx="1" type="body"/>
          </p:nvPr>
        </p:nvSpPr>
        <p:spPr>
          <a:xfrm>
            <a:off x="311700" y="1067175"/>
            <a:ext cx="8520600" cy="5727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500" u="sng">
                <a:solidFill>
                  <a:schemeClr val="dk1"/>
                </a:solidFill>
                <a:latin typeface="Inter"/>
                <a:ea typeface="Inter"/>
                <a:cs typeface="Inter"/>
                <a:sym typeface="Inter"/>
              </a:rPr>
              <a:t>Question</a:t>
            </a:r>
            <a:r>
              <a:rPr lang="en" sz="1500">
                <a:solidFill>
                  <a:schemeClr val="dk1"/>
                </a:solidFill>
                <a:latin typeface="Inter"/>
                <a:ea typeface="Inter"/>
                <a:cs typeface="Inter"/>
                <a:sym typeface="Inter"/>
              </a:rPr>
              <a:t>: </a:t>
            </a:r>
            <a:r>
              <a:rPr lang="en" sz="1500">
                <a:solidFill>
                  <a:srgbClr val="202124"/>
                </a:solidFill>
                <a:highlight>
                  <a:srgbClr val="FFFFFF"/>
                </a:highlight>
                <a:latin typeface="Inter"/>
                <a:ea typeface="Inter"/>
                <a:cs typeface="Inter"/>
                <a:sym typeface="Inter"/>
              </a:rPr>
              <a:t>Without LLMs, do you think your understanding of the STAT 131A material</a:t>
            </a:r>
            <a:r>
              <a:rPr b="1" lang="en" sz="1500">
                <a:solidFill>
                  <a:srgbClr val="202124"/>
                </a:solidFill>
                <a:highlight>
                  <a:srgbClr val="FFFFFF"/>
                </a:highlight>
                <a:latin typeface="Inter"/>
                <a:ea typeface="Inter"/>
                <a:cs typeface="Inter"/>
                <a:sym typeface="Inter"/>
              </a:rPr>
              <a:t> </a:t>
            </a:r>
            <a:r>
              <a:rPr lang="en" sz="1500">
                <a:solidFill>
                  <a:srgbClr val="202124"/>
                </a:solidFill>
                <a:highlight>
                  <a:srgbClr val="FFFFFF"/>
                </a:highlight>
                <a:latin typeface="Inter"/>
                <a:ea typeface="Inter"/>
                <a:cs typeface="Inter"/>
                <a:sym typeface="Inter"/>
              </a:rPr>
              <a:t>would be different? </a:t>
            </a:r>
            <a:endParaRPr>
              <a:solidFill>
                <a:schemeClr val="dk1"/>
              </a:solidFill>
              <a:latin typeface="Inter"/>
              <a:ea typeface="Inter"/>
              <a:cs typeface="Inter"/>
              <a:sym typeface="Inter"/>
            </a:endParaRPr>
          </a:p>
          <a:p>
            <a:pPr indent="0" lvl="0" marL="914400" rtl="0" algn="l">
              <a:lnSpc>
                <a:spcPct val="105000"/>
              </a:lnSpc>
              <a:spcBef>
                <a:spcPts val="1200"/>
              </a:spcBef>
              <a:spcAft>
                <a:spcPts val="1200"/>
              </a:spcAft>
              <a:buSzPts val="1018"/>
              <a:buNone/>
            </a:pPr>
            <a:r>
              <a:t/>
            </a:r>
            <a:endParaRPr sz="1550">
              <a:solidFill>
                <a:schemeClr val="dk1"/>
              </a:solidFill>
              <a:latin typeface="Source Code Pro"/>
              <a:ea typeface="Source Code Pro"/>
              <a:cs typeface="Source Code Pro"/>
              <a:sym typeface="Source Code Pr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8"/>
          <p:cNvSpPr txBox="1"/>
          <p:nvPr>
            <p:ph idx="1" type="body"/>
          </p:nvPr>
        </p:nvSpPr>
        <p:spPr>
          <a:xfrm>
            <a:off x="312450" y="1071150"/>
            <a:ext cx="5974800" cy="5727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500" u="sng">
                <a:solidFill>
                  <a:schemeClr val="dk1"/>
                </a:solidFill>
                <a:latin typeface="Inter"/>
                <a:ea typeface="Inter"/>
                <a:cs typeface="Inter"/>
                <a:sym typeface="Inter"/>
              </a:rPr>
              <a:t>Question</a:t>
            </a:r>
            <a:r>
              <a:rPr lang="en" sz="1500">
                <a:solidFill>
                  <a:schemeClr val="dk1"/>
                </a:solidFill>
                <a:latin typeface="Inter"/>
                <a:ea typeface="Inter"/>
                <a:cs typeface="Inter"/>
                <a:sym typeface="Inter"/>
              </a:rPr>
              <a:t>: </a:t>
            </a:r>
            <a:r>
              <a:rPr lang="en" sz="1500">
                <a:solidFill>
                  <a:srgbClr val="202124"/>
                </a:solidFill>
                <a:highlight>
                  <a:srgbClr val="FFFFFF"/>
                </a:highlight>
                <a:latin typeface="Inter"/>
                <a:ea typeface="Inter"/>
                <a:cs typeface="Inter"/>
                <a:sym typeface="Inter"/>
              </a:rPr>
              <a:t>Without LLMs, do think your homework and exam grades in STAT 131A would be different?</a:t>
            </a:r>
            <a:endParaRPr sz="2100">
              <a:solidFill>
                <a:schemeClr val="dk1"/>
              </a:solidFill>
              <a:latin typeface="Inter"/>
              <a:ea typeface="Inter"/>
              <a:cs typeface="Inter"/>
              <a:sym typeface="Inter"/>
            </a:endParaRPr>
          </a:p>
          <a:p>
            <a:pPr indent="0" lvl="0" marL="914400" rtl="0" algn="l">
              <a:lnSpc>
                <a:spcPct val="105000"/>
              </a:lnSpc>
              <a:spcBef>
                <a:spcPts val="1200"/>
              </a:spcBef>
              <a:spcAft>
                <a:spcPts val="1200"/>
              </a:spcAft>
              <a:buSzPts val="1018"/>
              <a:buNone/>
            </a:pPr>
            <a:r>
              <a:t/>
            </a:r>
            <a:endParaRPr sz="1550">
              <a:solidFill>
                <a:schemeClr val="dk1"/>
              </a:solidFill>
              <a:latin typeface="Source Code Pro"/>
              <a:ea typeface="Source Code Pro"/>
              <a:cs typeface="Source Code Pro"/>
              <a:sym typeface="Source Code Pro"/>
            </a:endParaRPr>
          </a:p>
        </p:txBody>
      </p:sp>
      <p:sp>
        <p:nvSpPr>
          <p:cNvPr id="263" name="Google Shape;263;p38"/>
          <p:cNvSpPr txBox="1"/>
          <p:nvPr/>
        </p:nvSpPr>
        <p:spPr>
          <a:xfrm>
            <a:off x="313200" y="456250"/>
            <a:ext cx="85176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solidFill>
                  <a:schemeClr val="dk1"/>
                </a:solidFill>
                <a:latin typeface="Inter"/>
                <a:ea typeface="Inter"/>
                <a:cs typeface="Inter"/>
                <a:sym typeface="Inter"/>
              </a:rPr>
              <a:t>Do LLMs change grades?</a:t>
            </a:r>
            <a:endParaRPr sz="2500">
              <a:solidFill>
                <a:schemeClr val="dk1"/>
              </a:solidFill>
              <a:latin typeface="Inter"/>
              <a:ea typeface="Inter"/>
              <a:cs typeface="Inter"/>
              <a:sym typeface="Inter"/>
            </a:endParaRPr>
          </a:p>
        </p:txBody>
      </p:sp>
      <p:sp>
        <p:nvSpPr>
          <p:cNvPr id="264" name="Google Shape;264;p38"/>
          <p:cNvSpPr txBox="1"/>
          <p:nvPr/>
        </p:nvSpPr>
        <p:spPr>
          <a:xfrm>
            <a:off x="9144000" y="31322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9"/>
          <p:cNvSpPr txBox="1"/>
          <p:nvPr>
            <p:ph idx="1" type="body"/>
          </p:nvPr>
        </p:nvSpPr>
        <p:spPr>
          <a:xfrm>
            <a:off x="312450" y="1071150"/>
            <a:ext cx="5974800" cy="5727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500" u="sng">
                <a:solidFill>
                  <a:schemeClr val="dk1"/>
                </a:solidFill>
                <a:latin typeface="Inter"/>
                <a:ea typeface="Inter"/>
                <a:cs typeface="Inter"/>
                <a:sym typeface="Inter"/>
              </a:rPr>
              <a:t>Question</a:t>
            </a:r>
            <a:r>
              <a:rPr lang="en" sz="1500">
                <a:solidFill>
                  <a:schemeClr val="dk1"/>
                </a:solidFill>
                <a:latin typeface="Inter"/>
                <a:ea typeface="Inter"/>
                <a:cs typeface="Inter"/>
                <a:sym typeface="Inter"/>
              </a:rPr>
              <a:t>: </a:t>
            </a:r>
            <a:r>
              <a:rPr lang="en" sz="1500">
                <a:solidFill>
                  <a:srgbClr val="202124"/>
                </a:solidFill>
                <a:highlight>
                  <a:srgbClr val="FFFFFF"/>
                </a:highlight>
                <a:latin typeface="Inter"/>
                <a:ea typeface="Inter"/>
                <a:cs typeface="Inter"/>
                <a:sym typeface="Inter"/>
              </a:rPr>
              <a:t>Without LLMs, do think your homework and exam grades in STAT 131A would be different?</a:t>
            </a:r>
            <a:endParaRPr sz="2100">
              <a:solidFill>
                <a:schemeClr val="dk1"/>
              </a:solidFill>
              <a:latin typeface="Inter"/>
              <a:ea typeface="Inter"/>
              <a:cs typeface="Inter"/>
              <a:sym typeface="Inter"/>
            </a:endParaRPr>
          </a:p>
          <a:p>
            <a:pPr indent="0" lvl="0" marL="914400" rtl="0" algn="l">
              <a:lnSpc>
                <a:spcPct val="105000"/>
              </a:lnSpc>
              <a:spcBef>
                <a:spcPts val="1200"/>
              </a:spcBef>
              <a:spcAft>
                <a:spcPts val="1200"/>
              </a:spcAft>
              <a:buSzPts val="1018"/>
              <a:buNone/>
            </a:pPr>
            <a:r>
              <a:t/>
            </a:r>
            <a:endParaRPr sz="1550">
              <a:solidFill>
                <a:schemeClr val="dk1"/>
              </a:solidFill>
              <a:latin typeface="Source Code Pro"/>
              <a:ea typeface="Source Code Pro"/>
              <a:cs typeface="Source Code Pro"/>
              <a:sym typeface="Source Code Pro"/>
            </a:endParaRPr>
          </a:p>
        </p:txBody>
      </p:sp>
      <p:sp>
        <p:nvSpPr>
          <p:cNvPr id="270" name="Google Shape;270;p39"/>
          <p:cNvSpPr txBox="1"/>
          <p:nvPr/>
        </p:nvSpPr>
        <p:spPr>
          <a:xfrm>
            <a:off x="312450" y="1689350"/>
            <a:ext cx="1649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Inter"/>
                <a:ea typeface="Inter"/>
                <a:cs typeface="Inter"/>
                <a:sym typeface="Inter"/>
              </a:rPr>
              <a:t>Same: 35%</a:t>
            </a:r>
            <a:r>
              <a:rPr lang="en" sz="1800">
                <a:solidFill>
                  <a:schemeClr val="dk1"/>
                </a:solidFill>
                <a:latin typeface="Inter"/>
                <a:ea typeface="Inter"/>
                <a:cs typeface="Inter"/>
                <a:sym typeface="Inter"/>
              </a:rPr>
              <a:t> </a:t>
            </a:r>
            <a:endParaRPr sz="1800">
              <a:solidFill>
                <a:schemeClr val="dk1"/>
              </a:solidFill>
              <a:latin typeface="Inter"/>
              <a:ea typeface="Inter"/>
              <a:cs typeface="Inter"/>
              <a:sym typeface="Inter"/>
            </a:endParaRPr>
          </a:p>
        </p:txBody>
      </p:sp>
      <p:sp>
        <p:nvSpPr>
          <p:cNvPr id="271" name="Google Shape;271;p39"/>
          <p:cNvSpPr txBox="1"/>
          <p:nvPr/>
        </p:nvSpPr>
        <p:spPr>
          <a:xfrm>
            <a:off x="4342200" y="1689350"/>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Inter"/>
                <a:ea typeface="Inter"/>
                <a:cs typeface="Inter"/>
                <a:sym typeface="Inter"/>
              </a:rPr>
              <a:t>Different: 58%</a:t>
            </a:r>
            <a:endParaRPr>
              <a:solidFill>
                <a:schemeClr val="dk1"/>
              </a:solidFill>
              <a:latin typeface="Inter"/>
              <a:ea typeface="Inter"/>
              <a:cs typeface="Inter"/>
              <a:sym typeface="Inter"/>
            </a:endParaRPr>
          </a:p>
        </p:txBody>
      </p:sp>
      <p:sp>
        <p:nvSpPr>
          <p:cNvPr id="272" name="Google Shape;272;p39"/>
          <p:cNvSpPr txBox="1"/>
          <p:nvPr/>
        </p:nvSpPr>
        <p:spPr>
          <a:xfrm>
            <a:off x="313200" y="456250"/>
            <a:ext cx="85176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solidFill>
                  <a:schemeClr val="dk1"/>
                </a:solidFill>
                <a:latin typeface="Inter"/>
                <a:ea typeface="Inter"/>
                <a:cs typeface="Inter"/>
                <a:sym typeface="Inter"/>
              </a:rPr>
              <a:t>58% of grades </a:t>
            </a:r>
            <a:r>
              <a:rPr i="1" lang="en" sz="2500">
                <a:solidFill>
                  <a:schemeClr val="dk1"/>
                </a:solidFill>
                <a:latin typeface="Inter"/>
                <a:ea typeface="Inter"/>
                <a:cs typeface="Inter"/>
                <a:sym typeface="Inter"/>
              </a:rPr>
              <a:t>might</a:t>
            </a:r>
            <a:r>
              <a:rPr lang="en" sz="2500">
                <a:solidFill>
                  <a:schemeClr val="dk1"/>
                </a:solidFill>
                <a:latin typeface="Inter"/>
                <a:ea typeface="Inter"/>
                <a:cs typeface="Inter"/>
                <a:sym typeface="Inter"/>
              </a:rPr>
              <a:t> be affected </a:t>
            </a:r>
            <a:endParaRPr sz="2500">
              <a:solidFill>
                <a:schemeClr val="dk1"/>
              </a:solidFill>
              <a:latin typeface="Inter"/>
              <a:ea typeface="Inter"/>
              <a:cs typeface="Inter"/>
              <a:sym typeface="Inter"/>
            </a:endParaRPr>
          </a:p>
        </p:txBody>
      </p:sp>
      <p:sp>
        <p:nvSpPr>
          <p:cNvPr id="273" name="Google Shape;273;p39"/>
          <p:cNvSpPr txBox="1"/>
          <p:nvPr/>
        </p:nvSpPr>
        <p:spPr>
          <a:xfrm>
            <a:off x="9144000" y="31322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274" name="Google Shape;274;p39"/>
          <p:cNvPicPr preferRelativeResize="0"/>
          <p:nvPr/>
        </p:nvPicPr>
        <p:blipFill>
          <a:blip r:embed="rId3">
            <a:alphaModFix/>
          </a:blip>
          <a:stretch>
            <a:fillRect/>
          </a:stretch>
        </p:blipFill>
        <p:spPr>
          <a:xfrm>
            <a:off x="6287250" y="0"/>
            <a:ext cx="2856750" cy="193776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0"/>
          <p:cNvSpPr txBox="1"/>
          <p:nvPr>
            <p:ph idx="1" type="body"/>
          </p:nvPr>
        </p:nvSpPr>
        <p:spPr>
          <a:xfrm>
            <a:off x="312450" y="1071150"/>
            <a:ext cx="5974800" cy="5727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500" u="sng">
                <a:solidFill>
                  <a:schemeClr val="dk1"/>
                </a:solidFill>
                <a:latin typeface="Inter"/>
                <a:ea typeface="Inter"/>
                <a:cs typeface="Inter"/>
                <a:sym typeface="Inter"/>
              </a:rPr>
              <a:t>Question</a:t>
            </a:r>
            <a:r>
              <a:rPr lang="en" sz="1500">
                <a:solidFill>
                  <a:schemeClr val="dk1"/>
                </a:solidFill>
                <a:latin typeface="Inter"/>
                <a:ea typeface="Inter"/>
                <a:cs typeface="Inter"/>
                <a:sym typeface="Inter"/>
              </a:rPr>
              <a:t>: </a:t>
            </a:r>
            <a:r>
              <a:rPr lang="en" sz="1500">
                <a:solidFill>
                  <a:srgbClr val="202124"/>
                </a:solidFill>
                <a:highlight>
                  <a:srgbClr val="FFFFFF"/>
                </a:highlight>
                <a:latin typeface="Inter"/>
                <a:ea typeface="Inter"/>
                <a:cs typeface="Inter"/>
                <a:sym typeface="Inter"/>
              </a:rPr>
              <a:t>Without LLMs, do think your homework and exam grades in STAT 131A would be different?</a:t>
            </a:r>
            <a:endParaRPr sz="2100">
              <a:solidFill>
                <a:schemeClr val="dk1"/>
              </a:solidFill>
              <a:latin typeface="Inter"/>
              <a:ea typeface="Inter"/>
              <a:cs typeface="Inter"/>
              <a:sym typeface="Inter"/>
            </a:endParaRPr>
          </a:p>
          <a:p>
            <a:pPr indent="0" lvl="0" marL="914400" rtl="0" algn="l">
              <a:lnSpc>
                <a:spcPct val="105000"/>
              </a:lnSpc>
              <a:spcBef>
                <a:spcPts val="1200"/>
              </a:spcBef>
              <a:spcAft>
                <a:spcPts val="1200"/>
              </a:spcAft>
              <a:buSzPts val="1018"/>
              <a:buNone/>
            </a:pPr>
            <a:r>
              <a:t/>
            </a:r>
            <a:endParaRPr sz="1550">
              <a:solidFill>
                <a:schemeClr val="dk1"/>
              </a:solidFill>
              <a:latin typeface="Source Code Pro"/>
              <a:ea typeface="Source Code Pro"/>
              <a:cs typeface="Source Code Pro"/>
              <a:sym typeface="Source Code Pro"/>
            </a:endParaRPr>
          </a:p>
        </p:txBody>
      </p:sp>
      <p:sp>
        <p:nvSpPr>
          <p:cNvPr id="280" name="Google Shape;280;p40"/>
          <p:cNvSpPr/>
          <p:nvPr/>
        </p:nvSpPr>
        <p:spPr>
          <a:xfrm>
            <a:off x="402600" y="2143550"/>
            <a:ext cx="3939600" cy="2615100"/>
          </a:xfrm>
          <a:prstGeom prst="rect">
            <a:avLst/>
          </a:prstGeom>
          <a:noFill/>
          <a:ln cap="flat" cmpd="sng" w="19050">
            <a:solidFill>
              <a:srgbClr val="FF7F5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1" name="Google Shape;281;p40"/>
          <p:cNvSpPr txBox="1"/>
          <p:nvPr/>
        </p:nvSpPr>
        <p:spPr>
          <a:xfrm>
            <a:off x="312450" y="1689350"/>
            <a:ext cx="1649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Inter"/>
                <a:ea typeface="Inter"/>
                <a:cs typeface="Inter"/>
                <a:sym typeface="Inter"/>
              </a:rPr>
              <a:t>Same: 35%</a:t>
            </a:r>
            <a:r>
              <a:rPr lang="en" sz="1800">
                <a:solidFill>
                  <a:schemeClr val="dk1"/>
                </a:solidFill>
                <a:latin typeface="Inter"/>
                <a:ea typeface="Inter"/>
                <a:cs typeface="Inter"/>
                <a:sym typeface="Inter"/>
              </a:rPr>
              <a:t> </a:t>
            </a:r>
            <a:endParaRPr sz="1800">
              <a:solidFill>
                <a:schemeClr val="dk1"/>
              </a:solidFill>
              <a:latin typeface="Inter"/>
              <a:ea typeface="Inter"/>
              <a:cs typeface="Inter"/>
              <a:sym typeface="Inter"/>
            </a:endParaRPr>
          </a:p>
        </p:txBody>
      </p:sp>
      <p:sp>
        <p:nvSpPr>
          <p:cNvPr id="282" name="Google Shape;282;p40"/>
          <p:cNvSpPr txBox="1"/>
          <p:nvPr/>
        </p:nvSpPr>
        <p:spPr>
          <a:xfrm>
            <a:off x="4342200" y="1689350"/>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999999"/>
                </a:solidFill>
                <a:latin typeface="Inter"/>
                <a:ea typeface="Inter"/>
                <a:cs typeface="Inter"/>
                <a:sym typeface="Inter"/>
              </a:rPr>
              <a:t>Different: 58%</a:t>
            </a:r>
            <a:endParaRPr>
              <a:solidFill>
                <a:srgbClr val="999999"/>
              </a:solidFill>
              <a:latin typeface="Inter"/>
              <a:ea typeface="Inter"/>
              <a:cs typeface="Inter"/>
              <a:sym typeface="Inter"/>
            </a:endParaRPr>
          </a:p>
        </p:txBody>
      </p:sp>
      <p:sp>
        <p:nvSpPr>
          <p:cNvPr id="283" name="Google Shape;283;p40"/>
          <p:cNvSpPr txBox="1"/>
          <p:nvPr/>
        </p:nvSpPr>
        <p:spPr>
          <a:xfrm>
            <a:off x="313200" y="456250"/>
            <a:ext cx="85176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solidFill>
                  <a:schemeClr val="dk1"/>
                </a:solidFill>
                <a:latin typeface="Inter"/>
                <a:ea typeface="Inter"/>
                <a:cs typeface="Inter"/>
                <a:sym typeface="Inter"/>
              </a:rPr>
              <a:t>58% of grades </a:t>
            </a:r>
            <a:r>
              <a:rPr i="1" lang="en" sz="2500">
                <a:solidFill>
                  <a:schemeClr val="dk1"/>
                </a:solidFill>
                <a:latin typeface="Inter"/>
                <a:ea typeface="Inter"/>
                <a:cs typeface="Inter"/>
                <a:sym typeface="Inter"/>
              </a:rPr>
              <a:t>might</a:t>
            </a:r>
            <a:r>
              <a:rPr lang="en" sz="2500">
                <a:solidFill>
                  <a:schemeClr val="dk1"/>
                </a:solidFill>
                <a:latin typeface="Inter"/>
                <a:ea typeface="Inter"/>
                <a:cs typeface="Inter"/>
                <a:sym typeface="Inter"/>
              </a:rPr>
              <a:t> be affected </a:t>
            </a:r>
            <a:endParaRPr sz="2500">
              <a:solidFill>
                <a:schemeClr val="dk1"/>
              </a:solidFill>
              <a:latin typeface="Inter"/>
              <a:ea typeface="Inter"/>
              <a:cs typeface="Inter"/>
              <a:sym typeface="Inter"/>
            </a:endParaRPr>
          </a:p>
        </p:txBody>
      </p:sp>
      <p:sp>
        <p:nvSpPr>
          <p:cNvPr id="284" name="Google Shape;284;p40"/>
          <p:cNvSpPr txBox="1"/>
          <p:nvPr/>
        </p:nvSpPr>
        <p:spPr>
          <a:xfrm>
            <a:off x="474900" y="2251825"/>
            <a:ext cx="40116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Inter"/>
                <a:ea typeface="Inter"/>
                <a:cs typeface="Inter"/>
                <a:sym typeface="Inter"/>
              </a:rPr>
              <a:t>“</a:t>
            </a:r>
            <a:r>
              <a:rPr i="1" lang="en">
                <a:solidFill>
                  <a:schemeClr val="dk1"/>
                </a:solidFill>
                <a:latin typeface="Inter"/>
                <a:ea typeface="Inter"/>
                <a:cs typeface="Inter"/>
                <a:sym typeface="Inter"/>
              </a:rPr>
              <a:t>I tend to use PingPong and office hours in tandem; if I can't receive enough help for homework then </a:t>
            </a:r>
            <a:r>
              <a:rPr b="1" i="1" lang="en">
                <a:solidFill>
                  <a:schemeClr val="dk1"/>
                </a:solidFill>
                <a:latin typeface="Inter"/>
                <a:ea typeface="Inter"/>
                <a:cs typeface="Inter"/>
                <a:sym typeface="Inter"/>
              </a:rPr>
              <a:t>I would go to office hours instead.</a:t>
            </a:r>
            <a:r>
              <a:rPr lang="en">
                <a:solidFill>
                  <a:schemeClr val="dk1"/>
                </a:solidFill>
                <a:latin typeface="Inter"/>
                <a:ea typeface="Inter"/>
                <a:cs typeface="Inter"/>
                <a:sym typeface="Inter"/>
              </a:rPr>
              <a:t>”</a:t>
            </a:r>
            <a:endParaRPr>
              <a:solidFill>
                <a:schemeClr val="dk1"/>
              </a:solidFill>
              <a:latin typeface="Inter"/>
              <a:ea typeface="Inter"/>
              <a:cs typeface="Inter"/>
              <a:sym typeface="Inter"/>
            </a:endParaRPr>
          </a:p>
        </p:txBody>
      </p:sp>
      <p:sp>
        <p:nvSpPr>
          <p:cNvPr id="285" name="Google Shape;285;p40"/>
          <p:cNvSpPr txBox="1"/>
          <p:nvPr/>
        </p:nvSpPr>
        <p:spPr>
          <a:xfrm>
            <a:off x="9144000" y="31322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86" name="Google Shape;286;p40"/>
          <p:cNvSpPr txBox="1"/>
          <p:nvPr/>
        </p:nvSpPr>
        <p:spPr>
          <a:xfrm>
            <a:off x="474900" y="3399325"/>
            <a:ext cx="37950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Inter"/>
                <a:ea typeface="Inter"/>
                <a:cs typeface="Inter"/>
                <a:sym typeface="Inter"/>
              </a:rPr>
              <a:t>“</a:t>
            </a:r>
            <a:r>
              <a:rPr i="1" lang="en">
                <a:solidFill>
                  <a:schemeClr val="dk1"/>
                </a:solidFill>
                <a:latin typeface="Inter"/>
                <a:ea typeface="Inter"/>
                <a:cs typeface="Inter"/>
                <a:sym typeface="Inter"/>
              </a:rPr>
              <a:t>Probably not, BUT it really helps me </a:t>
            </a:r>
            <a:r>
              <a:rPr b="1" i="1" lang="en">
                <a:solidFill>
                  <a:schemeClr val="dk1"/>
                </a:solidFill>
                <a:latin typeface="Inter"/>
                <a:ea typeface="Inter"/>
                <a:cs typeface="Inter"/>
                <a:sym typeface="Inter"/>
              </a:rPr>
              <a:t>cut down on the time</a:t>
            </a:r>
            <a:r>
              <a:rPr i="1" lang="en">
                <a:solidFill>
                  <a:schemeClr val="dk1"/>
                </a:solidFill>
                <a:latin typeface="Inter"/>
                <a:ea typeface="Inter"/>
                <a:cs typeface="Inter"/>
                <a:sym typeface="Inter"/>
              </a:rPr>
              <a:t> I spend on homework because I can get quick feedback on why my code is wrong without spending hours </a:t>
            </a:r>
            <a:r>
              <a:rPr b="1" i="1" lang="en">
                <a:solidFill>
                  <a:schemeClr val="dk1"/>
                </a:solidFill>
                <a:latin typeface="Inter"/>
                <a:ea typeface="Inter"/>
                <a:cs typeface="Inter"/>
                <a:sym typeface="Inter"/>
              </a:rPr>
              <a:t>debugging</a:t>
            </a:r>
            <a:r>
              <a:rPr i="1" lang="en">
                <a:solidFill>
                  <a:schemeClr val="dk1"/>
                </a:solidFill>
                <a:latin typeface="Inter"/>
                <a:ea typeface="Inter"/>
                <a:cs typeface="Inter"/>
                <a:sym typeface="Inter"/>
              </a:rPr>
              <a:t>.</a:t>
            </a:r>
            <a:r>
              <a:rPr lang="en">
                <a:solidFill>
                  <a:schemeClr val="dk1"/>
                </a:solidFill>
                <a:latin typeface="Inter"/>
                <a:ea typeface="Inter"/>
                <a:cs typeface="Inter"/>
                <a:sym typeface="Inter"/>
              </a:rPr>
              <a:t>”</a:t>
            </a:r>
            <a:endParaRPr>
              <a:solidFill>
                <a:schemeClr val="dk1"/>
              </a:solidFill>
              <a:latin typeface="Inter"/>
              <a:ea typeface="Inter"/>
              <a:cs typeface="Inter"/>
              <a:sym typeface="Inter"/>
            </a:endParaRPr>
          </a:p>
        </p:txBody>
      </p:sp>
      <p:pic>
        <p:nvPicPr>
          <p:cNvPr id="287" name="Google Shape;287;p40"/>
          <p:cNvPicPr preferRelativeResize="0"/>
          <p:nvPr/>
        </p:nvPicPr>
        <p:blipFill>
          <a:blip r:embed="rId3">
            <a:alphaModFix/>
          </a:blip>
          <a:stretch>
            <a:fillRect/>
          </a:stretch>
        </p:blipFill>
        <p:spPr>
          <a:xfrm>
            <a:off x="6287250" y="0"/>
            <a:ext cx="2856750" cy="1937763"/>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1"/>
          <p:cNvSpPr txBox="1"/>
          <p:nvPr>
            <p:ph idx="1" type="body"/>
          </p:nvPr>
        </p:nvSpPr>
        <p:spPr>
          <a:xfrm>
            <a:off x="312450" y="1071150"/>
            <a:ext cx="5974800" cy="5727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500" u="sng">
                <a:solidFill>
                  <a:schemeClr val="dk1"/>
                </a:solidFill>
                <a:latin typeface="Inter"/>
                <a:ea typeface="Inter"/>
                <a:cs typeface="Inter"/>
                <a:sym typeface="Inter"/>
              </a:rPr>
              <a:t>Question</a:t>
            </a:r>
            <a:r>
              <a:rPr lang="en" sz="1500">
                <a:solidFill>
                  <a:schemeClr val="dk1"/>
                </a:solidFill>
                <a:latin typeface="Inter"/>
                <a:ea typeface="Inter"/>
                <a:cs typeface="Inter"/>
                <a:sym typeface="Inter"/>
              </a:rPr>
              <a:t>: </a:t>
            </a:r>
            <a:r>
              <a:rPr lang="en" sz="1500">
                <a:solidFill>
                  <a:srgbClr val="202124"/>
                </a:solidFill>
                <a:highlight>
                  <a:srgbClr val="FFFFFF"/>
                </a:highlight>
                <a:latin typeface="Inter"/>
                <a:ea typeface="Inter"/>
                <a:cs typeface="Inter"/>
                <a:sym typeface="Inter"/>
              </a:rPr>
              <a:t>Without LLMs, do think your homework and exam grades in STAT 131A would be different?</a:t>
            </a:r>
            <a:endParaRPr sz="2100">
              <a:solidFill>
                <a:schemeClr val="dk1"/>
              </a:solidFill>
              <a:latin typeface="Inter"/>
              <a:ea typeface="Inter"/>
              <a:cs typeface="Inter"/>
              <a:sym typeface="Inter"/>
            </a:endParaRPr>
          </a:p>
          <a:p>
            <a:pPr indent="0" lvl="0" marL="914400" rtl="0" algn="l">
              <a:lnSpc>
                <a:spcPct val="105000"/>
              </a:lnSpc>
              <a:spcBef>
                <a:spcPts val="1200"/>
              </a:spcBef>
              <a:spcAft>
                <a:spcPts val="1200"/>
              </a:spcAft>
              <a:buSzPts val="1018"/>
              <a:buNone/>
            </a:pPr>
            <a:r>
              <a:t/>
            </a:r>
            <a:endParaRPr sz="1550">
              <a:solidFill>
                <a:schemeClr val="dk1"/>
              </a:solidFill>
              <a:latin typeface="Source Code Pro"/>
              <a:ea typeface="Source Code Pro"/>
              <a:cs typeface="Source Code Pro"/>
              <a:sym typeface="Source Code Pro"/>
            </a:endParaRPr>
          </a:p>
        </p:txBody>
      </p:sp>
      <p:sp>
        <p:nvSpPr>
          <p:cNvPr id="293" name="Google Shape;293;p41"/>
          <p:cNvSpPr/>
          <p:nvPr/>
        </p:nvSpPr>
        <p:spPr>
          <a:xfrm>
            <a:off x="402600" y="2143550"/>
            <a:ext cx="3939600" cy="26151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4" name="Google Shape;294;p41"/>
          <p:cNvSpPr/>
          <p:nvPr/>
        </p:nvSpPr>
        <p:spPr>
          <a:xfrm>
            <a:off x="4658450" y="2151050"/>
            <a:ext cx="4011600" cy="2600100"/>
          </a:xfrm>
          <a:prstGeom prst="rect">
            <a:avLst/>
          </a:prstGeom>
          <a:noFill/>
          <a:ln cap="flat" cmpd="sng" w="19050">
            <a:solidFill>
              <a:srgbClr val="331F8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5" name="Google Shape;295;p41"/>
          <p:cNvSpPr txBox="1"/>
          <p:nvPr/>
        </p:nvSpPr>
        <p:spPr>
          <a:xfrm>
            <a:off x="312450" y="1689350"/>
            <a:ext cx="1649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999999"/>
                </a:solidFill>
                <a:latin typeface="Inter"/>
                <a:ea typeface="Inter"/>
                <a:cs typeface="Inter"/>
                <a:sym typeface="Inter"/>
              </a:rPr>
              <a:t>Same</a:t>
            </a:r>
            <a:r>
              <a:rPr b="1" lang="en" sz="1800">
                <a:solidFill>
                  <a:srgbClr val="999999"/>
                </a:solidFill>
                <a:latin typeface="Inter"/>
                <a:ea typeface="Inter"/>
                <a:cs typeface="Inter"/>
                <a:sym typeface="Inter"/>
              </a:rPr>
              <a:t>: 35%</a:t>
            </a:r>
            <a:r>
              <a:rPr lang="en" sz="1800">
                <a:solidFill>
                  <a:srgbClr val="999999"/>
                </a:solidFill>
                <a:latin typeface="Inter"/>
                <a:ea typeface="Inter"/>
                <a:cs typeface="Inter"/>
                <a:sym typeface="Inter"/>
              </a:rPr>
              <a:t> </a:t>
            </a:r>
            <a:endParaRPr sz="1800">
              <a:solidFill>
                <a:srgbClr val="999999"/>
              </a:solidFill>
              <a:latin typeface="Inter"/>
              <a:ea typeface="Inter"/>
              <a:cs typeface="Inter"/>
              <a:sym typeface="Inter"/>
            </a:endParaRPr>
          </a:p>
        </p:txBody>
      </p:sp>
      <p:sp>
        <p:nvSpPr>
          <p:cNvPr id="296" name="Google Shape;296;p41"/>
          <p:cNvSpPr txBox="1"/>
          <p:nvPr/>
        </p:nvSpPr>
        <p:spPr>
          <a:xfrm>
            <a:off x="4342200" y="1689350"/>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Inter"/>
                <a:ea typeface="Inter"/>
                <a:cs typeface="Inter"/>
                <a:sym typeface="Inter"/>
              </a:rPr>
              <a:t>Different</a:t>
            </a:r>
            <a:r>
              <a:rPr b="1" lang="en" sz="1800">
                <a:solidFill>
                  <a:schemeClr val="dk1"/>
                </a:solidFill>
                <a:latin typeface="Inter"/>
                <a:ea typeface="Inter"/>
                <a:cs typeface="Inter"/>
                <a:sym typeface="Inter"/>
              </a:rPr>
              <a:t>: 58%</a:t>
            </a:r>
            <a:endParaRPr>
              <a:latin typeface="Inter"/>
              <a:ea typeface="Inter"/>
              <a:cs typeface="Inter"/>
              <a:sym typeface="Inter"/>
            </a:endParaRPr>
          </a:p>
        </p:txBody>
      </p:sp>
      <p:sp>
        <p:nvSpPr>
          <p:cNvPr id="297" name="Google Shape;297;p41"/>
          <p:cNvSpPr txBox="1"/>
          <p:nvPr/>
        </p:nvSpPr>
        <p:spPr>
          <a:xfrm>
            <a:off x="313200" y="456250"/>
            <a:ext cx="85176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solidFill>
                  <a:schemeClr val="dk1"/>
                </a:solidFill>
                <a:latin typeface="Inter"/>
                <a:ea typeface="Inter"/>
                <a:cs typeface="Inter"/>
                <a:sym typeface="Inter"/>
              </a:rPr>
              <a:t>58% of grades </a:t>
            </a:r>
            <a:r>
              <a:rPr i="1" lang="en" sz="2500">
                <a:solidFill>
                  <a:schemeClr val="dk1"/>
                </a:solidFill>
                <a:latin typeface="Inter"/>
                <a:ea typeface="Inter"/>
                <a:cs typeface="Inter"/>
                <a:sym typeface="Inter"/>
              </a:rPr>
              <a:t>might</a:t>
            </a:r>
            <a:r>
              <a:rPr lang="en" sz="2500">
                <a:solidFill>
                  <a:schemeClr val="dk1"/>
                </a:solidFill>
                <a:latin typeface="Inter"/>
                <a:ea typeface="Inter"/>
                <a:cs typeface="Inter"/>
                <a:sym typeface="Inter"/>
              </a:rPr>
              <a:t> be affected </a:t>
            </a:r>
            <a:endParaRPr sz="2500">
              <a:solidFill>
                <a:schemeClr val="dk1"/>
              </a:solidFill>
              <a:latin typeface="Inter"/>
              <a:ea typeface="Inter"/>
              <a:cs typeface="Inter"/>
              <a:sym typeface="Inter"/>
            </a:endParaRPr>
          </a:p>
        </p:txBody>
      </p:sp>
      <p:sp>
        <p:nvSpPr>
          <p:cNvPr id="298" name="Google Shape;298;p41"/>
          <p:cNvSpPr txBox="1"/>
          <p:nvPr/>
        </p:nvSpPr>
        <p:spPr>
          <a:xfrm>
            <a:off x="4658450" y="2242050"/>
            <a:ext cx="40116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Inter"/>
                <a:ea typeface="Inter"/>
                <a:cs typeface="Inter"/>
                <a:sym typeface="Inter"/>
              </a:rPr>
              <a:t>“</a:t>
            </a:r>
            <a:r>
              <a:rPr i="1" lang="en">
                <a:latin typeface="Inter"/>
                <a:ea typeface="Inter"/>
                <a:cs typeface="Inter"/>
                <a:sym typeface="Inter"/>
              </a:rPr>
              <a:t>Yes... when working through understanding a concept, I want anything I am confused about answered... I study/work mostly at night/late at night, it makes having an LLM basically </a:t>
            </a:r>
            <a:r>
              <a:rPr b="1" i="1" lang="en">
                <a:latin typeface="Inter"/>
                <a:ea typeface="Inter"/>
                <a:cs typeface="Inter"/>
                <a:sym typeface="Inter"/>
              </a:rPr>
              <a:t>accessible</a:t>
            </a:r>
            <a:r>
              <a:rPr i="1" lang="en">
                <a:latin typeface="Inter"/>
                <a:ea typeface="Inter"/>
                <a:cs typeface="Inter"/>
                <a:sym typeface="Inter"/>
              </a:rPr>
              <a:t> for small questions and clarity.</a:t>
            </a:r>
            <a:r>
              <a:rPr lang="en">
                <a:latin typeface="Inter"/>
                <a:ea typeface="Inter"/>
                <a:cs typeface="Inter"/>
                <a:sym typeface="Inter"/>
              </a:rPr>
              <a:t>”</a:t>
            </a:r>
            <a:endParaRPr>
              <a:latin typeface="Inter"/>
              <a:ea typeface="Inter"/>
              <a:cs typeface="Inter"/>
              <a:sym typeface="Inter"/>
            </a:endParaRPr>
          </a:p>
        </p:txBody>
      </p:sp>
      <p:sp>
        <p:nvSpPr>
          <p:cNvPr id="299" name="Google Shape;299;p41"/>
          <p:cNvSpPr txBox="1"/>
          <p:nvPr/>
        </p:nvSpPr>
        <p:spPr>
          <a:xfrm>
            <a:off x="474900" y="2251825"/>
            <a:ext cx="40116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99999"/>
                </a:solidFill>
                <a:latin typeface="Inter"/>
                <a:ea typeface="Inter"/>
                <a:cs typeface="Inter"/>
                <a:sym typeface="Inter"/>
              </a:rPr>
              <a:t>“</a:t>
            </a:r>
            <a:r>
              <a:rPr i="1" lang="en">
                <a:solidFill>
                  <a:srgbClr val="999999"/>
                </a:solidFill>
                <a:latin typeface="Inter"/>
                <a:ea typeface="Inter"/>
                <a:cs typeface="Inter"/>
                <a:sym typeface="Inter"/>
              </a:rPr>
              <a:t>I tend to use PingPong and office hours in tandem; if I can't receive enough help for homework then </a:t>
            </a:r>
            <a:r>
              <a:rPr b="1" i="1" lang="en">
                <a:solidFill>
                  <a:srgbClr val="999999"/>
                </a:solidFill>
                <a:latin typeface="Inter"/>
                <a:ea typeface="Inter"/>
                <a:cs typeface="Inter"/>
                <a:sym typeface="Inter"/>
              </a:rPr>
              <a:t>I would go to office hours instead.</a:t>
            </a:r>
            <a:r>
              <a:rPr lang="en">
                <a:solidFill>
                  <a:srgbClr val="999999"/>
                </a:solidFill>
                <a:latin typeface="Inter"/>
                <a:ea typeface="Inter"/>
                <a:cs typeface="Inter"/>
                <a:sym typeface="Inter"/>
              </a:rPr>
              <a:t>”</a:t>
            </a:r>
            <a:endParaRPr>
              <a:solidFill>
                <a:srgbClr val="999999"/>
              </a:solidFill>
              <a:latin typeface="Inter"/>
              <a:ea typeface="Inter"/>
              <a:cs typeface="Inter"/>
              <a:sym typeface="Inter"/>
            </a:endParaRPr>
          </a:p>
        </p:txBody>
      </p:sp>
      <p:sp>
        <p:nvSpPr>
          <p:cNvPr id="300" name="Google Shape;300;p41"/>
          <p:cNvSpPr txBox="1"/>
          <p:nvPr/>
        </p:nvSpPr>
        <p:spPr>
          <a:xfrm>
            <a:off x="9144000" y="31322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301" name="Google Shape;301;p41"/>
          <p:cNvSpPr txBox="1"/>
          <p:nvPr/>
        </p:nvSpPr>
        <p:spPr>
          <a:xfrm>
            <a:off x="474900" y="3399325"/>
            <a:ext cx="37950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99999"/>
                </a:solidFill>
                <a:latin typeface="Inter"/>
                <a:ea typeface="Inter"/>
                <a:cs typeface="Inter"/>
                <a:sym typeface="Inter"/>
              </a:rPr>
              <a:t>“</a:t>
            </a:r>
            <a:r>
              <a:rPr i="1" lang="en">
                <a:solidFill>
                  <a:srgbClr val="999999"/>
                </a:solidFill>
                <a:latin typeface="Inter"/>
                <a:ea typeface="Inter"/>
                <a:cs typeface="Inter"/>
                <a:sym typeface="Inter"/>
              </a:rPr>
              <a:t>Probably not, BUT it really helps me </a:t>
            </a:r>
            <a:r>
              <a:rPr b="1" i="1" lang="en">
                <a:solidFill>
                  <a:srgbClr val="999999"/>
                </a:solidFill>
                <a:latin typeface="Inter"/>
                <a:ea typeface="Inter"/>
                <a:cs typeface="Inter"/>
                <a:sym typeface="Inter"/>
              </a:rPr>
              <a:t>cut down on the time</a:t>
            </a:r>
            <a:r>
              <a:rPr i="1" lang="en">
                <a:solidFill>
                  <a:srgbClr val="999999"/>
                </a:solidFill>
                <a:latin typeface="Inter"/>
                <a:ea typeface="Inter"/>
                <a:cs typeface="Inter"/>
                <a:sym typeface="Inter"/>
              </a:rPr>
              <a:t> I spend on homework because I can get quick feedback on why my code is wrong without spending hours </a:t>
            </a:r>
            <a:r>
              <a:rPr b="1" i="1" lang="en">
                <a:solidFill>
                  <a:srgbClr val="999999"/>
                </a:solidFill>
                <a:latin typeface="Inter"/>
                <a:ea typeface="Inter"/>
                <a:cs typeface="Inter"/>
                <a:sym typeface="Inter"/>
              </a:rPr>
              <a:t>debugging</a:t>
            </a:r>
            <a:r>
              <a:rPr i="1" lang="en">
                <a:solidFill>
                  <a:srgbClr val="999999"/>
                </a:solidFill>
                <a:latin typeface="Inter"/>
                <a:ea typeface="Inter"/>
                <a:cs typeface="Inter"/>
                <a:sym typeface="Inter"/>
              </a:rPr>
              <a:t>.</a:t>
            </a:r>
            <a:r>
              <a:rPr lang="en">
                <a:solidFill>
                  <a:srgbClr val="999999"/>
                </a:solidFill>
                <a:latin typeface="Inter"/>
                <a:ea typeface="Inter"/>
                <a:cs typeface="Inter"/>
                <a:sym typeface="Inter"/>
              </a:rPr>
              <a:t>”</a:t>
            </a:r>
            <a:endParaRPr>
              <a:solidFill>
                <a:srgbClr val="999999"/>
              </a:solidFill>
              <a:latin typeface="Inter"/>
              <a:ea typeface="Inter"/>
              <a:cs typeface="Inter"/>
              <a:sym typeface="Inter"/>
            </a:endParaRPr>
          </a:p>
        </p:txBody>
      </p:sp>
      <p:sp>
        <p:nvSpPr>
          <p:cNvPr id="302" name="Google Shape;302;p41"/>
          <p:cNvSpPr txBox="1"/>
          <p:nvPr/>
        </p:nvSpPr>
        <p:spPr>
          <a:xfrm>
            <a:off x="4658450" y="3719550"/>
            <a:ext cx="40116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Inter"/>
                <a:ea typeface="Inter"/>
                <a:cs typeface="Inter"/>
                <a:sym typeface="Inter"/>
              </a:rPr>
              <a:t>“</a:t>
            </a:r>
            <a:r>
              <a:rPr i="1" lang="en">
                <a:latin typeface="Inter"/>
                <a:ea typeface="Inter"/>
                <a:cs typeface="Inter"/>
                <a:sym typeface="Inter"/>
              </a:rPr>
              <a:t>I think I would do worse on the homework without the assistance of the LLMs. PingPong has helped me </a:t>
            </a:r>
            <a:r>
              <a:rPr b="1" i="1" lang="en">
                <a:latin typeface="Inter"/>
                <a:ea typeface="Inter"/>
                <a:cs typeface="Inter"/>
                <a:sym typeface="Inter"/>
              </a:rPr>
              <a:t>save time</a:t>
            </a:r>
            <a:r>
              <a:rPr i="1" lang="en">
                <a:latin typeface="Inter"/>
                <a:ea typeface="Inter"/>
                <a:cs typeface="Inter"/>
                <a:sym typeface="Inter"/>
              </a:rPr>
              <a:t> and improve my grades.</a:t>
            </a:r>
            <a:r>
              <a:rPr lang="en">
                <a:latin typeface="Inter"/>
                <a:ea typeface="Inter"/>
                <a:cs typeface="Inter"/>
                <a:sym typeface="Inter"/>
              </a:rPr>
              <a:t>”</a:t>
            </a:r>
            <a:endParaRPr>
              <a:latin typeface="Inter"/>
              <a:ea typeface="Inter"/>
              <a:cs typeface="Inter"/>
              <a:sym typeface="Inter"/>
            </a:endParaRPr>
          </a:p>
        </p:txBody>
      </p:sp>
      <p:pic>
        <p:nvPicPr>
          <p:cNvPr id="303" name="Google Shape;303;p41"/>
          <p:cNvPicPr preferRelativeResize="0"/>
          <p:nvPr/>
        </p:nvPicPr>
        <p:blipFill>
          <a:blip r:embed="rId3">
            <a:alphaModFix/>
          </a:blip>
          <a:stretch>
            <a:fillRect/>
          </a:stretch>
        </p:blipFill>
        <p:spPr>
          <a:xfrm>
            <a:off x="6287250" y="0"/>
            <a:ext cx="2856750" cy="193776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latin typeface="Inter"/>
                <a:ea typeface="Inter"/>
                <a:cs typeface="Inter"/>
                <a:sym typeface="Inter"/>
              </a:rPr>
              <a:t>Do students prefer customized chatbots?</a:t>
            </a:r>
            <a:endParaRPr>
              <a:latin typeface="Inter"/>
              <a:ea typeface="Inter"/>
              <a:cs typeface="Inter"/>
              <a:sym typeface="Inter"/>
            </a:endParaRPr>
          </a:p>
          <a:p>
            <a:pPr indent="0" lvl="0" marL="0" rtl="0" algn="l">
              <a:spcBef>
                <a:spcPts val="0"/>
              </a:spcBef>
              <a:spcAft>
                <a:spcPts val="0"/>
              </a:spcAft>
              <a:buClr>
                <a:schemeClr val="dk1"/>
              </a:buClr>
              <a:buSzPct val="39285"/>
              <a:buFont typeface="Arial"/>
              <a:buNone/>
            </a:pPr>
            <a:r>
              <a:t/>
            </a:r>
            <a:endParaRPr>
              <a:latin typeface="Inter"/>
              <a:ea typeface="Inter"/>
              <a:cs typeface="Inter"/>
              <a:sym typeface="Inter"/>
            </a:endParaRPr>
          </a:p>
          <a:p>
            <a:pPr indent="0" lvl="0" marL="0" rtl="0" algn="l">
              <a:spcBef>
                <a:spcPts val="0"/>
              </a:spcBef>
              <a:spcAft>
                <a:spcPts val="0"/>
              </a:spcAft>
              <a:buNone/>
            </a:pPr>
            <a:r>
              <a:t/>
            </a:r>
            <a:endParaRPr>
              <a:latin typeface="Inter"/>
              <a:ea typeface="Inter"/>
              <a:cs typeface="Inter"/>
              <a:sym typeface="Inter"/>
            </a:endParaRPr>
          </a:p>
        </p:txBody>
      </p:sp>
      <p:sp>
        <p:nvSpPr>
          <p:cNvPr id="309" name="Google Shape;309;p42"/>
          <p:cNvSpPr txBox="1"/>
          <p:nvPr>
            <p:ph idx="1" type="body"/>
          </p:nvPr>
        </p:nvSpPr>
        <p:spPr>
          <a:xfrm>
            <a:off x="213375" y="1281375"/>
            <a:ext cx="4044000" cy="32466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500" u="sng">
                <a:solidFill>
                  <a:schemeClr val="dk1"/>
                </a:solidFill>
                <a:latin typeface="Inter"/>
                <a:ea typeface="Inter"/>
                <a:cs typeface="Inter"/>
                <a:sym typeface="Inter"/>
              </a:rPr>
              <a:t>Question</a:t>
            </a:r>
            <a:r>
              <a:rPr lang="en" sz="1500">
                <a:solidFill>
                  <a:schemeClr val="dk1"/>
                </a:solidFill>
                <a:latin typeface="Inter"/>
                <a:ea typeface="Inter"/>
                <a:cs typeface="Inter"/>
                <a:sym typeface="Inter"/>
              </a:rPr>
              <a:t>: </a:t>
            </a:r>
            <a:r>
              <a:rPr lang="en" sz="1500">
                <a:solidFill>
                  <a:srgbClr val="202124"/>
                </a:solidFill>
                <a:highlight>
                  <a:srgbClr val="FFFFFF"/>
                </a:highlight>
                <a:latin typeface="Inter"/>
                <a:ea typeface="Inter"/>
                <a:cs typeface="Inter"/>
                <a:sym typeface="Inter"/>
              </a:rPr>
              <a:t>Which of the following would you prefer?</a:t>
            </a:r>
            <a:endParaRPr sz="1500">
              <a:solidFill>
                <a:schemeClr val="dk1"/>
              </a:solidFill>
              <a:latin typeface="Inter"/>
              <a:ea typeface="Inter"/>
              <a:cs typeface="Inter"/>
              <a:sym typeface="Inter"/>
            </a:endParaRPr>
          </a:p>
          <a:p>
            <a:pPr indent="0" lvl="0" marL="0" rtl="0" algn="l">
              <a:lnSpc>
                <a:spcPct val="105000"/>
              </a:lnSpc>
              <a:spcBef>
                <a:spcPts val="1200"/>
              </a:spcBef>
              <a:spcAft>
                <a:spcPts val="0"/>
              </a:spcAft>
              <a:buClr>
                <a:schemeClr val="dk1"/>
              </a:buClr>
              <a:buSzPts val="1100"/>
              <a:buFont typeface="Arial"/>
              <a:buNone/>
            </a:pPr>
            <a:r>
              <a:rPr lang="en" sz="1500">
                <a:solidFill>
                  <a:srgbClr val="202124"/>
                </a:solidFill>
                <a:highlight>
                  <a:srgbClr val="FFFFFF"/>
                </a:highlight>
                <a:latin typeface="Inter"/>
                <a:ea typeface="Inter"/>
                <a:cs typeface="Inter"/>
                <a:sym typeface="Inter"/>
              </a:rPr>
              <a:t>1. Programming+statistics courses allow students to use </a:t>
            </a:r>
            <a:r>
              <a:rPr b="1" lang="en" sz="1500">
                <a:solidFill>
                  <a:srgbClr val="202124"/>
                </a:solidFill>
                <a:highlight>
                  <a:srgbClr val="FFFFFF"/>
                </a:highlight>
                <a:latin typeface="Inter"/>
                <a:ea typeface="Inter"/>
                <a:cs typeface="Inter"/>
                <a:sym typeface="Inter"/>
              </a:rPr>
              <a:t>any LLM</a:t>
            </a:r>
            <a:r>
              <a:rPr lang="en" sz="1500">
                <a:solidFill>
                  <a:srgbClr val="202124"/>
                </a:solidFill>
                <a:highlight>
                  <a:srgbClr val="FFFFFF"/>
                </a:highlight>
                <a:latin typeface="Inter"/>
                <a:ea typeface="Inter"/>
                <a:cs typeface="Inter"/>
                <a:sym typeface="Inter"/>
              </a:rPr>
              <a:t> for homework help.</a:t>
            </a:r>
            <a:endParaRPr sz="1500">
              <a:solidFill>
                <a:schemeClr val="dk1"/>
              </a:solidFill>
              <a:latin typeface="Inter"/>
              <a:ea typeface="Inter"/>
              <a:cs typeface="Inter"/>
              <a:sym typeface="Inter"/>
            </a:endParaRPr>
          </a:p>
          <a:p>
            <a:pPr indent="0" lvl="0" marL="0" rtl="0" algn="l">
              <a:lnSpc>
                <a:spcPct val="105000"/>
              </a:lnSpc>
              <a:spcBef>
                <a:spcPts val="1200"/>
              </a:spcBef>
              <a:spcAft>
                <a:spcPts val="0"/>
              </a:spcAft>
              <a:buClr>
                <a:schemeClr val="dk1"/>
              </a:buClr>
              <a:buSzPts val="1100"/>
              <a:buFont typeface="Arial"/>
              <a:buNone/>
            </a:pPr>
            <a:r>
              <a:rPr lang="en" sz="1500">
                <a:solidFill>
                  <a:srgbClr val="202124"/>
                </a:solidFill>
                <a:highlight>
                  <a:srgbClr val="FFFFFF"/>
                </a:highlight>
                <a:latin typeface="Inter"/>
                <a:ea typeface="Inter"/>
                <a:cs typeface="Inter"/>
                <a:sym typeface="Inter"/>
              </a:rPr>
              <a:t>2. Programming+statistics courses only allow</a:t>
            </a:r>
            <a:r>
              <a:rPr b="1" lang="en" sz="1500">
                <a:solidFill>
                  <a:srgbClr val="202124"/>
                </a:solidFill>
                <a:highlight>
                  <a:srgbClr val="FFFFFF"/>
                </a:highlight>
                <a:latin typeface="Inter"/>
                <a:ea typeface="Inter"/>
                <a:cs typeface="Inter"/>
                <a:sym typeface="Inter"/>
              </a:rPr>
              <a:t> customized chatbots</a:t>
            </a:r>
            <a:r>
              <a:rPr lang="en" sz="1500">
                <a:solidFill>
                  <a:srgbClr val="202124"/>
                </a:solidFill>
                <a:highlight>
                  <a:srgbClr val="FFFFFF"/>
                </a:highlight>
                <a:latin typeface="Inter"/>
                <a:ea typeface="Inter"/>
                <a:cs typeface="Inter"/>
                <a:sym typeface="Inter"/>
              </a:rPr>
              <a:t>, similar to PingPong.</a:t>
            </a:r>
            <a:endParaRPr sz="1500">
              <a:solidFill>
                <a:srgbClr val="202124"/>
              </a:solidFill>
              <a:highlight>
                <a:srgbClr val="FFFFFF"/>
              </a:highlight>
              <a:latin typeface="Inter"/>
              <a:ea typeface="Inter"/>
              <a:cs typeface="Inter"/>
              <a:sym typeface="Inter"/>
            </a:endParaRPr>
          </a:p>
          <a:p>
            <a:pPr indent="0" lvl="0" marL="0" rtl="0" algn="l">
              <a:lnSpc>
                <a:spcPct val="105000"/>
              </a:lnSpc>
              <a:spcBef>
                <a:spcPts val="1200"/>
              </a:spcBef>
              <a:spcAft>
                <a:spcPts val="0"/>
              </a:spcAft>
              <a:buClr>
                <a:schemeClr val="dk1"/>
              </a:buClr>
              <a:buSzPts val="1100"/>
              <a:buFont typeface="Arial"/>
              <a:buNone/>
            </a:pPr>
            <a:r>
              <a:rPr lang="en" sz="1500">
                <a:solidFill>
                  <a:srgbClr val="202124"/>
                </a:solidFill>
                <a:highlight>
                  <a:srgbClr val="FFFFFF"/>
                </a:highlight>
                <a:latin typeface="Inter"/>
                <a:ea typeface="Inter"/>
                <a:cs typeface="Inter"/>
                <a:sym typeface="Inter"/>
              </a:rPr>
              <a:t>3. Programming+statistics courses </a:t>
            </a:r>
            <a:r>
              <a:rPr b="1" lang="en" sz="1500">
                <a:solidFill>
                  <a:srgbClr val="202124"/>
                </a:solidFill>
                <a:highlight>
                  <a:srgbClr val="FFFFFF"/>
                </a:highlight>
                <a:latin typeface="Inter"/>
                <a:ea typeface="Inter"/>
                <a:cs typeface="Inter"/>
                <a:sym typeface="Inter"/>
              </a:rPr>
              <a:t>do not allow students to use any LLM</a:t>
            </a:r>
            <a:r>
              <a:rPr lang="en" sz="1500">
                <a:solidFill>
                  <a:srgbClr val="202124"/>
                </a:solidFill>
                <a:highlight>
                  <a:srgbClr val="FFFFFF"/>
                </a:highlight>
                <a:latin typeface="Inter"/>
                <a:ea typeface="Inter"/>
                <a:cs typeface="Inter"/>
                <a:sym typeface="Inter"/>
              </a:rPr>
              <a:t>.</a:t>
            </a:r>
            <a:endParaRPr sz="1500">
              <a:solidFill>
                <a:srgbClr val="202124"/>
              </a:solidFill>
              <a:highlight>
                <a:srgbClr val="FFFFFF"/>
              </a:highlight>
              <a:latin typeface="Inter"/>
              <a:ea typeface="Inter"/>
              <a:cs typeface="Inter"/>
              <a:sym typeface="Inter"/>
            </a:endParaRPr>
          </a:p>
          <a:p>
            <a:pPr indent="0" lvl="0" marL="0" rtl="0" algn="l">
              <a:lnSpc>
                <a:spcPct val="105000"/>
              </a:lnSpc>
              <a:spcBef>
                <a:spcPts val="1200"/>
              </a:spcBef>
              <a:spcAft>
                <a:spcPts val="0"/>
              </a:spcAft>
              <a:buNone/>
            </a:pPr>
            <a:r>
              <a:t/>
            </a:r>
            <a:endParaRPr sz="1500">
              <a:solidFill>
                <a:schemeClr val="dk1"/>
              </a:solidFill>
              <a:latin typeface="Source Code Pro"/>
              <a:ea typeface="Source Code Pro"/>
              <a:cs typeface="Source Code Pro"/>
              <a:sym typeface="Source Code Pro"/>
            </a:endParaRPr>
          </a:p>
          <a:p>
            <a:pPr indent="0" lvl="0" marL="914400" rtl="0" algn="l">
              <a:lnSpc>
                <a:spcPct val="105000"/>
              </a:lnSpc>
              <a:spcBef>
                <a:spcPts val="1200"/>
              </a:spcBef>
              <a:spcAft>
                <a:spcPts val="1200"/>
              </a:spcAft>
              <a:buSzPts val="1018"/>
              <a:buNone/>
            </a:pPr>
            <a:r>
              <a:t/>
            </a:r>
            <a:endParaRPr sz="1550">
              <a:solidFill>
                <a:schemeClr val="dk1"/>
              </a:solidFill>
              <a:latin typeface="Source Code Pro"/>
              <a:ea typeface="Source Code Pro"/>
              <a:cs typeface="Source Code Pro"/>
              <a:sym typeface="Source Code Pr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latin typeface="Inter"/>
                <a:ea typeface="Inter"/>
                <a:cs typeface="Inter"/>
                <a:sym typeface="Inter"/>
              </a:rPr>
              <a:t>Not a single student wants to ban LLMs! </a:t>
            </a:r>
            <a:endParaRPr>
              <a:latin typeface="Inter"/>
              <a:ea typeface="Inter"/>
              <a:cs typeface="Inter"/>
              <a:sym typeface="Inter"/>
            </a:endParaRPr>
          </a:p>
          <a:p>
            <a:pPr indent="0" lvl="0" marL="0" rtl="0" algn="l">
              <a:spcBef>
                <a:spcPts val="0"/>
              </a:spcBef>
              <a:spcAft>
                <a:spcPts val="0"/>
              </a:spcAft>
              <a:buNone/>
            </a:pPr>
            <a:r>
              <a:t/>
            </a:r>
            <a:endParaRPr>
              <a:latin typeface="Inter"/>
              <a:ea typeface="Inter"/>
              <a:cs typeface="Inter"/>
              <a:sym typeface="Inter"/>
            </a:endParaRPr>
          </a:p>
        </p:txBody>
      </p:sp>
      <p:sp>
        <p:nvSpPr>
          <p:cNvPr id="315" name="Google Shape;315;p43"/>
          <p:cNvSpPr txBox="1"/>
          <p:nvPr>
            <p:ph idx="1" type="body"/>
          </p:nvPr>
        </p:nvSpPr>
        <p:spPr>
          <a:xfrm>
            <a:off x="213375" y="1281375"/>
            <a:ext cx="4044000" cy="32466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500" u="sng">
                <a:solidFill>
                  <a:schemeClr val="dk1"/>
                </a:solidFill>
                <a:latin typeface="Inter"/>
                <a:ea typeface="Inter"/>
                <a:cs typeface="Inter"/>
                <a:sym typeface="Inter"/>
              </a:rPr>
              <a:t>Question</a:t>
            </a:r>
            <a:r>
              <a:rPr lang="en" sz="1500">
                <a:solidFill>
                  <a:schemeClr val="dk1"/>
                </a:solidFill>
                <a:latin typeface="Inter"/>
                <a:ea typeface="Inter"/>
                <a:cs typeface="Inter"/>
                <a:sym typeface="Inter"/>
              </a:rPr>
              <a:t>: </a:t>
            </a:r>
            <a:r>
              <a:rPr lang="en" sz="1500">
                <a:solidFill>
                  <a:srgbClr val="202124"/>
                </a:solidFill>
                <a:highlight>
                  <a:srgbClr val="FFFFFF"/>
                </a:highlight>
                <a:latin typeface="Inter"/>
                <a:ea typeface="Inter"/>
                <a:cs typeface="Inter"/>
                <a:sym typeface="Inter"/>
              </a:rPr>
              <a:t>Which of the following would you prefer?</a:t>
            </a:r>
            <a:endParaRPr sz="1500">
              <a:solidFill>
                <a:schemeClr val="dk1"/>
              </a:solidFill>
              <a:latin typeface="Inter"/>
              <a:ea typeface="Inter"/>
              <a:cs typeface="Inter"/>
              <a:sym typeface="Inter"/>
            </a:endParaRPr>
          </a:p>
          <a:p>
            <a:pPr indent="0" lvl="0" marL="0" rtl="0" algn="l">
              <a:lnSpc>
                <a:spcPct val="105000"/>
              </a:lnSpc>
              <a:spcBef>
                <a:spcPts val="1200"/>
              </a:spcBef>
              <a:spcAft>
                <a:spcPts val="0"/>
              </a:spcAft>
              <a:buClr>
                <a:schemeClr val="dk1"/>
              </a:buClr>
              <a:buSzPts val="1100"/>
              <a:buFont typeface="Arial"/>
              <a:buNone/>
            </a:pPr>
            <a:r>
              <a:rPr lang="en" sz="1500">
                <a:solidFill>
                  <a:srgbClr val="202124"/>
                </a:solidFill>
                <a:highlight>
                  <a:srgbClr val="FFFFFF"/>
                </a:highlight>
                <a:latin typeface="Inter"/>
                <a:ea typeface="Inter"/>
                <a:cs typeface="Inter"/>
                <a:sym typeface="Inter"/>
              </a:rPr>
              <a:t>1. Programming+statistics courses allow students to use </a:t>
            </a:r>
            <a:r>
              <a:rPr b="1" lang="en" sz="1500">
                <a:solidFill>
                  <a:srgbClr val="202124"/>
                </a:solidFill>
                <a:highlight>
                  <a:srgbClr val="FFFFFF"/>
                </a:highlight>
                <a:latin typeface="Inter"/>
                <a:ea typeface="Inter"/>
                <a:cs typeface="Inter"/>
                <a:sym typeface="Inter"/>
              </a:rPr>
              <a:t>any LLM</a:t>
            </a:r>
            <a:r>
              <a:rPr lang="en" sz="1500">
                <a:solidFill>
                  <a:srgbClr val="202124"/>
                </a:solidFill>
                <a:highlight>
                  <a:srgbClr val="FFFFFF"/>
                </a:highlight>
                <a:latin typeface="Inter"/>
                <a:ea typeface="Inter"/>
                <a:cs typeface="Inter"/>
                <a:sym typeface="Inter"/>
              </a:rPr>
              <a:t> for homework help.</a:t>
            </a:r>
            <a:endParaRPr sz="1500">
              <a:solidFill>
                <a:schemeClr val="dk1"/>
              </a:solidFill>
              <a:latin typeface="Inter"/>
              <a:ea typeface="Inter"/>
              <a:cs typeface="Inter"/>
              <a:sym typeface="Inter"/>
            </a:endParaRPr>
          </a:p>
          <a:p>
            <a:pPr indent="0" lvl="0" marL="0" rtl="0" algn="l">
              <a:lnSpc>
                <a:spcPct val="105000"/>
              </a:lnSpc>
              <a:spcBef>
                <a:spcPts val="1200"/>
              </a:spcBef>
              <a:spcAft>
                <a:spcPts val="0"/>
              </a:spcAft>
              <a:buClr>
                <a:schemeClr val="dk1"/>
              </a:buClr>
              <a:buSzPts val="1100"/>
              <a:buFont typeface="Arial"/>
              <a:buNone/>
            </a:pPr>
            <a:r>
              <a:rPr lang="en" sz="1500">
                <a:solidFill>
                  <a:srgbClr val="202124"/>
                </a:solidFill>
                <a:highlight>
                  <a:srgbClr val="FFFFFF"/>
                </a:highlight>
                <a:latin typeface="Inter"/>
                <a:ea typeface="Inter"/>
                <a:cs typeface="Inter"/>
                <a:sym typeface="Inter"/>
              </a:rPr>
              <a:t>2. Programming+statistics courses only allow</a:t>
            </a:r>
            <a:r>
              <a:rPr b="1" lang="en" sz="1500">
                <a:solidFill>
                  <a:srgbClr val="202124"/>
                </a:solidFill>
                <a:highlight>
                  <a:srgbClr val="FFFFFF"/>
                </a:highlight>
                <a:latin typeface="Inter"/>
                <a:ea typeface="Inter"/>
                <a:cs typeface="Inter"/>
                <a:sym typeface="Inter"/>
              </a:rPr>
              <a:t> customized chatbots</a:t>
            </a:r>
            <a:r>
              <a:rPr lang="en" sz="1500">
                <a:solidFill>
                  <a:srgbClr val="202124"/>
                </a:solidFill>
                <a:highlight>
                  <a:srgbClr val="FFFFFF"/>
                </a:highlight>
                <a:latin typeface="Inter"/>
                <a:ea typeface="Inter"/>
                <a:cs typeface="Inter"/>
                <a:sym typeface="Inter"/>
              </a:rPr>
              <a:t>, similar to PingPong.</a:t>
            </a:r>
            <a:endParaRPr sz="1500">
              <a:solidFill>
                <a:srgbClr val="202124"/>
              </a:solidFill>
              <a:highlight>
                <a:srgbClr val="FFFFFF"/>
              </a:highlight>
              <a:latin typeface="Inter"/>
              <a:ea typeface="Inter"/>
              <a:cs typeface="Inter"/>
              <a:sym typeface="Inter"/>
            </a:endParaRPr>
          </a:p>
          <a:p>
            <a:pPr indent="0" lvl="0" marL="0" rtl="0" algn="l">
              <a:lnSpc>
                <a:spcPct val="105000"/>
              </a:lnSpc>
              <a:spcBef>
                <a:spcPts val="1200"/>
              </a:spcBef>
              <a:spcAft>
                <a:spcPts val="0"/>
              </a:spcAft>
              <a:buClr>
                <a:schemeClr val="dk1"/>
              </a:buClr>
              <a:buSzPts val="1100"/>
              <a:buFont typeface="Arial"/>
              <a:buNone/>
            </a:pPr>
            <a:r>
              <a:rPr lang="en" sz="1500">
                <a:solidFill>
                  <a:srgbClr val="202124"/>
                </a:solidFill>
                <a:highlight>
                  <a:srgbClr val="FFFFFF"/>
                </a:highlight>
                <a:latin typeface="Inter"/>
                <a:ea typeface="Inter"/>
                <a:cs typeface="Inter"/>
                <a:sym typeface="Inter"/>
              </a:rPr>
              <a:t>3. Programming+statistics courses </a:t>
            </a:r>
            <a:r>
              <a:rPr b="1" lang="en" sz="1500">
                <a:solidFill>
                  <a:srgbClr val="202124"/>
                </a:solidFill>
                <a:highlight>
                  <a:srgbClr val="FFFFFF"/>
                </a:highlight>
                <a:latin typeface="Inter"/>
                <a:ea typeface="Inter"/>
                <a:cs typeface="Inter"/>
                <a:sym typeface="Inter"/>
              </a:rPr>
              <a:t>do not allow students to use any LLM</a:t>
            </a:r>
            <a:r>
              <a:rPr lang="en" sz="1500">
                <a:solidFill>
                  <a:srgbClr val="202124"/>
                </a:solidFill>
                <a:highlight>
                  <a:srgbClr val="FFFFFF"/>
                </a:highlight>
                <a:latin typeface="Inter"/>
                <a:ea typeface="Inter"/>
                <a:cs typeface="Inter"/>
                <a:sym typeface="Inter"/>
              </a:rPr>
              <a:t>.</a:t>
            </a:r>
            <a:endParaRPr sz="1500">
              <a:solidFill>
                <a:srgbClr val="202124"/>
              </a:solidFill>
              <a:highlight>
                <a:srgbClr val="FFFFFF"/>
              </a:highlight>
              <a:latin typeface="Inter"/>
              <a:ea typeface="Inter"/>
              <a:cs typeface="Inter"/>
              <a:sym typeface="Inter"/>
            </a:endParaRPr>
          </a:p>
          <a:p>
            <a:pPr indent="0" lvl="0" marL="0" rtl="0" algn="l">
              <a:lnSpc>
                <a:spcPct val="105000"/>
              </a:lnSpc>
              <a:spcBef>
                <a:spcPts val="1200"/>
              </a:spcBef>
              <a:spcAft>
                <a:spcPts val="0"/>
              </a:spcAft>
              <a:buNone/>
            </a:pPr>
            <a:r>
              <a:t/>
            </a:r>
            <a:endParaRPr sz="1500">
              <a:solidFill>
                <a:schemeClr val="dk1"/>
              </a:solidFill>
              <a:latin typeface="Source Code Pro"/>
              <a:ea typeface="Source Code Pro"/>
              <a:cs typeface="Source Code Pro"/>
              <a:sym typeface="Source Code Pro"/>
            </a:endParaRPr>
          </a:p>
          <a:p>
            <a:pPr indent="0" lvl="0" marL="914400" rtl="0" algn="l">
              <a:lnSpc>
                <a:spcPct val="105000"/>
              </a:lnSpc>
              <a:spcBef>
                <a:spcPts val="1200"/>
              </a:spcBef>
              <a:spcAft>
                <a:spcPts val="1200"/>
              </a:spcAft>
              <a:buSzPts val="1018"/>
              <a:buNone/>
            </a:pPr>
            <a:r>
              <a:t/>
            </a:r>
            <a:endParaRPr sz="1550">
              <a:solidFill>
                <a:schemeClr val="dk1"/>
              </a:solidFill>
              <a:latin typeface="Source Code Pro"/>
              <a:ea typeface="Source Code Pro"/>
              <a:cs typeface="Source Code Pro"/>
              <a:sym typeface="Source Code Pro"/>
            </a:endParaRPr>
          </a:p>
        </p:txBody>
      </p:sp>
      <p:sp>
        <p:nvSpPr>
          <p:cNvPr id="316" name="Google Shape;316;p43"/>
          <p:cNvSpPr/>
          <p:nvPr/>
        </p:nvSpPr>
        <p:spPr>
          <a:xfrm>
            <a:off x="204625" y="3744250"/>
            <a:ext cx="4044000" cy="572700"/>
          </a:xfrm>
          <a:prstGeom prst="rect">
            <a:avLst/>
          </a:prstGeom>
          <a:noFill/>
          <a:ln cap="flat" cmpd="sng" w="1905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17" name="Google Shape;317;p43"/>
          <p:cNvPicPr preferRelativeResize="0"/>
          <p:nvPr/>
        </p:nvPicPr>
        <p:blipFill rotWithShape="1">
          <a:blip r:embed="rId3">
            <a:alphaModFix/>
          </a:blip>
          <a:srcRect b="0" l="0" r="0" t="6594"/>
          <a:stretch/>
        </p:blipFill>
        <p:spPr>
          <a:xfrm>
            <a:off x="4572000" y="1246950"/>
            <a:ext cx="4298349" cy="3246601"/>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Inter"/>
                <a:ea typeface="Inter"/>
                <a:cs typeface="Inter"/>
                <a:sym typeface="Inter"/>
              </a:rPr>
              <a:t>Not a single student wants to ban LLMs!</a:t>
            </a:r>
            <a:endParaRPr>
              <a:latin typeface="Inter"/>
              <a:ea typeface="Inter"/>
              <a:cs typeface="Inter"/>
              <a:sym typeface="Inter"/>
            </a:endParaRPr>
          </a:p>
        </p:txBody>
      </p:sp>
      <p:sp>
        <p:nvSpPr>
          <p:cNvPr id="323" name="Google Shape;323;p44"/>
          <p:cNvSpPr txBox="1"/>
          <p:nvPr/>
        </p:nvSpPr>
        <p:spPr>
          <a:xfrm>
            <a:off x="311700" y="921025"/>
            <a:ext cx="6304500" cy="6264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1200"/>
              </a:spcAft>
              <a:buNone/>
            </a:pPr>
            <a:r>
              <a:rPr lang="en" u="sng">
                <a:solidFill>
                  <a:schemeClr val="dk1"/>
                </a:solidFill>
                <a:latin typeface="Inter"/>
                <a:ea typeface="Inter"/>
                <a:cs typeface="Inter"/>
                <a:sym typeface="Inter"/>
              </a:rPr>
              <a:t>Question</a:t>
            </a:r>
            <a:r>
              <a:rPr lang="en">
                <a:solidFill>
                  <a:schemeClr val="dk1"/>
                </a:solidFill>
                <a:latin typeface="Inter"/>
                <a:ea typeface="Inter"/>
                <a:cs typeface="Inter"/>
                <a:sym typeface="Inter"/>
              </a:rPr>
              <a:t>: </a:t>
            </a:r>
            <a:r>
              <a:rPr lang="en">
                <a:solidFill>
                  <a:srgbClr val="202124"/>
                </a:solidFill>
                <a:highlight>
                  <a:srgbClr val="FFFFFF"/>
                </a:highlight>
                <a:latin typeface="Inter"/>
                <a:ea typeface="Inter"/>
                <a:cs typeface="Inter"/>
                <a:sym typeface="Inter"/>
              </a:rPr>
              <a:t>Please elaborate on your response to the previous question. Why do you prefer your chosen option?</a:t>
            </a:r>
            <a:endParaRPr>
              <a:solidFill>
                <a:schemeClr val="dk1"/>
              </a:solidFill>
              <a:latin typeface="Inter"/>
              <a:ea typeface="Inter"/>
              <a:cs typeface="Inter"/>
              <a:sym typeface="Inter"/>
            </a:endParaRPr>
          </a:p>
        </p:txBody>
      </p:sp>
      <p:sp>
        <p:nvSpPr>
          <p:cNvPr id="324" name="Google Shape;324;p44"/>
          <p:cNvSpPr txBox="1"/>
          <p:nvPr/>
        </p:nvSpPr>
        <p:spPr>
          <a:xfrm>
            <a:off x="311700" y="1620300"/>
            <a:ext cx="7957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800">
                <a:solidFill>
                  <a:schemeClr val="dk1"/>
                </a:solidFill>
                <a:latin typeface="Inter"/>
                <a:ea typeface="Inter"/>
                <a:cs typeface="Inter"/>
                <a:sym typeface="Inter"/>
              </a:rPr>
              <a:t>Those who prefer allowing only customized chatbots: 57%</a:t>
            </a:r>
            <a:endParaRPr>
              <a:latin typeface="Inter"/>
              <a:ea typeface="Inter"/>
              <a:cs typeface="Inter"/>
              <a:sym typeface="Inte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latin typeface="Inter"/>
                <a:ea typeface="Inter"/>
                <a:cs typeface="Inter"/>
                <a:sym typeface="Inter"/>
              </a:rPr>
              <a:t>Not a single student wants to ban LLMs!</a:t>
            </a:r>
            <a:endParaRPr>
              <a:latin typeface="Inter"/>
              <a:ea typeface="Inter"/>
              <a:cs typeface="Inter"/>
              <a:sym typeface="Inter"/>
            </a:endParaRPr>
          </a:p>
        </p:txBody>
      </p:sp>
      <p:sp>
        <p:nvSpPr>
          <p:cNvPr id="330" name="Google Shape;330;p45"/>
          <p:cNvSpPr txBox="1"/>
          <p:nvPr/>
        </p:nvSpPr>
        <p:spPr>
          <a:xfrm>
            <a:off x="311700" y="921025"/>
            <a:ext cx="6304500" cy="6264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1200"/>
              </a:spcAft>
              <a:buNone/>
            </a:pPr>
            <a:r>
              <a:rPr lang="en" u="sng">
                <a:solidFill>
                  <a:schemeClr val="dk1"/>
                </a:solidFill>
                <a:latin typeface="Inter"/>
                <a:ea typeface="Inter"/>
                <a:cs typeface="Inter"/>
                <a:sym typeface="Inter"/>
              </a:rPr>
              <a:t>Question</a:t>
            </a:r>
            <a:r>
              <a:rPr lang="en">
                <a:solidFill>
                  <a:schemeClr val="dk1"/>
                </a:solidFill>
                <a:latin typeface="Inter"/>
                <a:ea typeface="Inter"/>
                <a:cs typeface="Inter"/>
                <a:sym typeface="Inter"/>
              </a:rPr>
              <a:t>: </a:t>
            </a:r>
            <a:r>
              <a:rPr lang="en">
                <a:solidFill>
                  <a:srgbClr val="202124"/>
                </a:solidFill>
                <a:highlight>
                  <a:srgbClr val="FFFFFF"/>
                </a:highlight>
                <a:latin typeface="Inter"/>
                <a:ea typeface="Inter"/>
                <a:cs typeface="Inter"/>
                <a:sym typeface="Inter"/>
              </a:rPr>
              <a:t>Please elaborate on your response to the previous question. Why do you prefer your chosen option?</a:t>
            </a:r>
            <a:endParaRPr>
              <a:solidFill>
                <a:schemeClr val="dk1"/>
              </a:solidFill>
              <a:latin typeface="Inter"/>
              <a:ea typeface="Inter"/>
              <a:cs typeface="Inter"/>
              <a:sym typeface="Inter"/>
            </a:endParaRPr>
          </a:p>
        </p:txBody>
      </p:sp>
      <p:sp>
        <p:nvSpPr>
          <p:cNvPr id="331" name="Google Shape;331;p45"/>
          <p:cNvSpPr txBox="1"/>
          <p:nvPr/>
        </p:nvSpPr>
        <p:spPr>
          <a:xfrm>
            <a:off x="311700" y="2082000"/>
            <a:ext cx="8264700" cy="2419200"/>
          </a:xfrm>
          <a:prstGeom prst="rect">
            <a:avLst/>
          </a:prstGeom>
          <a:noFill/>
          <a:ln cap="flat" cmpd="sng" w="19050">
            <a:solidFill>
              <a:srgbClr val="FF7F5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600">
              <a:latin typeface="Source Code Pro"/>
              <a:ea typeface="Source Code Pro"/>
              <a:cs typeface="Source Code Pro"/>
              <a:sym typeface="Source Code Pro"/>
            </a:endParaRPr>
          </a:p>
        </p:txBody>
      </p:sp>
      <p:sp>
        <p:nvSpPr>
          <p:cNvPr id="332" name="Google Shape;332;p45"/>
          <p:cNvSpPr txBox="1"/>
          <p:nvPr/>
        </p:nvSpPr>
        <p:spPr>
          <a:xfrm>
            <a:off x="311700" y="1620300"/>
            <a:ext cx="7957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800">
                <a:solidFill>
                  <a:schemeClr val="dk1"/>
                </a:solidFill>
                <a:latin typeface="Inter"/>
                <a:ea typeface="Inter"/>
                <a:cs typeface="Inter"/>
                <a:sym typeface="Inter"/>
              </a:rPr>
              <a:t>Those who prefer allowing only customized chatbots</a:t>
            </a:r>
            <a:r>
              <a:rPr b="1" lang="en" sz="1800">
                <a:solidFill>
                  <a:schemeClr val="dk1"/>
                </a:solidFill>
                <a:latin typeface="Inter"/>
                <a:ea typeface="Inter"/>
                <a:cs typeface="Inter"/>
                <a:sym typeface="Inter"/>
              </a:rPr>
              <a:t>: 57%</a:t>
            </a:r>
            <a:endParaRPr>
              <a:latin typeface="Inter"/>
              <a:ea typeface="Inter"/>
              <a:cs typeface="Inter"/>
              <a:sym typeface="Inter"/>
            </a:endParaRPr>
          </a:p>
        </p:txBody>
      </p:sp>
      <p:sp>
        <p:nvSpPr>
          <p:cNvPr id="333" name="Google Shape;333;p45"/>
          <p:cNvSpPr txBox="1"/>
          <p:nvPr/>
        </p:nvSpPr>
        <p:spPr>
          <a:xfrm>
            <a:off x="311700" y="2752688"/>
            <a:ext cx="8264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99999"/>
                </a:solidFill>
                <a:latin typeface="Inter"/>
                <a:ea typeface="Inter"/>
                <a:cs typeface="Inter"/>
                <a:sym typeface="Inter"/>
              </a:rPr>
              <a:t>“</a:t>
            </a:r>
            <a:r>
              <a:rPr b="1" i="1" lang="en">
                <a:solidFill>
                  <a:srgbClr val="999999"/>
                </a:solidFill>
                <a:latin typeface="Inter"/>
                <a:ea typeface="Inter"/>
                <a:cs typeface="Inter"/>
                <a:sym typeface="Inter"/>
              </a:rPr>
              <a:t>Any LLM is just harmful </a:t>
            </a:r>
            <a:r>
              <a:rPr i="1" lang="en">
                <a:solidFill>
                  <a:srgbClr val="999999"/>
                </a:solidFill>
                <a:latin typeface="Inter"/>
                <a:ea typeface="Inter"/>
                <a:cs typeface="Inter"/>
                <a:sym typeface="Inter"/>
              </a:rPr>
              <a:t>for student's learning, but I feel like I am able to leave PingPong actually </a:t>
            </a:r>
            <a:r>
              <a:rPr b="1" i="1" lang="en">
                <a:solidFill>
                  <a:srgbClr val="999999"/>
                </a:solidFill>
                <a:latin typeface="Inter"/>
                <a:ea typeface="Inter"/>
                <a:cs typeface="Inter"/>
                <a:sym typeface="Inter"/>
              </a:rPr>
              <a:t>understanding</a:t>
            </a:r>
            <a:r>
              <a:rPr i="1" lang="en">
                <a:solidFill>
                  <a:srgbClr val="999999"/>
                </a:solidFill>
                <a:latin typeface="Inter"/>
                <a:ea typeface="Inter"/>
                <a:cs typeface="Inter"/>
                <a:sym typeface="Inter"/>
              </a:rPr>
              <a:t> concepts and material.</a:t>
            </a:r>
            <a:r>
              <a:rPr lang="en">
                <a:solidFill>
                  <a:srgbClr val="999999"/>
                </a:solidFill>
                <a:latin typeface="Inter"/>
                <a:ea typeface="Inter"/>
                <a:cs typeface="Inter"/>
                <a:sym typeface="Inter"/>
              </a:rPr>
              <a:t>”</a:t>
            </a:r>
            <a:endParaRPr>
              <a:solidFill>
                <a:srgbClr val="999999"/>
              </a:solidFill>
              <a:latin typeface="Inter"/>
              <a:ea typeface="Inter"/>
              <a:cs typeface="Inter"/>
              <a:sym typeface="Inter"/>
            </a:endParaRPr>
          </a:p>
        </p:txBody>
      </p:sp>
      <p:sp>
        <p:nvSpPr>
          <p:cNvPr id="334" name="Google Shape;334;p45"/>
          <p:cNvSpPr txBox="1"/>
          <p:nvPr/>
        </p:nvSpPr>
        <p:spPr>
          <a:xfrm>
            <a:off x="311700" y="3426838"/>
            <a:ext cx="826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99999"/>
                </a:solidFill>
                <a:latin typeface="Inter"/>
                <a:ea typeface="Inter"/>
                <a:cs typeface="Inter"/>
                <a:sym typeface="Inter"/>
              </a:rPr>
              <a:t>“</a:t>
            </a:r>
            <a:r>
              <a:rPr i="1" lang="en">
                <a:solidFill>
                  <a:srgbClr val="999999"/>
                </a:solidFill>
                <a:latin typeface="Inter"/>
                <a:ea typeface="Inter"/>
                <a:cs typeface="Inter"/>
                <a:sym typeface="Inter"/>
              </a:rPr>
              <a:t>I like when I know the instructor can </a:t>
            </a:r>
            <a:r>
              <a:rPr b="1" i="1" lang="en">
                <a:solidFill>
                  <a:srgbClr val="999999"/>
                </a:solidFill>
                <a:latin typeface="Inter"/>
                <a:ea typeface="Inter"/>
                <a:cs typeface="Inter"/>
                <a:sym typeface="Inter"/>
              </a:rPr>
              <a:t>customize and suggest</a:t>
            </a:r>
            <a:r>
              <a:rPr i="1" lang="en">
                <a:solidFill>
                  <a:srgbClr val="999999"/>
                </a:solidFill>
                <a:latin typeface="Inter"/>
                <a:ea typeface="Inter"/>
                <a:cs typeface="Inter"/>
                <a:sym typeface="Inter"/>
              </a:rPr>
              <a:t> an LLM that I can trust</a:t>
            </a:r>
            <a:r>
              <a:rPr lang="en">
                <a:solidFill>
                  <a:srgbClr val="999999"/>
                </a:solidFill>
                <a:latin typeface="Inter"/>
                <a:ea typeface="Inter"/>
                <a:cs typeface="Inter"/>
                <a:sym typeface="Inter"/>
              </a:rPr>
              <a:t>.”</a:t>
            </a:r>
            <a:endParaRPr>
              <a:solidFill>
                <a:srgbClr val="999999"/>
              </a:solidFill>
              <a:latin typeface="Inter"/>
              <a:ea typeface="Inter"/>
              <a:cs typeface="Inter"/>
              <a:sym typeface="Inter"/>
            </a:endParaRPr>
          </a:p>
        </p:txBody>
      </p:sp>
      <p:sp>
        <p:nvSpPr>
          <p:cNvPr id="335" name="Google Shape;335;p45"/>
          <p:cNvSpPr txBox="1"/>
          <p:nvPr/>
        </p:nvSpPr>
        <p:spPr>
          <a:xfrm>
            <a:off x="311700" y="2035975"/>
            <a:ext cx="8264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Inter"/>
                <a:ea typeface="Inter"/>
                <a:cs typeface="Inter"/>
                <a:sym typeface="Inter"/>
              </a:rPr>
              <a:t>“</a:t>
            </a:r>
            <a:r>
              <a:rPr i="1" lang="en">
                <a:latin typeface="Inter"/>
                <a:ea typeface="Inter"/>
                <a:cs typeface="Inter"/>
                <a:sym typeface="Inter"/>
              </a:rPr>
              <a:t>When I can't make it to campus for office hours, a customized LLM can </a:t>
            </a:r>
            <a:r>
              <a:rPr b="1" i="1" lang="en">
                <a:latin typeface="Inter"/>
                <a:ea typeface="Inter"/>
                <a:cs typeface="Inter"/>
                <a:sym typeface="Inter"/>
              </a:rPr>
              <a:t>help take the place of office hours</a:t>
            </a:r>
            <a:r>
              <a:rPr i="1" lang="en">
                <a:latin typeface="Inter"/>
                <a:ea typeface="Inter"/>
                <a:cs typeface="Inter"/>
                <a:sym typeface="Inter"/>
              </a:rPr>
              <a:t> and offer help with specific homework questions.</a:t>
            </a:r>
            <a:r>
              <a:rPr lang="en">
                <a:latin typeface="Inter"/>
                <a:ea typeface="Inter"/>
                <a:cs typeface="Inter"/>
                <a:sym typeface="Inter"/>
              </a:rPr>
              <a:t>”</a:t>
            </a:r>
            <a:endParaRPr>
              <a:latin typeface="Inter"/>
              <a:ea typeface="Inter"/>
              <a:cs typeface="Inter"/>
              <a:sym typeface="Inter"/>
            </a:endParaRPr>
          </a:p>
        </p:txBody>
      </p:sp>
      <p:sp>
        <p:nvSpPr>
          <p:cNvPr id="336" name="Google Shape;336;p45"/>
          <p:cNvSpPr txBox="1"/>
          <p:nvPr/>
        </p:nvSpPr>
        <p:spPr>
          <a:xfrm>
            <a:off x="311700" y="3885575"/>
            <a:ext cx="8184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99999"/>
                </a:solidFill>
                <a:latin typeface="Inter"/>
                <a:ea typeface="Inter"/>
                <a:cs typeface="Inter"/>
                <a:sym typeface="Inter"/>
              </a:rPr>
              <a:t>“</a:t>
            </a:r>
            <a:r>
              <a:rPr i="1" lang="en">
                <a:solidFill>
                  <a:srgbClr val="999999"/>
                </a:solidFill>
                <a:latin typeface="Inter"/>
                <a:ea typeface="Inter"/>
                <a:cs typeface="Inter"/>
                <a:sym typeface="Inter"/>
              </a:rPr>
              <a:t>I like having the </a:t>
            </a:r>
            <a:r>
              <a:rPr b="1" i="1" lang="en">
                <a:solidFill>
                  <a:srgbClr val="999999"/>
                </a:solidFill>
                <a:latin typeface="Inter"/>
                <a:ea typeface="Inter"/>
                <a:cs typeface="Inter"/>
                <a:sym typeface="Inter"/>
              </a:rPr>
              <a:t>freedom with restrictions</a:t>
            </a:r>
            <a:r>
              <a:rPr i="1" lang="en">
                <a:solidFill>
                  <a:srgbClr val="999999"/>
                </a:solidFill>
                <a:latin typeface="Inter"/>
                <a:ea typeface="Inter"/>
                <a:cs typeface="Inter"/>
                <a:sym typeface="Inter"/>
              </a:rPr>
              <a:t>. I know myself and I know that if I use something like ChatGPT I will not actually learn the material.</a:t>
            </a:r>
            <a:r>
              <a:rPr lang="en">
                <a:solidFill>
                  <a:srgbClr val="999999"/>
                </a:solidFill>
                <a:latin typeface="Inter"/>
                <a:ea typeface="Inter"/>
                <a:cs typeface="Inter"/>
                <a:sym typeface="Inter"/>
              </a:rPr>
              <a:t>”</a:t>
            </a:r>
            <a:endParaRPr>
              <a:solidFill>
                <a:srgbClr val="999999"/>
              </a:solidFill>
              <a:latin typeface="Inter"/>
              <a:ea typeface="Inter"/>
              <a:cs typeface="Inter"/>
              <a:sym typeface="Inter"/>
            </a:endParaRPr>
          </a:p>
        </p:txBody>
      </p:sp>
      <p:sp>
        <p:nvSpPr>
          <p:cNvPr id="337" name="Google Shape;337;p45"/>
          <p:cNvSpPr txBox="1"/>
          <p:nvPr/>
        </p:nvSpPr>
        <p:spPr>
          <a:xfrm>
            <a:off x="311700" y="4460000"/>
            <a:ext cx="826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rgbClr val="999999"/>
              </a:solidFill>
              <a:latin typeface="Inter"/>
              <a:ea typeface="Inter"/>
              <a:cs typeface="Inter"/>
              <a:sym typeface="Inte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Inter"/>
                <a:ea typeface="Inter"/>
                <a:cs typeface="Inter"/>
                <a:sym typeface="Inter"/>
              </a:rPr>
              <a:t>Not a single student wants to ban LLMs!</a:t>
            </a:r>
            <a:endParaRPr>
              <a:latin typeface="Inter"/>
              <a:ea typeface="Inter"/>
              <a:cs typeface="Inter"/>
              <a:sym typeface="Inter"/>
            </a:endParaRPr>
          </a:p>
        </p:txBody>
      </p:sp>
      <p:sp>
        <p:nvSpPr>
          <p:cNvPr id="343" name="Google Shape;343;p46"/>
          <p:cNvSpPr txBox="1"/>
          <p:nvPr/>
        </p:nvSpPr>
        <p:spPr>
          <a:xfrm>
            <a:off x="311700" y="921025"/>
            <a:ext cx="6304500" cy="6264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1200"/>
              </a:spcAft>
              <a:buNone/>
            </a:pPr>
            <a:r>
              <a:rPr lang="en" u="sng">
                <a:solidFill>
                  <a:schemeClr val="dk1"/>
                </a:solidFill>
                <a:latin typeface="Inter"/>
                <a:ea typeface="Inter"/>
                <a:cs typeface="Inter"/>
                <a:sym typeface="Inter"/>
              </a:rPr>
              <a:t>Question</a:t>
            </a:r>
            <a:r>
              <a:rPr lang="en">
                <a:solidFill>
                  <a:schemeClr val="dk1"/>
                </a:solidFill>
                <a:latin typeface="Inter"/>
                <a:ea typeface="Inter"/>
                <a:cs typeface="Inter"/>
                <a:sym typeface="Inter"/>
              </a:rPr>
              <a:t>: </a:t>
            </a:r>
            <a:r>
              <a:rPr lang="en">
                <a:solidFill>
                  <a:srgbClr val="202124"/>
                </a:solidFill>
                <a:highlight>
                  <a:srgbClr val="FFFFFF"/>
                </a:highlight>
                <a:latin typeface="Inter"/>
                <a:ea typeface="Inter"/>
                <a:cs typeface="Inter"/>
                <a:sym typeface="Inter"/>
              </a:rPr>
              <a:t>Please elaborate on your response to the previous question. Why do you prefer your chosen option?</a:t>
            </a:r>
            <a:endParaRPr>
              <a:solidFill>
                <a:schemeClr val="dk1"/>
              </a:solidFill>
              <a:latin typeface="Inter"/>
              <a:ea typeface="Inter"/>
              <a:cs typeface="Inter"/>
              <a:sym typeface="Inter"/>
            </a:endParaRPr>
          </a:p>
        </p:txBody>
      </p:sp>
      <p:sp>
        <p:nvSpPr>
          <p:cNvPr id="344" name="Google Shape;344;p46"/>
          <p:cNvSpPr txBox="1"/>
          <p:nvPr/>
        </p:nvSpPr>
        <p:spPr>
          <a:xfrm>
            <a:off x="311700" y="2082000"/>
            <a:ext cx="8264700" cy="2419200"/>
          </a:xfrm>
          <a:prstGeom prst="rect">
            <a:avLst/>
          </a:prstGeom>
          <a:noFill/>
          <a:ln cap="flat" cmpd="sng" w="19050">
            <a:solidFill>
              <a:srgbClr val="FF7F5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600">
              <a:latin typeface="Source Code Pro"/>
              <a:ea typeface="Source Code Pro"/>
              <a:cs typeface="Source Code Pro"/>
              <a:sym typeface="Source Code Pro"/>
            </a:endParaRPr>
          </a:p>
        </p:txBody>
      </p:sp>
      <p:sp>
        <p:nvSpPr>
          <p:cNvPr id="345" name="Google Shape;345;p46"/>
          <p:cNvSpPr txBox="1"/>
          <p:nvPr/>
        </p:nvSpPr>
        <p:spPr>
          <a:xfrm>
            <a:off x="311700" y="1620300"/>
            <a:ext cx="7957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800">
                <a:solidFill>
                  <a:schemeClr val="dk1"/>
                </a:solidFill>
                <a:latin typeface="Inter"/>
                <a:ea typeface="Inter"/>
                <a:cs typeface="Inter"/>
                <a:sym typeface="Inter"/>
              </a:rPr>
              <a:t>Those who prefer allowing only customized chatbots: </a:t>
            </a:r>
            <a:r>
              <a:rPr b="1" lang="en" sz="1800">
                <a:solidFill>
                  <a:schemeClr val="dk1"/>
                </a:solidFill>
                <a:latin typeface="Inter"/>
                <a:ea typeface="Inter"/>
                <a:cs typeface="Inter"/>
                <a:sym typeface="Inter"/>
              </a:rPr>
              <a:t>57%</a:t>
            </a:r>
            <a:endParaRPr>
              <a:latin typeface="Inter"/>
              <a:ea typeface="Inter"/>
              <a:cs typeface="Inter"/>
              <a:sym typeface="Inter"/>
            </a:endParaRPr>
          </a:p>
        </p:txBody>
      </p:sp>
      <p:sp>
        <p:nvSpPr>
          <p:cNvPr id="346" name="Google Shape;346;p46"/>
          <p:cNvSpPr txBox="1"/>
          <p:nvPr/>
        </p:nvSpPr>
        <p:spPr>
          <a:xfrm>
            <a:off x="311700" y="2752688"/>
            <a:ext cx="8264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Inter"/>
                <a:ea typeface="Inter"/>
                <a:cs typeface="Inter"/>
                <a:sym typeface="Inter"/>
              </a:rPr>
              <a:t>“</a:t>
            </a:r>
            <a:r>
              <a:rPr b="1" i="1" lang="en">
                <a:latin typeface="Inter"/>
                <a:ea typeface="Inter"/>
                <a:cs typeface="Inter"/>
                <a:sym typeface="Inter"/>
              </a:rPr>
              <a:t>Any LLM is just harmful </a:t>
            </a:r>
            <a:r>
              <a:rPr i="1" lang="en">
                <a:latin typeface="Inter"/>
                <a:ea typeface="Inter"/>
                <a:cs typeface="Inter"/>
                <a:sym typeface="Inter"/>
              </a:rPr>
              <a:t>for student's learning, but I feel like I am able to leave PingPong actually </a:t>
            </a:r>
            <a:r>
              <a:rPr b="1" i="1" lang="en">
                <a:latin typeface="Inter"/>
                <a:ea typeface="Inter"/>
                <a:cs typeface="Inter"/>
                <a:sym typeface="Inter"/>
              </a:rPr>
              <a:t>understanding</a:t>
            </a:r>
            <a:r>
              <a:rPr i="1" lang="en">
                <a:latin typeface="Inter"/>
                <a:ea typeface="Inter"/>
                <a:cs typeface="Inter"/>
                <a:sym typeface="Inter"/>
              </a:rPr>
              <a:t> concepts and material.</a:t>
            </a:r>
            <a:r>
              <a:rPr lang="en">
                <a:latin typeface="Inter"/>
                <a:ea typeface="Inter"/>
                <a:cs typeface="Inter"/>
                <a:sym typeface="Inter"/>
              </a:rPr>
              <a:t>”</a:t>
            </a:r>
            <a:endParaRPr>
              <a:latin typeface="Inter"/>
              <a:ea typeface="Inter"/>
              <a:cs typeface="Inter"/>
              <a:sym typeface="Inter"/>
            </a:endParaRPr>
          </a:p>
        </p:txBody>
      </p:sp>
      <p:sp>
        <p:nvSpPr>
          <p:cNvPr id="347" name="Google Shape;347;p46"/>
          <p:cNvSpPr txBox="1"/>
          <p:nvPr/>
        </p:nvSpPr>
        <p:spPr>
          <a:xfrm>
            <a:off x="311700" y="3426838"/>
            <a:ext cx="826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99999"/>
                </a:solidFill>
                <a:latin typeface="Inter"/>
                <a:ea typeface="Inter"/>
                <a:cs typeface="Inter"/>
                <a:sym typeface="Inter"/>
              </a:rPr>
              <a:t>“</a:t>
            </a:r>
            <a:r>
              <a:rPr i="1" lang="en">
                <a:solidFill>
                  <a:srgbClr val="999999"/>
                </a:solidFill>
                <a:latin typeface="Inter"/>
                <a:ea typeface="Inter"/>
                <a:cs typeface="Inter"/>
                <a:sym typeface="Inter"/>
              </a:rPr>
              <a:t>I like when I know the instructor can </a:t>
            </a:r>
            <a:r>
              <a:rPr b="1" i="1" lang="en">
                <a:solidFill>
                  <a:srgbClr val="999999"/>
                </a:solidFill>
                <a:latin typeface="Inter"/>
                <a:ea typeface="Inter"/>
                <a:cs typeface="Inter"/>
                <a:sym typeface="Inter"/>
              </a:rPr>
              <a:t>customize and suggest</a:t>
            </a:r>
            <a:r>
              <a:rPr i="1" lang="en">
                <a:solidFill>
                  <a:srgbClr val="999999"/>
                </a:solidFill>
                <a:latin typeface="Inter"/>
                <a:ea typeface="Inter"/>
                <a:cs typeface="Inter"/>
                <a:sym typeface="Inter"/>
              </a:rPr>
              <a:t> an LLM that I can trust</a:t>
            </a:r>
            <a:r>
              <a:rPr lang="en">
                <a:solidFill>
                  <a:srgbClr val="999999"/>
                </a:solidFill>
                <a:latin typeface="Inter"/>
                <a:ea typeface="Inter"/>
                <a:cs typeface="Inter"/>
                <a:sym typeface="Inter"/>
              </a:rPr>
              <a:t>.”</a:t>
            </a:r>
            <a:endParaRPr>
              <a:solidFill>
                <a:srgbClr val="999999"/>
              </a:solidFill>
              <a:latin typeface="Inter"/>
              <a:ea typeface="Inter"/>
              <a:cs typeface="Inter"/>
              <a:sym typeface="Inter"/>
            </a:endParaRPr>
          </a:p>
        </p:txBody>
      </p:sp>
      <p:sp>
        <p:nvSpPr>
          <p:cNvPr id="348" name="Google Shape;348;p46"/>
          <p:cNvSpPr txBox="1"/>
          <p:nvPr/>
        </p:nvSpPr>
        <p:spPr>
          <a:xfrm>
            <a:off x="311700" y="2035975"/>
            <a:ext cx="8264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99999"/>
                </a:solidFill>
                <a:latin typeface="Inter"/>
                <a:ea typeface="Inter"/>
                <a:cs typeface="Inter"/>
                <a:sym typeface="Inter"/>
              </a:rPr>
              <a:t>“</a:t>
            </a:r>
            <a:r>
              <a:rPr i="1" lang="en">
                <a:solidFill>
                  <a:srgbClr val="999999"/>
                </a:solidFill>
                <a:latin typeface="Inter"/>
                <a:ea typeface="Inter"/>
                <a:cs typeface="Inter"/>
                <a:sym typeface="Inter"/>
              </a:rPr>
              <a:t>When I can't make it to campus for office hours, a customized LLM can </a:t>
            </a:r>
            <a:r>
              <a:rPr b="1" i="1" lang="en">
                <a:solidFill>
                  <a:srgbClr val="999999"/>
                </a:solidFill>
                <a:latin typeface="Inter"/>
                <a:ea typeface="Inter"/>
                <a:cs typeface="Inter"/>
                <a:sym typeface="Inter"/>
              </a:rPr>
              <a:t>help take the place of office hours</a:t>
            </a:r>
            <a:r>
              <a:rPr i="1" lang="en">
                <a:solidFill>
                  <a:srgbClr val="999999"/>
                </a:solidFill>
                <a:latin typeface="Inter"/>
                <a:ea typeface="Inter"/>
                <a:cs typeface="Inter"/>
                <a:sym typeface="Inter"/>
              </a:rPr>
              <a:t> and offer help with specific homework questions.</a:t>
            </a:r>
            <a:r>
              <a:rPr lang="en">
                <a:solidFill>
                  <a:srgbClr val="999999"/>
                </a:solidFill>
                <a:latin typeface="Inter"/>
                <a:ea typeface="Inter"/>
                <a:cs typeface="Inter"/>
                <a:sym typeface="Inter"/>
              </a:rPr>
              <a:t>”</a:t>
            </a:r>
            <a:endParaRPr>
              <a:solidFill>
                <a:srgbClr val="999999"/>
              </a:solidFill>
              <a:latin typeface="Inter"/>
              <a:ea typeface="Inter"/>
              <a:cs typeface="Inter"/>
              <a:sym typeface="Inter"/>
            </a:endParaRPr>
          </a:p>
        </p:txBody>
      </p:sp>
      <p:sp>
        <p:nvSpPr>
          <p:cNvPr id="349" name="Google Shape;349;p46"/>
          <p:cNvSpPr txBox="1"/>
          <p:nvPr/>
        </p:nvSpPr>
        <p:spPr>
          <a:xfrm>
            <a:off x="311700" y="3885575"/>
            <a:ext cx="8184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99999"/>
                </a:solidFill>
                <a:latin typeface="Inter"/>
                <a:ea typeface="Inter"/>
                <a:cs typeface="Inter"/>
                <a:sym typeface="Inter"/>
              </a:rPr>
              <a:t>“</a:t>
            </a:r>
            <a:r>
              <a:rPr i="1" lang="en">
                <a:solidFill>
                  <a:srgbClr val="999999"/>
                </a:solidFill>
                <a:latin typeface="Inter"/>
                <a:ea typeface="Inter"/>
                <a:cs typeface="Inter"/>
                <a:sym typeface="Inter"/>
              </a:rPr>
              <a:t>I like having the </a:t>
            </a:r>
            <a:r>
              <a:rPr b="1" i="1" lang="en">
                <a:solidFill>
                  <a:srgbClr val="999999"/>
                </a:solidFill>
                <a:latin typeface="Inter"/>
                <a:ea typeface="Inter"/>
                <a:cs typeface="Inter"/>
                <a:sym typeface="Inter"/>
              </a:rPr>
              <a:t>freedom with restrictions</a:t>
            </a:r>
            <a:r>
              <a:rPr i="1" lang="en">
                <a:solidFill>
                  <a:srgbClr val="999999"/>
                </a:solidFill>
                <a:latin typeface="Inter"/>
                <a:ea typeface="Inter"/>
                <a:cs typeface="Inter"/>
                <a:sym typeface="Inter"/>
              </a:rPr>
              <a:t>. I know myself and I know that if I use something like ChatGPT I will not actually learn the material.</a:t>
            </a:r>
            <a:r>
              <a:rPr lang="en">
                <a:solidFill>
                  <a:srgbClr val="999999"/>
                </a:solidFill>
                <a:latin typeface="Inter"/>
                <a:ea typeface="Inter"/>
                <a:cs typeface="Inter"/>
                <a:sym typeface="Inter"/>
              </a:rPr>
              <a:t>”</a:t>
            </a:r>
            <a:endParaRPr>
              <a:solidFill>
                <a:srgbClr val="999999"/>
              </a:solidFill>
              <a:latin typeface="Inter"/>
              <a:ea typeface="Inter"/>
              <a:cs typeface="Inter"/>
              <a:sym typeface="Inter"/>
            </a:endParaRPr>
          </a:p>
        </p:txBody>
      </p:sp>
      <p:sp>
        <p:nvSpPr>
          <p:cNvPr id="350" name="Google Shape;350;p46"/>
          <p:cNvSpPr txBox="1"/>
          <p:nvPr/>
        </p:nvSpPr>
        <p:spPr>
          <a:xfrm>
            <a:off x="311700" y="4460000"/>
            <a:ext cx="826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rgbClr val="999999"/>
              </a:solidFill>
              <a:latin typeface="Inter"/>
              <a:ea typeface="Inter"/>
              <a:cs typeface="Inter"/>
              <a:sym typeface="Inte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Inter"/>
                <a:ea typeface="Inter"/>
                <a:cs typeface="Inter"/>
                <a:sym typeface="Inter"/>
              </a:rPr>
              <a:t>Not a single student wants to ban LLMs!</a:t>
            </a:r>
            <a:endParaRPr>
              <a:latin typeface="Inter"/>
              <a:ea typeface="Inter"/>
              <a:cs typeface="Inter"/>
              <a:sym typeface="Inter"/>
            </a:endParaRPr>
          </a:p>
        </p:txBody>
      </p:sp>
      <p:sp>
        <p:nvSpPr>
          <p:cNvPr id="356" name="Google Shape;356;p47"/>
          <p:cNvSpPr txBox="1"/>
          <p:nvPr/>
        </p:nvSpPr>
        <p:spPr>
          <a:xfrm>
            <a:off x="311700" y="921025"/>
            <a:ext cx="6304500" cy="6264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1200"/>
              </a:spcAft>
              <a:buNone/>
            </a:pPr>
            <a:r>
              <a:rPr lang="en" u="sng">
                <a:solidFill>
                  <a:schemeClr val="dk1"/>
                </a:solidFill>
                <a:latin typeface="Inter"/>
                <a:ea typeface="Inter"/>
                <a:cs typeface="Inter"/>
                <a:sym typeface="Inter"/>
              </a:rPr>
              <a:t>Question</a:t>
            </a:r>
            <a:r>
              <a:rPr lang="en">
                <a:solidFill>
                  <a:schemeClr val="dk1"/>
                </a:solidFill>
                <a:latin typeface="Inter"/>
                <a:ea typeface="Inter"/>
                <a:cs typeface="Inter"/>
                <a:sym typeface="Inter"/>
              </a:rPr>
              <a:t>: </a:t>
            </a:r>
            <a:r>
              <a:rPr lang="en">
                <a:solidFill>
                  <a:srgbClr val="202124"/>
                </a:solidFill>
                <a:highlight>
                  <a:srgbClr val="FFFFFF"/>
                </a:highlight>
                <a:latin typeface="Inter"/>
                <a:ea typeface="Inter"/>
                <a:cs typeface="Inter"/>
                <a:sym typeface="Inter"/>
              </a:rPr>
              <a:t>Please elaborate on your response to the previous question. Why do you prefer your chosen option?</a:t>
            </a:r>
            <a:endParaRPr>
              <a:solidFill>
                <a:schemeClr val="dk1"/>
              </a:solidFill>
              <a:latin typeface="Inter"/>
              <a:ea typeface="Inter"/>
              <a:cs typeface="Inter"/>
              <a:sym typeface="Inter"/>
            </a:endParaRPr>
          </a:p>
        </p:txBody>
      </p:sp>
      <p:sp>
        <p:nvSpPr>
          <p:cNvPr id="357" name="Google Shape;357;p47"/>
          <p:cNvSpPr txBox="1"/>
          <p:nvPr/>
        </p:nvSpPr>
        <p:spPr>
          <a:xfrm>
            <a:off x="311700" y="2082000"/>
            <a:ext cx="8264700" cy="2419200"/>
          </a:xfrm>
          <a:prstGeom prst="rect">
            <a:avLst/>
          </a:prstGeom>
          <a:noFill/>
          <a:ln cap="flat" cmpd="sng" w="19050">
            <a:solidFill>
              <a:srgbClr val="FF7F5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600">
              <a:latin typeface="Source Code Pro"/>
              <a:ea typeface="Source Code Pro"/>
              <a:cs typeface="Source Code Pro"/>
              <a:sym typeface="Source Code Pro"/>
            </a:endParaRPr>
          </a:p>
        </p:txBody>
      </p:sp>
      <p:sp>
        <p:nvSpPr>
          <p:cNvPr id="358" name="Google Shape;358;p47"/>
          <p:cNvSpPr txBox="1"/>
          <p:nvPr/>
        </p:nvSpPr>
        <p:spPr>
          <a:xfrm>
            <a:off x="311700" y="1620300"/>
            <a:ext cx="7957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800">
                <a:solidFill>
                  <a:schemeClr val="dk1"/>
                </a:solidFill>
                <a:latin typeface="Inter"/>
                <a:ea typeface="Inter"/>
                <a:cs typeface="Inter"/>
                <a:sym typeface="Inter"/>
              </a:rPr>
              <a:t>Those who prefer allowing only customized chatbots: </a:t>
            </a:r>
            <a:r>
              <a:rPr b="1" lang="en" sz="1800">
                <a:solidFill>
                  <a:schemeClr val="dk1"/>
                </a:solidFill>
                <a:latin typeface="Inter"/>
                <a:ea typeface="Inter"/>
                <a:cs typeface="Inter"/>
                <a:sym typeface="Inter"/>
              </a:rPr>
              <a:t>57%</a:t>
            </a:r>
            <a:endParaRPr>
              <a:latin typeface="Inter"/>
              <a:ea typeface="Inter"/>
              <a:cs typeface="Inter"/>
              <a:sym typeface="Inter"/>
            </a:endParaRPr>
          </a:p>
        </p:txBody>
      </p:sp>
      <p:sp>
        <p:nvSpPr>
          <p:cNvPr id="359" name="Google Shape;359;p47"/>
          <p:cNvSpPr txBox="1"/>
          <p:nvPr/>
        </p:nvSpPr>
        <p:spPr>
          <a:xfrm>
            <a:off x="311700" y="2752688"/>
            <a:ext cx="8264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99999"/>
                </a:solidFill>
                <a:latin typeface="Inter"/>
                <a:ea typeface="Inter"/>
                <a:cs typeface="Inter"/>
                <a:sym typeface="Inter"/>
              </a:rPr>
              <a:t>“</a:t>
            </a:r>
            <a:r>
              <a:rPr b="1" i="1" lang="en">
                <a:solidFill>
                  <a:srgbClr val="999999"/>
                </a:solidFill>
                <a:latin typeface="Inter"/>
                <a:ea typeface="Inter"/>
                <a:cs typeface="Inter"/>
                <a:sym typeface="Inter"/>
              </a:rPr>
              <a:t>Any LLM is just harmful </a:t>
            </a:r>
            <a:r>
              <a:rPr i="1" lang="en">
                <a:solidFill>
                  <a:srgbClr val="999999"/>
                </a:solidFill>
                <a:latin typeface="Inter"/>
                <a:ea typeface="Inter"/>
                <a:cs typeface="Inter"/>
                <a:sym typeface="Inter"/>
              </a:rPr>
              <a:t>for student's learning, but I feel like I am able to leave PingPong actually </a:t>
            </a:r>
            <a:r>
              <a:rPr b="1" i="1" lang="en">
                <a:solidFill>
                  <a:srgbClr val="999999"/>
                </a:solidFill>
                <a:latin typeface="Inter"/>
                <a:ea typeface="Inter"/>
                <a:cs typeface="Inter"/>
                <a:sym typeface="Inter"/>
              </a:rPr>
              <a:t>understanding</a:t>
            </a:r>
            <a:r>
              <a:rPr i="1" lang="en">
                <a:solidFill>
                  <a:srgbClr val="999999"/>
                </a:solidFill>
                <a:latin typeface="Inter"/>
                <a:ea typeface="Inter"/>
                <a:cs typeface="Inter"/>
                <a:sym typeface="Inter"/>
              </a:rPr>
              <a:t> concepts and material.</a:t>
            </a:r>
            <a:r>
              <a:rPr lang="en">
                <a:solidFill>
                  <a:srgbClr val="999999"/>
                </a:solidFill>
                <a:latin typeface="Inter"/>
                <a:ea typeface="Inter"/>
                <a:cs typeface="Inter"/>
                <a:sym typeface="Inter"/>
              </a:rPr>
              <a:t>”</a:t>
            </a:r>
            <a:endParaRPr>
              <a:solidFill>
                <a:srgbClr val="999999"/>
              </a:solidFill>
              <a:latin typeface="Inter"/>
              <a:ea typeface="Inter"/>
              <a:cs typeface="Inter"/>
              <a:sym typeface="Inter"/>
            </a:endParaRPr>
          </a:p>
        </p:txBody>
      </p:sp>
      <p:sp>
        <p:nvSpPr>
          <p:cNvPr id="360" name="Google Shape;360;p47"/>
          <p:cNvSpPr txBox="1"/>
          <p:nvPr/>
        </p:nvSpPr>
        <p:spPr>
          <a:xfrm>
            <a:off x="311700" y="3426838"/>
            <a:ext cx="826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Inter"/>
                <a:ea typeface="Inter"/>
                <a:cs typeface="Inter"/>
                <a:sym typeface="Inter"/>
              </a:rPr>
              <a:t>“</a:t>
            </a:r>
            <a:r>
              <a:rPr i="1" lang="en">
                <a:latin typeface="Inter"/>
                <a:ea typeface="Inter"/>
                <a:cs typeface="Inter"/>
                <a:sym typeface="Inter"/>
              </a:rPr>
              <a:t>I like when I know the instructor can </a:t>
            </a:r>
            <a:r>
              <a:rPr b="1" i="1" lang="en">
                <a:latin typeface="Inter"/>
                <a:ea typeface="Inter"/>
                <a:cs typeface="Inter"/>
                <a:sym typeface="Inter"/>
              </a:rPr>
              <a:t>customize and suggest</a:t>
            </a:r>
            <a:r>
              <a:rPr i="1" lang="en">
                <a:latin typeface="Inter"/>
                <a:ea typeface="Inter"/>
                <a:cs typeface="Inter"/>
                <a:sym typeface="Inter"/>
              </a:rPr>
              <a:t> an LLM that I can trust</a:t>
            </a:r>
            <a:r>
              <a:rPr lang="en">
                <a:latin typeface="Inter"/>
                <a:ea typeface="Inter"/>
                <a:cs typeface="Inter"/>
                <a:sym typeface="Inter"/>
              </a:rPr>
              <a:t>.”</a:t>
            </a:r>
            <a:endParaRPr>
              <a:latin typeface="Inter"/>
              <a:ea typeface="Inter"/>
              <a:cs typeface="Inter"/>
              <a:sym typeface="Inter"/>
            </a:endParaRPr>
          </a:p>
        </p:txBody>
      </p:sp>
      <p:sp>
        <p:nvSpPr>
          <p:cNvPr id="361" name="Google Shape;361;p47"/>
          <p:cNvSpPr txBox="1"/>
          <p:nvPr/>
        </p:nvSpPr>
        <p:spPr>
          <a:xfrm>
            <a:off x="311700" y="2035975"/>
            <a:ext cx="8264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99999"/>
                </a:solidFill>
                <a:latin typeface="Inter"/>
                <a:ea typeface="Inter"/>
                <a:cs typeface="Inter"/>
                <a:sym typeface="Inter"/>
              </a:rPr>
              <a:t>“</a:t>
            </a:r>
            <a:r>
              <a:rPr i="1" lang="en">
                <a:solidFill>
                  <a:srgbClr val="999999"/>
                </a:solidFill>
                <a:latin typeface="Inter"/>
                <a:ea typeface="Inter"/>
                <a:cs typeface="Inter"/>
                <a:sym typeface="Inter"/>
              </a:rPr>
              <a:t>When I can't make it to campus for office hours, a customized LLM can </a:t>
            </a:r>
            <a:r>
              <a:rPr b="1" i="1" lang="en">
                <a:solidFill>
                  <a:srgbClr val="999999"/>
                </a:solidFill>
                <a:latin typeface="Inter"/>
                <a:ea typeface="Inter"/>
                <a:cs typeface="Inter"/>
                <a:sym typeface="Inter"/>
              </a:rPr>
              <a:t>help take the place of office hours</a:t>
            </a:r>
            <a:r>
              <a:rPr i="1" lang="en">
                <a:solidFill>
                  <a:srgbClr val="999999"/>
                </a:solidFill>
                <a:latin typeface="Inter"/>
                <a:ea typeface="Inter"/>
                <a:cs typeface="Inter"/>
                <a:sym typeface="Inter"/>
              </a:rPr>
              <a:t> and offer help with specific homework questions.</a:t>
            </a:r>
            <a:r>
              <a:rPr lang="en">
                <a:solidFill>
                  <a:srgbClr val="999999"/>
                </a:solidFill>
                <a:latin typeface="Inter"/>
                <a:ea typeface="Inter"/>
                <a:cs typeface="Inter"/>
                <a:sym typeface="Inter"/>
              </a:rPr>
              <a:t>”</a:t>
            </a:r>
            <a:endParaRPr>
              <a:solidFill>
                <a:srgbClr val="999999"/>
              </a:solidFill>
              <a:latin typeface="Inter"/>
              <a:ea typeface="Inter"/>
              <a:cs typeface="Inter"/>
              <a:sym typeface="Inter"/>
            </a:endParaRPr>
          </a:p>
        </p:txBody>
      </p:sp>
      <p:sp>
        <p:nvSpPr>
          <p:cNvPr id="362" name="Google Shape;362;p47"/>
          <p:cNvSpPr txBox="1"/>
          <p:nvPr/>
        </p:nvSpPr>
        <p:spPr>
          <a:xfrm>
            <a:off x="311700" y="3885575"/>
            <a:ext cx="8184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99999"/>
                </a:solidFill>
                <a:latin typeface="Inter"/>
                <a:ea typeface="Inter"/>
                <a:cs typeface="Inter"/>
                <a:sym typeface="Inter"/>
              </a:rPr>
              <a:t>“</a:t>
            </a:r>
            <a:r>
              <a:rPr i="1" lang="en">
                <a:solidFill>
                  <a:srgbClr val="999999"/>
                </a:solidFill>
                <a:latin typeface="Inter"/>
                <a:ea typeface="Inter"/>
                <a:cs typeface="Inter"/>
                <a:sym typeface="Inter"/>
              </a:rPr>
              <a:t>I like having the </a:t>
            </a:r>
            <a:r>
              <a:rPr b="1" i="1" lang="en">
                <a:solidFill>
                  <a:srgbClr val="999999"/>
                </a:solidFill>
                <a:latin typeface="Inter"/>
                <a:ea typeface="Inter"/>
                <a:cs typeface="Inter"/>
                <a:sym typeface="Inter"/>
              </a:rPr>
              <a:t>freedom with restrictions</a:t>
            </a:r>
            <a:r>
              <a:rPr i="1" lang="en">
                <a:solidFill>
                  <a:srgbClr val="999999"/>
                </a:solidFill>
                <a:latin typeface="Inter"/>
                <a:ea typeface="Inter"/>
                <a:cs typeface="Inter"/>
                <a:sym typeface="Inter"/>
              </a:rPr>
              <a:t>. I know myself and I know that if I use something like ChatGPT I will not actually learn the material.</a:t>
            </a:r>
            <a:r>
              <a:rPr lang="en">
                <a:solidFill>
                  <a:srgbClr val="999999"/>
                </a:solidFill>
                <a:latin typeface="Inter"/>
                <a:ea typeface="Inter"/>
                <a:cs typeface="Inter"/>
                <a:sym typeface="Inter"/>
              </a:rPr>
              <a:t>”</a:t>
            </a:r>
            <a:endParaRPr>
              <a:solidFill>
                <a:srgbClr val="999999"/>
              </a:solidFill>
              <a:latin typeface="Inter"/>
              <a:ea typeface="Inter"/>
              <a:cs typeface="Inter"/>
              <a:sym typeface="Inter"/>
            </a:endParaRPr>
          </a:p>
        </p:txBody>
      </p:sp>
      <p:sp>
        <p:nvSpPr>
          <p:cNvPr id="363" name="Google Shape;363;p47"/>
          <p:cNvSpPr txBox="1"/>
          <p:nvPr/>
        </p:nvSpPr>
        <p:spPr>
          <a:xfrm>
            <a:off x="311700" y="4460000"/>
            <a:ext cx="826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rgbClr val="999999"/>
              </a:solidFill>
              <a:latin typeface="Inter"/>
              <a:ea typeface="Inter"/>
              <a:cs typeface="Inter"/>
              <a:sym typeface="Inte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Inter"/>
                <a:ea typeface="Inter"/>
                <a:cs typeface="Inter"/>
                <a:sym typeface="Inter"/>
              </a:rPr>
              <a:t>Not a single student wants to ban LLMs!</a:t>
            </a:r>
            <a:endParaRPr>
              <a:latin typeface="Inter"/>
              <a:ea typeface="Inter"/>
              <a:cs typeface="Inter"/>
              <a:sym typeface="Inter"/>
            </a:endParaRPr>
          </a:p>
        </p:txBody>
      </p:sp>
      <p:sp>
        <p:nvSpPr>
          <p:cNvPr id="369" name="Google Shape;369;p48"/>
          <p:cNvSpPr txBox="1"/>
          <p:nvPr/>
        </p:nvSpPr>
        <p:spPr>
          <a:xfrm>
            <a:off x="311700" y="921025"/>
            <a:ext cx="6304500" cy="6264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1200"/>
              </a:spcAft>
              <a:buNone/>
            </a:pPr>
            <a:r>
              <a:rPr lang="en" u="sng">
                <a:solidFill>
                  <a:schemeClr val="dk1"/>
                </a:solidFill>
                <a:latin typeface="Inter"/>
                <a:ea typeface="Inter"/>
                <a:cs typeface="Inter"/>
                <a:sym typeface="Inter"/>
              </a:rPr>
              <a:t>Question</a:t>
            </a:r>
            <a:r>
              <a:rPr lang="en">
                <a:solidFill>
                  <a:schemeClr val="dk1"/>
                </a:solidFill>
                <a:latin typeface="Inter"/>
                <a:ea typeface="Inter"/>
                <a:cs typeface="Inter"/>
                <a:sym typeface="Inter"/>
              </a:rPr>
              <a:t>: </a:t>
            </a:r>
            <a:r>
              <a:rPr lang="en">
                <a:solidFill>
                  <a:srgbClr val="202124"/>
                </a:solidFill>
                <a:highlight>
                  <a:srgbClr val="FFFFFF"/>
                </a:highlight>
                <a:latin typeface="Inter"/>
                <a:ea typeface="Inter"/>
                <a:cs typeface="Inter"/>
                <a:sym typeface="Inter"/>
              </a:rPr>
              <a:t>Please elaborate on your response to the previous question. Why do you prefer your chosen option?</a:t>
            </a:r>
            <a:endParaRPr>
              <a:solidFill>
                <a:schemeClr val="dk1"/>
              </a:solidFill>
              <a:latin typeface="Inter"/>
              <a:ea typeface="Inter"/>
              <a:cs typeface="Inter"/>
              <a:sym typeface="Inter"/>
            </a:endParaRPr>
          </a:p>
        </p:txBody>
      </p:sp>
      <p:sp>
        <p:nvSpPr>
          <p:cNvPr id="370" name="Google Shape;370;p48"/>
          <p:cNvSpPr txBox="1"/>
          <p:nvPr/>
        </p:nvSpPr>
        <p:spPr>
          <a:xfrm>
            <a:off x="311700" y="2082000"/>
            <a:ext cx="8264700" cy="2419200"/>
          </a:xfrm>
          <a:prstGeom prst="rect">
            <a:avLst/>
          </a:prstGeom>
          <a:noFill/>
          <a:ln cap="flat" cmpd="sng" w="19050">
            <a:solidFill>
              <a:srgbClr val="FF7F5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600">
              <a:latin typeface="Source Code Pro"/>
              <a:ea typeface="Source Code Pro"/>
              <a:cs typeface="Source Code Pro"/>
              <a:sym typeface="Source Code Pro"/>
            </a:endParaRPr>
          </a:p>
        </p:txBody>
      </p:sp>
      <p:sp>
        <p:nvSpPr>
          <p:cNvPr id="371" name="Google Shape;371;p48"/>
          <p:cNvSpPr txBox="1"/>
          <p:nvPr/>
        </p:nvSpPr>
        <p:spPr>
          <a:xfrm>
            <a:off x="311700" y="1620300"/>
            <a:ext cx="7957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800">
                <a:solidFill>
                  <a:schemeClr val="dk1"/>
                </a:solidFill>
                <a:latin typeface="Inter"/>
                <a:ea typeface="Inter"/>
                <a:cs typeface="Inter"/>
                <a:sym typeface="Inter"/>
              </a:rPr>
              <a:t>Those who prefer allowing only customized chatbots: </a:t>
            </a:r>
            <a:r>
              <a:rPr b="1" lang="en" sz="1800">
                <a:solidFill>
                  <a:schemeClr val="dk1"/>
                </a:solidFill>
                <a:latin typeface="Inter"/>
                <a:ea typeface="Inter"/>
                <a:cs typeface="Inter"/>
                <a:sym typeface="Inter"/>
              </a:rPr>
              <a:t>57%</a:t>
            </a:r>
            <a:endParaRPr>
              <a:latin typeface="Inter"/>
              <a:ea typeface="Inter"/>
              <a:cs typeface="Inter"/>
              <a:sym typeface="Inter"/>
            </a:endParaRPr>
          </a:p>
        </p:txBody>
      </p:sp>
      <p:sp>
        <p:nvSpPr>
          <p:cNvPr id="372" name="Google Shape;372;p48"/>
          <p:cNvSpPr txBox="1"/>
          <p:nvPr/>
        </p:nvSpPr>
        <p:spPr>
          <a:xfrm>
            <a:off x="311700" y="2752688"/>
            <a:ext cx="8264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99999"/>
                </a:solidFill>
                <a:latin typeface="Inter"/>
                <a:ea typeface="Inter"/>
                <a:cs typeface="Inter"/>
                <a:sym typeface="Inter"/>
              </a:rPr>
              <a:t>“</a:t>
            </a:r>
            <a:r>
              <a:rPr b="1" i="1" lang="en">
                <a:solidFill>
                  <a:srgbClr val="999999"/>
                </a:solidFill>
                <a:latin typeface="Inter"/>
                <a:ea typeface="Inter"/>
                <a:cs typeface="Inter"/>
                <a:sym typeface="Inter"/>
              </a:rPr>
              <a:t>Any LLM is just harmful </a:t>
            </a:r>
            <a:r>
              <a:rPr i="1" lang="en">
                <a:solidFill>
                  <a:srgbClr val="999999"/>
                </a:solidFill>
                <a:latin typeface="Inter"/>
                <a:ea typeface="Inter"/>
                <a:cs typeface="Inter"/>
                <a:sym typeface="Inter"/>
              </a:rPr>
              <a:t>for student's learning, but I feel like I am able to leave PingPong actually </a:t>
            </a:r>
            <a:r>
              <a:rPr b="1" i="1" lang="en">
                <a:solidFill>
                  <a:srgbClr val="999999"/>
                </a:solidFill>
                <a:latin typeface="Inter"/>
                <a:ea typeface="Inter"/>
                <a:cs typeface="Inter"/>
                <a:sym typeface="Inter"/>
              </a:rPr>
              <a:t>understanding</a:t>
            </a:r>
            <a:r>
              <a:rPr i="1" lang="en">
                <a:solidFill>
                  <a:srgbClr val="999999"/>
                </a:solidFill>
                <a:latin typeface="Inter"/>
                <a:ea typeface="Inter"/>
                <a:cs typeface="Inter"/>
                <a:sym typeface="Inter"/>
              </a:rPr>
              <a:t> concepts and material.</a:t>
            </a:r>
            <a:r>
              <a:rPr lang="en">
                <a:solidFill>
                  <a:srgbClr val="999999"/>
                </a:solidFill>
                <a:latin typeface="Inter"/>
                <a:ea typeface="Inter"/>
                <a:cs typeface="Inter"/>
                <a:sym typeface="Inter"/>
              </a:rPr>
              <a:t>”</a:t>
            </a:r>
            <a:endParaRPr>
              <a:solidFill>
                <a:srgbClr val="999999"/>
              </a:solidFill>
              <a:latin typeface="Inter"/>
              <a:ea typeface="Inter"/>
              <a:cs typeface="Inter"/>
              <a:sym typeface="Inter"/>
            </a:endParaRPr>
          </a:p>
        </p:txBody>
      </p:sp>
      <p:sp>
        <p:nvSpPr>
          <p:cNvPr id="373" name="Google Shape;373;p48"/>
          <p:cNvSpPr txBox="1"/>
          <p:nvPr/>
        </p:nvSpPr>
        <p:spPr>
          <a:xfrm>
            <a:off x="311700" y="3426838"/>
            <a:ext cx="826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99999"/>
                </a:solidFill>
                <a:latin typeface="Inter"/>
                <a:ea typeface="Inter"/>
                <a:cs typeface="Inter"/>
                <a:sym typeface="Inter"/>
              </a:rPr>
              <a:t>“</a:t>
            </a:r>
            <a:r>
              <a:rPr i="1" lang="en">
                <a:solidFill>
                  <a:srgbClr val="999999"/>
                </a:solidFill>
                <a:latin typeface="Inter"/>
                <a:ea typeface="Inter"/>
                <a:cs typeface="Inter"/>
                <a:sym typeface="Inter"/>
              </a:rPr>
              <a:t>I like when I know the instructor can </a:t>
            </a:r>
            <a:r>
              <a:rPr b="1" i="1" lang="en">
                <a:solidFill>
                  <a:srgbClr val="999999"/>
                </a:solidFill>
                <a:latin typeface="Inter"/>
                <a:ea typeface="Inter"/>
                <a:cs typeface="Inter"/>
                <a:sym typeface="Inter"/>
              </a:rPr>
              <a:t>customize and suggest</a:t>
            </a:r>
            <a:r>
              <a:rPr i="1" lang="en">
                <a:solidFill>
                  <a:srgbClr val="999999"/>
                </a:solidFill>
                <a:latin typeface="Inter"/>
                <a:ea typeface="Inter"/>
                <a:cs typeface="Inter"/>
                <a:sym typeface="Inter"/>
              </a:rPr>
              <a:t> an LLM that I can trust</a:t>
            </a:r>
            <a:r>
              <a:rPr lang="en">
                <a:solidFill>
                  <a:srgbClr val="999999"/>
                </a:solidFill>
                <a:latin typeface="Inter"/>
                <a:ea typeface="Inter"/>
                <a:cs typeface="Inter"/>
                <a:sym typeface="Inter"/>
              </a:rPr>
              <a:t>.”</a:t>
            </a:r>
            <a:endParaRPr>
              <a:solidFill>
                <a:srgbClr val="999999"/>
              </a:solidFill>
              <a:latin typeface="Inter"/>
              <a:ea typeface="Inter"/>
              <a:cs typeface="Inter"/>
              <a:sym typeface="Inter"/>
            </a:endParaRPr>
          </a:p>
        </p:txBody>
      </p:sp>
      <p:sp>
        <p:nvSpPr>
          <p:cNvPr id="374" name="Google Shape;374;p48"/>
          <p:cNvSpPr txBox="1"/>
          <p:nvPr/>
        </p:nvSpPr>
        <p:spPr>
          <a:xfrm>
            <a:off x="311700" y="2035975"/>
            <a:ext cx="8264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99999"/>
                </a:solidFill>
                <a:latin typeface="Inter"/>
                <a:ea typeface="Inter"/>
                <a:cs typeface="Inter"/>
                <a:sym typeface="Inter"/>
              </a:rPr>
              <a:t>“</a:t>
            </a:r>
            <a:r>
              <a:rPr i="1" lang="en">
                <a:solidFill>
                  <a:srgbClr val="999999"/>
                </a:solidFill>
                <a:latin typeface="Inter"/>
                <a:ea typeface="Inter"/>
                <a:cs typeface="Inter"/>
                <a:sym typeface="Inter"/>
              </a:rPr>
              <a:t>When I can't make it to campus for office hours, a customized LLM can </a:t>
            </a:r>
            <a:r>
              <a:rPr b="1" i="1" lang="en">
                <a:solidFill>
                  <a:srgbClr val="999999"/>
                </a:solidFill>
                <a:latin typeface="Inter"/>
                <a:ea typeface="Inter"/>
                <a:cs typeface="Inter"/>
                <a:sym typeface="Inter"/>
              </a:rPr>
              <a:t>help take the place of office hours</a:t>
            </a:r>
            <a:r>
              <a:rPr i="1" lang="en">
                <a:solidFill>
                  <a:srgbClr val="999999"/>
                </a:solidFill>
                <a:latin typeface="Inter"/>
                <a:ea typeface="Inter"/>
                <a:cs typeface="Inter"/>
                <a:sym typeface="Inter"/>
              </a:rPr>
              <a:t> and offer help with specific homework questions.</a:t>
            </a:r>
            <a:r>
              <a:rPr lang="en">
                <a:solidFill>
                  <a:srgbClr val="999999"/>
                </a:solidFill>
                <a:latin typeface="Inter"/>
                <a:ea typeface="Inter"/>
                <a:cs typeface="Inter"/>
                <a:sym typeface="Inter"/>
              </a:rPr>
              <a:t>”</a:t>
            </a:r>
            <a:endParaRPr>
              <a:solidFill>
                <a:srgbClr val="999999"/>
              </a:solidFill>
              <a:latin typeface="Inter"/>
              <a:ea typeface="Inter"/>
              <a:cs typeface="Inter"/>
              <a:sym typeface="Inter"/>
            </a:endParaRPr>
          </a:p>
        </p:txBody>
      </p:sp>
      <p:sp>
        <p:nvSpPr>
          <p:cNvPr id="375" name="Google Shape;375;p48"/>
          <p:cNvSpPr txBox="1"/>
          <p:nvPr/>
        </p:nvSpPr>
        <p:spPr>
          <a:xfrm>
            <a:off x="311700" y="3885575"/>
            <a:ext cx="8184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Inter"/>
                <a:ea typeface="Inter"/>
                <a:cs typeface="Inter"/>
                <a:sym typeface="Inter"/>
              </a:rPr>
              <a:t>“</a:t>
            </a:r>
            <a:r>
              <a:rPr i="1" lang="en">
                <a:latin typeface="Inter"/>
                <a:ea typeface="Inter"/>
                <a:cs typeface="Inter"/>
                <a:sym typeface="Inter"/>
              </a:rPr>
              <a:t>I like having the </a:t>
            </a:r>
            <a:r>
              <a:rPr b="1" i="1" lang="en">
                <a:latin typeface="Inter"/>
                <a:ea typeface="Inter"/>
                <a:cs typeface="Inter"/>
                <a:sym typeface="Inter"/>
              </a:rPr>
              <a:t>freedom with restrictions</a:t>
            </a:r>
            <a:r>
              <a:rPr i="1" lang="en">
                <a:latin typeface="Inter"/>
                <a:ea typeface="Inter"/>
                <a:cs typeface="Inter"/>
                <a:sym typeface="Inter"/>
              </a:rPr>
              <a:t>. I know myself and I know that if I use something like ChatGPT I will not actually learn the material.</a:t>
            </a:r>
            <a:r>
              <a:rPr lang="en">
                <a:latin typeface="Inter"/>
                <a:ea typeface="Inter"/>
                <a:cs typeface="Inter"/>
                <a:sym typeface="Inter"/>
              </a:rPr>
              <a:t>”</a:t>
            </a:r>
            <a:endParaRPr>
              <a:latin typeface="Inter"/>
              <a:ea typeface="Inter"/>
              <a:cs typeface="Inter"/>
              <a:sym typeface="Inte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latin typeface="Inter"/>
                <a:ea typeface="Inter"/>
                <a:cs typeface="Inter"/>
                <a:sym typeface="Inter"/>
              </a:rPr>
              <a:t>Not a single student wants to ban LLMs!</a:t>
            </a:r>
            <a:endParaRPr>
              <a:latin typeface="Inter"/>
              <a:ea typeface="Inter"/>
              <a:cs typeface="Inter"/>
              <a:sym typeface="Inter"/>
            </a:endParaRPr>
          </a:p>
          <a:p>
            <a:pPr indent="0" lvl="0" marL="0" rtl="0" algn="l">
              <a:spcBef>
                <a:spcPts val="0"/>
              </a:spcBef>
              <a:spcAft>
                <a:spcPts val="0"/>
              </a:spcAft>
              <a:buNone/>
            </a:pPr>
            <a:r>
              <a:t/>
            </a:r>
            <a:endParaRPr>
              <a:latin typeface="Inter"/>
              <a:ea typeface="Inter"/>
              <a:cs typeface="Inter"/>
              <a:sym typeface="Inter"/>
            </a:endParaRPr>
          </a:p>
        </p:txBody>
      </p:sp>
      <p:sp>
        <p:nvSpPr>
          <p:cNvPr id="381" name="Google Shape;381;p49"/>
          <p:cNvSpPr txBox="1"/>
          <p:nvPr/>
        </p:nvSpPr>
        <p:spPr>
          <a:xfrm>
            <a:off x="311700" y="921025"/>
            <a:ext cx="6304500" cy="6264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1200"/>
              </a:spcAft>
              <a:buNone/>
            </a:pPr>
            <a:r>
              <a:rPr lang="en" u="sng">
                <a:solidFill>
                  <a:schemeClr val="dk1"/>
                </a:solidFill>
                <a:latin typeface="Inter"/>
                <a:ea typeface="Inter"/>
                <a:cs typeface="Inter"/>
                <a:sym typeface="Inter"/>
              </a:rPr>
              <a:t>Question</a:t>
            </a:r>
            <a:r>
              <a:rPr lang="en">
                <a:solidFill>
                  <a:schemeClr val="dk1"/>
                </a:solidFill>
                <a:latin typeface="Inter"/>
                <a:ea typeface="Inter"/>
                <a:cs typeface="Inter"/>
                <a:sym typeface="Inter"/>
              </a:rPr>
              <a:t>: </a:t>
            </a:r>
            <a:r>
              <a:rPr lang="en">
                <a:solidFill>
                  <a:srgbClr val="202124"/>
                </a:solidFill>
                <a:highlight>
                  <a:srgbClr val="FFFFFF"/>
                </a:highlight>
                <a:latin typeface="Inter"/>
                <a:ea typeface="Inter"/>
                <a:cs typeface="Inter"/>
                <a:sym typeface="Inter"/>
              </a:rPr>
              <a:t>Please elaborate on your response to the previous question. Why do you prefer your chosen option?</a:t>
            </a:r>
            <a:endParaRPr>
              <a:solidFill>
                <a:schemeClr val="dk1"/>
              </a:solidFill>
              <a:latin typeface="Inter"/>
              <a:ea typeface="Inter"/>
              <a:cs typeface="Inter"/>
              <a:sym typeface="Inter"/>
            </a:endParaRPr>
          </a:p>
        </p:txBody>
      </p:sp>
      <p:sp>
        <p:nvSpPr>
          <p:cNvPr id="382" name="Google Shape;382;p49"/>
          <p:cNvSpPr txBox="1"/>
          <p:nvPr/>
        </p:nvSpPr>
        <p:spPr>
          <a:xfrm>
            <a:off x="311700" y="1620300"/>
            <a:ext cx="7957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800">
                <a:solidFill>
                  <a:schemeClr val="dk1"/>
                </a:solidFill>
                <a:latin typeface="Inter"/>
                <a:ea typeface="Inter"/>
                <a:cs typeface="Inter"/>
                <a:sym typeface="Inter"/>
              </a:rPr>
              <a:t>Those who prefer all LLMs: </a:t>
            </a:r>
            <a:r>
              <a:rPr b="1" lang="en" sz="1800">
                <a:solidFill>
                  <a:schemeClr val="dk1"/>
                </a:solidFill>
                <a:latin typeface="Inter"/>
                <a:ea typeface="Inter"/>
                <a:cs typeface="Inter"/>
                <a:sym typeface="Inter"/>
              </a:rPr>
              <a:t>43</a:t>
            </a:r>
            <a:r>
              <a:rPr b="1" lang="en" sz="1800">
                <a:solidFill>
                  <a:schemeClr val="dk1"/>
                </a:solidFill>
                <a:latin typeface="Inter"/>
                <a:ea typeface="Inter"/>
                <a:cs typeface="Inter"/>
                <a:sym typeface="Inter"/>
              </a:rPr>
              <a:t>%</a:t>
            </a:r>
            <a:endParaRPr>
              <a:latin typeface="Inter"/>
              <a:ea typeface="Inter"/>
              <a:cs typeface="Inter"/>
              <a:sym typeface="Inte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latin typeface="Inter"/>
                <a:ea typeface="Inter"/>
                <a:cs typeface="Inter"/>
                <a:sym typeface="Inter"/>
              </a:rPr>
              <a:t>Not a single student wants to ban LLMs!</a:t>
            </a:r>
            <a:endParaRPr>
              <a:latin typeface="Inter"/>
              <a:ea typeface="Inter"/>
              <a:cs typeface="Inter"/>
              <a:sym typeface="Inter"/>
            </a:endParaRPr>
          </a:p>
          <a:p>
            <a:pPr indent="0" lvl="0" marL="0" rtl="0" algn="l">
              <a:spcBef>
                <a:spcPts val="0"/>
              </a:spcBef>
              <a:spcAft>
                <a:spcPts val="0"/>
              </a:spcAft>
              <a:buNone/>
            </a:pPr>
            <a:r>
              <a:t/>
            </a:r>
            <a:endParaRPr>
              <a:latin typeface="Inter"/>
              <a:ea typeface="Inter"/>
              <a:cs typeface="Inter"/>
              <a:sym typeface="Inter"/>
            </a:endParaRPr>
          </a:p>
        </p:txBody>
      </p:sp>
      <p:sp>
        <p:nvSpPr>
          <p:cNvPr id="388" name="Google Shape;388;p50"/>
          <p:cNvSpPr txBox="1"/>
          <p:nvPr/>
        </p:nvSpPr>
        <p:spPr>
          <a:xfrm>
            <a:off x="311675" y="2301850"/>
            <a:ext cx="8447700" cy="1772100"/>
          </a:xfrm>
          <a:prstGeom prst="rect">
            <a:avLst/>
          </a:prstGeom>
          <a:noFill/>
          <a:ln cap="flat" cmpd="sng" w="19050">
            <a:solidFill>
              <a:srgbClr val="331F8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600">
              <a:latin typeface="Source Code Pro"/>
              <a:ea typeface="Source Code Pro"/>
              <a:cs typeface="Source Code Pro"/>
              <a:sym typeface="Source Code Pro"/>
            </a:endParaRPr>
          </a:p>
        </p:txBody>
      </p:sp>
      <p:sp>
        <p:nvSpPr>
          <p:cNvPr id="389" name="Google Shape;389;p50"/>
          <p:cNvSpPr txBox="1"/>
          <p:nvPr/>
        </p:nvSpPr>
        <p:spPr>
          <a:xfrm>
            <a:off x="348150" y="2301838"/>
            <a:ext cx="8711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Inter"/>
                <a:ea typeface="Inter"/>
                <a:cs typeface="Inter"/>
                <a:sym typeface="Inter"/>
              </a:rPr>
              <a:t>“</a:t>
            </a:r>
            <a:r>
              <a:rPr i="1" lang="en">
                <a:latin typeface="Inter"/>
                <a:ea typeface="Inter"/>
                <a:cs typeface="Inter"/>
                <a:sym typeface="Inter"/>
              </a:rPr>
              <a:t>I think people </a:t>
            </a:r>
            <a:r>
              <a:rPr b="1" i="1" lang="en">
                <a:latin typeface="Inter"/>
                <a:ea typeface="Inter"/>
                <a:cs typeface="Inter"/>
                <a:sym typeface="Inter"/>
              </a:rPr>
              <a:t>revert to GPT</a:t>
            </a:r>
            <a:r>
              <a:rPr i="1" lang="en">
                <a:latin typeface="Inter"/>
                <a:ea typeface="Inter"/>
                <a:cs typeface="Inter"/>
                <a:sym typeface="Inter"/>
              </a:rPr>
              <a:t> regardless</a:t>
            </a:r>
            <a:r>
              <a:rPr lang="en">
                <a:latin typeface="Inter"/>
                <a:ea typeface="Inter"/>
                <a:cs typeface="Inter"/>
                <a:sym typeface="Inter"/>
              </a:rPr>
              <a:t>”</a:t>
            </a:r>
            <a:endParaRPr>
              <a:latin typeface="Inter"/>
              <a:ea typeface="Inter"/>
              <a:cs typeface="Inter"/>
              <a:sym typeface="Inter"/>
            </a:endParaRPr>
          </a:p>
        </p:txBody>
      </p:sp>
      <p:sp>
        <p:nvSpPr>
          <p:cNvPr id="390" name="Google Shape;390;p50"/>
          <p:cNvSpPr txBox="1"/>
          <p:nvPr/>
        </p:nvSpPr>
        <p:spPr>
          <a:xfrm>
            <a:off x="275225" y="2820600"/>
            <a:ext cx="852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99999"/>
                </a:solidFill>
                <a:latin typeface="Inter"/>
                <a:ea typeface="Inter"/>
                <a:cs typeface="Inter"/>
                <a:sym typeface="Inter"/>
              </a:rPr>
              <a:t>“</a:t>
            </a:r>
            <a:r>
              <a:rPr i="1" lang="en">
                <a:solidFill>
                  <a:srgbClr val="999999"/>
                </a:solidFill>
                <a:latin typeface="Inter"/>
                <a:ea typeface="Inter"/>
                <a:cs typeface="Inter"/>
                <a:sym typeface="Inter"/>
              </a:rPr>
              <a:t>I think students can use any resource out there as long as it</a:t>
            </a:r>
            <a:r>
              <a:rPr b="1" i="1" lang="en">
                <a:solidFill>
                  <a:srgbClr val="999999"/>
                </a:solidFill>
                <a:latin typeface="Inter"/>
                <a:ea typeface="Inter"/>
                <a:cs typeface="Inter"/>
                <a:sym typeface="Inter"/>
              </a:rPr>
              <a:t> adheres to academic honesty</a:t>
            </a:r>
            <a:r>
              <a:rPr i="1" lang="en">
                <a:solidFill>
                  <a:srgbClr val="999999"/>
                </a:solidFill>
                <a:latin typeface="Inter"/>
                <a:ea typeface="Inter"/>
                <a:cs typeface="Inter"/>
                <a:sym typeface="Inter"/>
              </a:rPr>
              <a:t>.</a:t>
            </a:r>
            <a:r>
              <a:rPr lang="en">
                <a:solidFill>
                  <a:srgbClr val="999999"/>
                </a:solidFill>
                <a:latin typeface="Inter"/>
                <a:ea typeface="Inter"/>
                <a:cs typeface="Inter"/>
                <a:sym typeface="Inter"/>
              </a:rPr>
              <a:t>”</a:t>
            </a:r>
            <a:endParaRPr>
              <a:solidFill>
                <a:srgbClr val="999999"/>
              </a:solidFill>
              <a:latin typeface="Inter"/>
              <a:ea typeface="Inter"/>
              <a:cs typeface="Inter"/>
              <a:sym typeface="Inter"/>
            </a:endParaRPr>
          </a:p>
        </p:txBody>
      </p:sp>
      <p:sp>
        <p:nvSpPr>
          <p:cNvPr id="391" name="Google Shape;391;p50"/>
          <p:cNvSpPr txBox="1"/>
          <p:nvPr/>
        </p:nvSpPr>
        <p:spPr>
          <a:xfrm>
            <a:off x="348113" y="3262575"/>
            <a:ext cx="8447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rgbClr val="999999"/>
              </a:solidFill>
              <a:latin typeface="Inter"/>
              <a:ea typeface="Inter"/>
              <a:cs typeface="Inter"/>
              <a:sym typeface="Inter"/>
            </a:endParaRPr>
          </a:p>
        </p:txBody>
      </p:sp>
      <p:sp>
        <p:nvSpPr>
          <p:cNvPr id="392" name="Google Shape;392;p50"/>
          <p:cNvSpPr txBox="1"/>
          <p:nvPr/>
        </p:nvSpPr>
        <p:spPr>
          <a:xfrm>
            <a:off x="311663" y="3339375"/>
            <a:ext cx="8447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99999"/>
                </a:solidFill>
                <a:latin typeface="Inter"/>
                <a:ea typeface="Inter"/>
                <a:cs typeface="Inter"/>
                <a:sym typeface="Inter"/>
              </a:rPr>
              <a:t>“</a:t>
            </a:r>
            <a:r>
              <a:rPr i="1" lang="en">
                <a:solidFill>
                  <a:srgbClr val="999999"/>
                </a:solidFill>
                <a:latin typeface="Inter"/>
                <a:ea typeface="Inter"/>
                <a:cs typeface="Inter"/>
                <a:sym typeface="Inter"/>
              </a:rPr>
              <a:t>The world is pushing towards LLM use in every avenue of life and to restrict it in a classroom setting is doing a </a:t>
            </a:r>
            <a:r>
              <a:rPr b="1" i="1" lang="en">
                <a:solidFill>
                  <a:srgbClr val="999999"/>
                </a:solidFill>
                <a:latin typeface="Inter"/>
                <a:ea typeface="Inter"/>
                <a:cs typeface="Inter"/>
                <a:sym typeface="Inter"/>
              </a:rPr>
              <a:t>disservice to students trying to prepare for the real world</a:t>
            </a:r>
            <a:r>
              <a:rPr i="1" lang="en">
                <a:solidFill>
                  <a:srgbClr val="999999"/>
                </a:solidFill>
                <a:latin typeface="Inter"/>
                <a:ea typeface="Inter"/>
                <a:cs typeface="Inter"/>
                <a:sym typeface="Inter"/>
              </a:rPr>
              <a:t>.</a:t>
            </a:r>
            <a:r>
              <a:rPr lang="en">
                <a:solidFill>
                  <a:srgbClr val="999999"/>
                </a:solidFill>
                <a:latin typeface="Inter"/>
                <a:ea typeface="Inter"/>
                <a:cs typeface="Inter"/>
                <a:sym typeface="Inter"/>
              </a:rPr>
              <a:t>”</a:t>
            </a:r>
            <a:endParaRPr>
              <a:solidFill>
                <a:srgbClr val="999999"/>
              </a:solidFill>
              <a:latin typeface="Inter"/>
              <a:ea typeface="Inter"/>
              <a:cs typeface="Inter"/>
              <a:sym typeface="Inter"/>
            </a:endParaRPr>
          </a:p>
        </p:txBody>
      </p:sp>
      <p:sp>
        <p:nvSpPr>
          <p:cNvPr id="393" name="Google Shape;393;p50"/>
          <p:cNvSpPr txBox="1"/>
          <p:nvPr/>
        </p:nvSpPr>
        <p:spPr>
          <a:xfrm>
            <a:off x="311700" y="921025"/>
            <a:ext cx="6304500" cy="6264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1200"/>
              </a:spcAft>
              <a:buNone/>
            </a:pPr>
            <a:r>
              <a:rPr lang="en" u="sng">
                <a:solidFill>
                  <a:schemeClr val="dk1"/>
                </a:solidFill>
                <a:latin typeface="Inter"/>
                <a:ea typeface="Inter"/>
                <a:cs typeface="Inter"/>
                <a:sym typeface="Inter"/>
              </a:rPr>
              <a:t>Question</a:t>
            </a:r>
            <a:r>
              <a:rPr lang="en">
                <a:solidFill>
                  <a:schemeClr val="dk1"/>
                </a:solidFill>
                <a:latin typeface="Inter"/>
                <a:ea typeface="Inter"/>
                <a:cs typeface="Inter"/>
                <a:sym typeface="Inter"/>
              </a:rPr>
              <a:t>: </a:t>
            </a:r>
            <a:r>
              <a:rPr lang="en">
                <a:solidFill>
                  <a:srgbClr val="202124"/>
                </a:solidFill>
                <a:highlight>
                  <a:srgbClr val="FFFFFF"/>
                </a:highlight>
                <a:latin typeface="Inter"/>
                <a:ea typeface="Inter"/>
                <a:cs typeface="Inter"/>
                <a:sym typeface="Inter"/>
              </a:rPr>
              <a:t>Please elaborate on your response to the previous question. Why do you prefer your chosen option?</a:t>
            </a:r>
            <a:endParaRPr>
              <a:solidFill>
                <a:schemeClr val="dk1"/>
              </a:solidFill>
              <a:latin typeface="Inter"/>
              <a:ea typeface="Inter"/>
              <a:cs typeface="Inter"/>
              <a:sym typeface="Inter"/>
            </a:endParaRPr>
          </a:p>
        </p:txBody>
      </p:sp>
      <p:sp>
        <p:nvSpPr>
          <p:cNvPr id="394" name="Google Shape;394;p50"/>
          <p:cNvSpPr txBox="1"/>
          <p:nvPr/>
        </p:nvSpPr>
        <p:spPr>
          <a:xfrm>
            <a:off x="311700" y="1620300"/>
            <a:ext cx="7957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800">
                <a:solidFill>
                  <a:schemeClr val="dk1"/>
                </a:solidFill>
                <a:latin typeface="Inter"/>
                <a:ea typeface="Inter"/>
                <a:cs typeface="Inter"/>
                <a:sym typeface="Inter"/>
              </a:rPr>
              <a:t>Those who prefer all LLMs: </a:t>
            </a:r>
            <a:r>
              <a:rPr b="1" lang="en" sz="1800">
                <a:solidFill>
                  <a:schemeClr val="dk1"/>
                </a:solidFill>
                <a:latin typeface="Inter"/>
                <a:ea typeface="Inter"/>
                <a:cs typeface="Inter"/>
                <a:sym typeface="Inter"/>
              </a:rPr>
              <a:t>43%</a:t>
            </a:r>
            <a:endParaRPr>
              <a:latin typeface="Inter"/>
              <a:ea typeface="Inter"/>
              <a:cs typeface="Inter"/>
              <a:sym typeface="Inte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latin typeface="Inter"/>
                <a:ea typeface="Inter"/>
                <a:cs typeface="Inter"/>
                <a:sym typeface="Inter"/>
              </a:rPr>
              <a:t>Not a single student wants to ban LLMs!</a:t>
            </a:r>
            <a:endParaRPr>
              <a:latin typeface="Inter"/>
              <a:ea typeface="Inter"/>
              <a:cs typeface="Inter"/>
              <a:sym typeface="Inter"/>
            </a:endParaRPr>
          </a:p>
          <a:p>
            <a:pPr indent="0" lvl="0" marL="0" rtl="0" algn="l">
              <a:spcBef>
                <a:spcPts val="0"/>
              </a:spcBef>
              <a:spcAft>
                <a:spcPts val="0"/>
              </a:spcAft>
              <a:buNone/>
            </a:pPr>
            <a:r>
              <a:t/>
            </a:r>
            <a:endParaRPr>
              <a:latin typeface="Inter"/>
              <a:ea typeface="Inter"/>
              <a:cs typeface="Inter"/>
              <a:sym typeface="Inter"/>
            </a:endParaRPr>
          </a:p>
        </p:txBody>
      </p:sp>
      <p:sp>
        <p:nvSpPr>
          <p:cNvPr id="400" name="Google Shape;400;p51"/>
          <p:cNvSpPr txBox="1"/>
          <p:nvPr/>
        </p:nvSpPr>
        <p:spPr>
          <a:xfrm>
            <a:off x="311675" y="2301850"/>
            <a:ext cx="8447700" cy="1772100"/>
          </a:xfrm>
          <a:prstGeom prst="rect">
            <a:avLst/>
          </a:prstGeom>
          <a:noFill/>
          <a:ln cap="flat" cmpd="sng" w="19050">
            <a:solidFill>
              <a:srgbClr val="331F8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600">
              <a:latin typeface="Source Code Pro"/>
              <a:ea typeface="Source Code Pro"/>
              <a:cs typeface="Source Code Pro"/>
              <a:sym typeface="Source Code Pro"/>
            </a:endParaRPr>
          </a:p>
        </p:txBody>
      </p:sp>
      <p:sp>
        <p:nvSpPr>
          <p:cNvPr id="401" name="Google Shape;401;p51"/>
          <p:cNvSpPr txBox="1"/>
          <p:nvPr/>
        </p:nvSpPr>
        <p:spPr>
          <a:xfrm>
            <a:off x="348150" y="2301838"/>
            <a:ext cx="8711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99999"/>
                </a:solidFill>
                <a:latin typeface="Inter"/>
                <a:ea typeface="Inter"/>
                <a:cs typeface="Inter"/>
                <a:sym typeface="Inter"/>
              </a:rPr>
              <a:t>“</a:t>
            </a:r>
            <a:r>
              <a:rPr i="1" lang="en">
                <a:solidFill>
                  <a:srgbClr val="999999"/>
                </a:solidFill>
                <a:latin typeface="Inter"/>
                <a:ea typeface="Inter"/>
                <a:cs typeface="Inter"/>
                <a:sym typeface="Inter"/>
              </a:rPr>
              <a:t>I think people </a:t>
            </a:r>
            <a:r>
              <a:rPr b="1" i="1" lang="en">
                <a:solidFill>
                  <a:srgbClr val="999999"/>
                </a:solidFill>
                <a:latin typeface="Inter"/>
                <a:ea typeface="Inter"/>
                <a:cs typeface="Inter"/>
                <a:sym typeface="Inter"/>
              </a:rPr>
              <a:t>revert to GPT</a:t>
            </a:r>
            <a:r>
              <a:rPr i="1" lang="en">
                <a:solidFill>
                  <a:srgbClr val="999999"/>
                </a:solidFill>
                <a:latin typeface="Inter"/>
                <a:ea typeface="Inter"/>
                <a:cs typeface="Inter"/>
                <a:sym typeface="Inter"/>
              </a:rPr>
              <a:t> regardless</a:t>
            </a:r>
            <a:r>
              <a:rPr lang="en">
                <a:solidFill>
                  <a:srgbClr val="999999"/>
                </a:solidFill>
                <a:latin typeface="Inter"/>
                <a:ea typeface="Inter"/>
                <a:cs typeface="Inter"/>
                <a:sym typeface="Inter"/>
              </a:rPr>
              <a:t>”</a:t>
            </a:r>
            <a:endParaRPr>
              <a:solidFill>
                <a:srgbClr val="999999"/>
              </a:solidFill>
              <a:latin typeface="Inter"/>
              <a:ea typeface="Inter"/>
              <a:cs typeface="Inter"/>
              <a:sym typeface="Inter"/>
            </a:endParaRPr>
          </a:p>
        </p:txBody>
      </p:sp>
      <p:sp>
        <p:nvSpPr>
          <p:cNvPr id="402" name="Google Shape;402;p51"/>
          <p:cNvSpPr txBox="1"/>
          <p:nvPr/>
        </p:nvSpPr>
        <p:spPr>
          <a:xfrm>
            <a:off x="275225" y="2820600"/>
            <a:ext cx="852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Inter"/>
                <a:ea typeface="Inter"/>
                <a:cs typeface="Inter"/>
                <a:sym typeface="Inter"/>
              </a:rPr>
              <a:t>“</a:t>
            </a:r>
            <a:r>
              <a:rPr i="1" lang="en">
                <a:latin typeface="Inter"/>
                <a:ea typeface="Inter"/>
                <a:cs typeface="Inter"/>
                <a:sym typeface="Inter"/>
              </a:rPr>
              <a:t>I think students can use any resource out there as long as it</a:t>
            </a:r>
            <a:r>
              <a:rPr b="1" i="1" lang="en">
                <a:latin typeface="Inter"/>
                <a:ea typeface="Inter"/>
                <a:cs typeface="Inter"/>
                <a:sym typeface="Inter"/>
              </a:rPr>
              <a:t> adheres to academic honesty</a:t>
            </a:r>
            <a:r>
              <a:rPr i="1" lang="en">
                <a:latin typeface="Inter"/>
                <a:ea typeface="Inter"/>
                <a:cs typeface="Inter"/>
                <a:sym typeface="Inter"/>
              </a:rPr>
              <a:t>.</a:t>
            </a:r>
            <a:r>
              <a:rPr lang="en">
                <a:latin typeface="Inter"/>
                <a:ea typeface="Inter"/>
                <a:cs typeface="Inter"/>
                <a:sym typeface="Inter"/>
              </a:rPr>
              <a:t>”</a:t>
            </a:r>
            <a:endParaRPr>
              <a:latin typeface="Inter"/>
              <a:ea typeface="Inter"/>
              <a:cs typeface="Inter"/>
              <a:sym typeface="Inter"/>
            </a:endParaRPr>
          </a:p>
        </p:txBody>
      </p:sp>
      <p:sp>
        <p:nvSpPr>
          <p:cNvPr id="403" name="Google Shape;403;p51"/>
          <p:cNvSpPr txBox="1"/>
          <p:nvPr/>
        </p:nvSpPr>
        <p:spPr>
          <a:xfrm>
            <a:off x="348113" y="3262575"/>
            <a:ext cx="8447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rgbClr val="999999"/>
              </a:solidFill>
              <a:latin typeface="Inter"/>
              <a:ea typeface="Inter"/>
              <a:cs typeface="Inter"/>
              <a:sym typeface="Inter"/>
            </a:endParaRPr>
          </a:p>
        </p:txBody>
      </p:sp>
      <p:sp>
        <p:nvSpPr>
          <p:cNvPr id="404" name="Google Shape;404;p51"/>
          <p:cNvSpPr txBox="1"/>
          <p:nvPr/>
        </p:nvSpPr>
        <p:spPr>
          <a:xfrm>
            <a:off x="311663" y="3339375"/>
            <a:ext cx="8447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99999"/>
                </a:solidFill>
                <a:latin typeface="Inter"/>
                <a:ea typeface="Inter"/>
                <a:cs typeface="Inter"/>
                <a:sym typeface="Inter"/>
              </a:rPr>
              <a:t>“</a:t>
            </a:r>
            <a:r>
              <a:rPr i="1" lang="en">
                <a:solidFill>
                  <a:srgbClr val="999999"/>
                </a:solidFill>
                <a:latin typeface="Inter"/>
                <a:ea typeface="Inter"/>
                <a:cs typeface="Inter"/>
                <a:sym typeface="Inter"/>
              </a:rPr>
              <a:t>The world is pushing towards LLM use in every avenue of life and to restrict it in a classroom setting is doing a </a:t>
            </a:r>
            <a:r>
              <a:rPr b="1" i="1" lang="en">
                <a:solidFill>
                  <a:srgbClr val="999999"/>
                </a:solidFill>
                <a:latin typeface="Inter"/>
                <a:ea typeface="Inter"/>
                <a:cs typeface="Inter"/>
                <a:sym typeface="Inter"/>
              </a:rPr>
              <a:t>disservice to students trying to prepare for the real world</a:t>
            </a:r>
            <a:r>
              <a:rPr i="1" lang="en">
                <a:solidFill>
                  <a:srgbClr val="999999"/>
                </a:solidFill>
                <a:latin typeface="Inter"/>
                <a:ea typeface="Inter"/>
                <a:cs typeface="Inter"/>
                <a:sym typeface="Inter"/>
              </a:rPr>
              <a:t>.</a:t>
            </a:r>
            <a:r>
              <a:rPr lang="en">
                <a:solidFill>
                  <a:srgbClr val="999999"/>
                </a:solidFill>
                <a:latin typeface="Inter"/>
                <a:ea typeface="Inter"/>
                <a:cs typeface="Inter"/>
                <a:sym typeface="Inter"/>
              </a:rPr>
              <a:t>”</a:t>
            </a:r>
            <a:endParaRPr>
              <a:solidFill>
                <a:srgbClr val="999999"/>
              </a:solidFill>
              <a:latin typeface="Inter"/>
              <a:ea typeface="Inter"/>
              <a:cs typeface="Inter"/>
              <a:sym typeface="Inter"/>
            </a:endParaRPr>
          </a:p>
        </p:txBody>
      </p:sp>
      <p:sp>
        <p:nvSpPr>
          <p:cNvPr id="405" name="Google Shape;405;p51"/>
          <p:cNvSpPr txBox="1"/>
          <p:nvPr/>
        </p:nvSpPr>
        <p:spPr>
          <a:xfrm>
            <a:off x="311700" y="921025"/>
            <a:ext cx="6304500" cy="6264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1200"/>
              </a:spcAft>
              <a:buNone/>
            </a:pPr>
            <a:r>
              <a:rPr lang="en" u="sng">
                <a:solidFill>
                  <a:schemeClr val="dk1"/>
                </a:solidFill>
                <a:latin typeface="Inter"/>
                <a:ea typeface="Inter"/>
                <a:cs typeface="Inter"/>
                <a:sym typeface="Inter"/>
              </a:rPr>
              <a:t>Question</a:t>
            </a:r>
            <a:r>
              <a:rPr lang="en">
                <a:solidFill>
                  <a:schemeClr val="dk1"/>
                </a:solidFill>
                <a:latin typeface="Inter"/>
                <a:ea typeface="Inter"/>
                <a:cs typeface="Inter"/>
                <a:sym typeface="Inter"/>
              </a:rPr>
              <a:t>: </a:t>
            </a:r>
            <a:r>
              <a:rPr lang="en">
                <a:solidFill>
                  <a:srgbClr val="202124"/>
                </a:solidFill>
                <a:highlight>
                  <a:srgbClr val="FFFFFF"/>
                </a:highlight>
                <a:latin typeface="Inter"/>
                <a:ea typeface="Inter"/>
                <a:cs typeface="Inter"/>
                <a:sym typeface="Inter"/>
              </a:rPr>
              <a:t>Please elaborate on your response to the previous question. Why do you prefer your chosen option?</a:t>
            </a:r>
            <a:endParaRPr>
              <a:solidFill>
                <a:schemeClr val="dk1"/>
              </a:solidFill>
              <a:latin typeface="Inter"/>
              <a:ea typeface="Inter"/>
              <a:cs typeface="Inter"/>
              <a:sym typeface="Inter"/>
            </a:endParaRPr>
          </a:p>
        </p:txBody>
      </p:sp>
      <p:sp>
        <p:nvSpPr>
          <p:cNvPr id="406" name="Google Shape;406;p51"/>
          <p:cNvSpPr txBox="1"/>
          <p:nvPr/>
        </p:nvSpPr>
        <p:spPr>
          <a:xfrm>
            <a:off x="311700" y="1620300"/>
            <a:ext cx="7957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800">
                <a:solidFill>
                  <a:schemeClr val="dk1"/>
                </a:solidFill>
                <a:latin typeface="Inter"/>
                <a:ea typeface="Inter"/>
                <a:cs typeface="Inter"/>
                <a:sym typeface="Inter"/>
              </a:rPr>
              <a:t>Those who prefer all LLMs: 43%</a:t>
            </a:r>
            <a:endParaRPr>
              <a:latin typeface="Inter"/>
              <a:ea typeface="Inter"/>
              <a:cs typeface="Inter"/>
              <a:sym typeface="Inte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latin typeface="Inter"/>
                <a:ea typeface="Inter"/>
                <a:cs typeface="Inter"/>
                <a:sym typeface="Inter"/>
              </a:rPr>
              <a:t>Not a single student wants to ban LLMs!</a:t>
            </a:r>
            <a:endParaRPr>
              <a:latin typeface="Inter"/>
              <a:ea typeface="Inter"/>
              <a:cs typeface="Inter"/>
              <a:sym typeface="Inter"/>
            </a:endParaRPr>
          </a:p>
          <a:p>
            <a:pPr indent="0" lvl="0" marL="0" rtl="0" algn="l">
              <a:spcBef>
                <a:spcPts val="0"/>
              </a:spcBef>
              <a:spcAft>
                <a:spcPts val="0"/>
              </a:spcAft>
              <a:buNone/>
            </a:pPr>
            <a:r>
              <a:t/>
            </a:r>
            <a:endParaRPr>
              <a:latin typeface="Inter"/>
              <a:ea typeface="Inter"/>
              <a:cs typeface="Inter"/>
              <a:sym typeface="Inter"/>
            </a:endParaRPr>
          </a:p>
        </p:txBody>
      </p:sp>
      <p:sp>
        <p:nvSpPr>
          <p:cNvPr id="412" name="Google Shape;412;p52"/>
          <p:cNvSpPr txBox="1"/>
          <p:nvPr/>
        </p:nvSpPr>
        <p:spPr>
          <a:xfrm>
            <a:off x="311675" y="2301850"/>
            <a:ext cx="8447700" cy="1772100"/>
          </a:xfrm>
          <a:prstGeom prst="rect">
            <a:avLst/>
          </a:prstGeom>
          <a:noFill/>
          <a:ln cap="flat" cmpd="sng" w="19050">
            <a:solidFill>
              <a:srgbClr val="331F8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600">
              <a:latin typeface="Source Code Pro"/>
              <a:ea typeface="Source Code Pro"/>
              <a:cs typeface="Source Code Pro"/>
              <a:sym typeface="Source Code Pro"/>
            </a:endParaRPr>
          </a:p>
        </p:txBody>
      </p:sp>
      <p:sp>
        <p:nvSpPr>
          <p:cNvPr id="413" name="Google Shape;413;p52"/>
          <p:cNvSpPr txBox="1"/>
          <p:nvPr/>
        </p:nvSpPr>
        <p:spPr>
          <a:xfrm>
            <a:off x="348150" y="2301838"/>
            <a:ext cx="8711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99999"/>
                </a:solidFill>
                <a:latin typeface="Inter"/>
                <a:ea typeface="Inter"/>
                <a:cs typeface="Inter"/>
                <a:sym typeface="Inter"/>
              </a:rPr>
              <a:t>“</a:t>
            </a:r>
            <a:r>
              <a:rPr i="1" lang="en">
                <a:solidFill>
                  <a:srgbClr val="999999"/>
                </a:solidFill>
                <a:latin typeface="Inter"/>
                <a:ea typeface="Inter"/>
                <a:cs typeface="Inter"/>
                <a:sym typeface="Inter"/>
              </a:rPr>
              <a:t>I think people </a:t>
            </a:r>
            <a:r>
              <a:rPr b="1" i="1" lang="en">
                <a:solidFill>
                  <a:srgbClr val="999999"/>
                </a:solidFill>
                <a:latin typeface="Inter"/>
                <a:ea typeface="Inter"/>
                <a:cs typeface="Inter"/>
                <a:sym typeface="Inter"/>
              </a:rPr>
              <a:t>revert to GPT</a:t>
            </a:r>
            <a:r>
              <a:rPr i="1" lang="en">
                <a:solidFill>
                  <a:srgbClr val="999999"/>
                </a:solidFill>
                <a:latin typeface="Inter"/>
                <a:ea typeface="Inter"/>
                <a:cs typeface="Inter"/>
                <a:sym typeface="Inter"/>
              </a:rPr>
              <a:t> regardless</a:t>
            </a:r>
            <a:r>
              <a:rPr lang="en">
                <a:solidFill>
                  <a:srgbClr val="999999"/>
                </a:solidFill>
                <a:latin typeface="Inter"/>
                <a:ea typeface="Inter"/>
                <a:cs typeface="Inter"/>
                <a:sym typeface="Inter"/>
              </a:rPr>
              <a:t>”</a:t>
            </a:r>
            <a:endParaRPr>
              <a:solidFill>
                <a:srgbClr val="999999"/>
              </a:solidFill>
              <a:latin typeface="Inter"/>
              <a:ea typeface="Inter"/>
              <a:cs typeface="Inter"/>
              <a:sym typeface="Inter"/>
            </a:endParaRPr>
          </a:p>
        </p:txBody>
      </p:sp>
      <p:sp>
        <p:nvSpPr>
          <p:cNvPr id="414" name="Google Shape;414;p52"/>
          <p:cNvSpPr txBox="1"/>
          <p:nvPr/>
        </p:nvSpPr>
        <p:spPr>
          <a:xfrm>
            <a:off x="275225" y="2820600"/>
            <a:ext cx="852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99999"/>
                </a:solidFill>
                <a:latin typeface="Inter"/>
                <a:ea typeface="Inter"/>
                <a:cs typeface="Inter"/>
                <a:sym typeface="Inter"/>
              </a:rPr>
              <a:t>“</a:t>
            </a:r>
            <a:r>
              <a:rPr i="1" lang="en">
                <a:solidFill>
                  <a:srgbClr val="999999"/>
                </a:solidFill>
                <a:latin typeface="Inter"/>
                <a:ea typeface="Inter"/>
                <a:cs typeface="Inter"/>
                <a:sym typeface="Inter"/>
              </a:rPr>
              <a:t>I think students can use any resource out there as long as it</a:t>
            </a:r>
            <a:r>
              <a:rPr b="1" i="1" lang="en">
                <a:solidFill>
                  <a:srgbClr val="999999"/>
                </a:solidFill>
                <a:latin typeface="Inter"/>
                <a:ea typeface="Inter"/>
                <a:cs typeface="Inter"/>
                <a:sym typeface="Inter"/>
              </a:rPr>
              <a:t> adheres to academic honesty</a:t>
            </a:r>
            <a:r>
              <a:rPr i="1" lang="en">
                <a:solidFill>
                  <a:srgbClr val="999999"/>
                </a:solidFill>
                <a:latin typeface="Inter"/>
                <a:ea typeface="Inter"/>
                <a:cs typeface="Inter"/>
                <a:sym typeface="Inter"/>
              </a:rPr>
              <a:t>.</a:t>
            </a:r>
            <a:r>
              <a:rPr lang="en">
                <a:solidFill>
                  <a:srgbClr val="999999"/>
                </a:solidFill>
                <a:latin typeface="Inter"/>
                <a:ea typeface="Inter"/>
                <a:cs typeface="Inter"/>
                <a:sym typeface="Inter"/>
              </a:rPr>
              <a:t>”</a:t>
            </a:r>
            <a:endParaRPr>
              <a:solidFill>
                <a:srgbClr val="999999"/>
              </a:solidFill>
              <a:latin typeface="Inter"/>
              <a:ea typeface="Inter"/>
              <a:cs typeface="Inter"/>
              <a:sym typeface="Inter"/>
            </a:endParaRPr>
          </a:p>
        </p:txBody>
      </p:sp>
      <p:sp>
        <p:nvSpPr>
          <p:cNvPr id="415" name="Google Shape;415;p52"/>
          <p:cNvSpPr txBox="1"/>
          <p:nvPr/>
        </p:nvSpPr>
        <p:spPr>
          <a:xfrm>
            <a:off x="348113" y="3262575"/>
            <a:ext cx="8447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rgbClr val="999999"/>
              </a:solidFill>
              <a:latin typeface="Inter"/>
              <a:ea typeface="Inter"/>
              <a:cs typeface="Inter"/>
              <a:sym typeface="Inter"/>
            </a:endParaRPr>
          </a:p>
        </p:txBody>
      </p:sp>
      <p:sp>
        <p:nvSpPr>
          <p:cNvPr id="416" name="Google Shape;416;p52"/>
          <p:cNvSpPr txBox="1"/>
          <p:nvPr/>
        </p:nvSpPr>
        <p:spPr>
          <a:xfrm>
            <a:off x="311663" y="3339375"/>
            <a:ext cx="8447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Inter"/>
                <a:ea typeface="Inter"/>
                <a:cs typeface="Inter"/>
                <a:sym typeface="Inter"/>
              </a:rPr>
              <a:t>“</a:t>
            </a:r>
            <a:r>
              <a:rPr i="1" lang="en">
                <a:latin typeface="Inter"/>
                <a:ea typeface="Inter"/>
                <a:cs typeface="Inter"/>
                <a:sym typeface="Inter"/>
              </a:rPr>
              <a:t>The world is pushing towards LLM use in every avenue of life and to restrict it in a classroom setting is doing a </a:t>
            </a:r>
            <a:r>
              <a:rPr b="1" i="1" lang="en">
                <a:latin typeface="Inter"/>
                <a:ea typeface="Inter"/>
                <a:cs typeface="Inter"/>
                <a:sym typeface="Inter"/>
              </a:rPr>
              <a:t>disservice to students trying to prepare for the real world</a:t>
            </a:r>
            <a:r>
              <a:rPr i="1" lang="en">
                <a:latin typeface="Inter"/>
                <a:ea typeface="Inter"/>
                <a:cs typeface="Inter"/>
                <a:sym typeface="Inter"/>
              </a:rPr>
              <a:t>.</a:t>
            </a:r>
            <a:r>
              <a:rPr lang="en">
                <a:latin typeface="Inter"/>
                <a:ea typeface="Inter"/>
                <a:cs typeface="Inter"/>
                <a:sym typeface="Inter"/>
              </a:rPr>
              <a:t>”</a:t>
            </a:r>
            <a:endParaRPr>
              <a:latin typeface="Inter"/>
              <a:ea typeface="Inter"/>
              <a:cs typeface="Inter"/>
              <a:sym typeface="Inter"/>
            </a:endParaRPr>
          </a:p>
        </p:txBody>
      </p:sp>
      <p:sp>
        <p:nvSpPr>
          <p:cNvPr id="417" name="Google Shape;417;p52"/>
          <p:cNvSpPr txBox="1"/>
          <p:nvPr/>
        </p:nvSpPr>
        <p:spPr>
          <a:xfrm>
            <a:off x="311700" y="921025"/>
            <a:ext cx="6304500" cy="6264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1200"/>
              </a:spcAft>
              <a:buNone/>
            </a:pPr>
            <a:r>
              <a:rPr lang="en" u="sng">
                <a:solidFill>
                  <a:schemeClr val="dk1"/>
                </a:solidFill>
                <a:latin typeface="Inter"/>
                <a:ea typeface="Inter"/>
                <a:cs typeface="Inter"/>
                <a:sym typeface="Inter"/>
              </a:rPr>
              <a:t>Question</a:t>
            </a:r>
            <a:r>
              <a:rPr lang="en">
                <a:solidFill>
                  <a:schemeClr val="dk1"/>
                </a:solidFill>
                <a:latin typeface="Inter"/>
                <a:ea typeface="Inter"/>
                <a:cs typeface="Inter"/>
                <a:sym typeface="Inter"/>
              </a:rPr>
              <a:t>: </a:t>
            </a:r>
            <a:r>
              <a:rPr lang="en">
                <a:solidFill>
                  <a:srgbClr val="202124"/>
                </a:solidFill>
                <a:highlight>
                  <a:srgbClr val="FFFFFF"/>
                </a:highlight>
                <a:latin typeface="Inter"/>
                <a:ea typeface="Inter"/>
                <a:cs typeface="Inter"/>
                <a:sym typeface="Inter"/>
              </a:rPr>
              <a:t>Please elaborate on your response to the previous question. Why do you prefer your chosen option?</a:t>
            </a:r>
            <a:endParaRPr>
              <a:solidFill>
                <a:schemeClr val="dk1"/>
              </a:solidFill>
              <a:latin typeface="Inter"/>
              <a:ea typeface="Inter"/>
              <a:cs typeface="Inter"/>
              <a:sym typeface="Inter"/>
            </a:endParaRPr>
          </a:p>
        </p:txBody>
      </p:sp>
      <p:sp>
        <p:nvSpPr>
          <p:cNvPr id="418" name="Google Shape;418;p52"/>
          <p:cNvSpPr txBox="1"/>
          <p:nvPr/>
        </p:nvSpPr>
        <p:spPr>
          <a:xfrm>
            <a:off x="311700" y="1620300"/>
            <a:ext cx="7957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800">
                <a:solidFill>
                  <a:schemeClr val="dk1"/>
                </a:solidFill>
                <a:latin typeface="Inter"/>
                <a:ea typeface="Inter"/>
                <a:cs typeface="Inter"/>
                <a:sym typeface="Inter"/>
              </a:rPr>
              <a:t>Those who prefer all LLMs: 43%</a:t>
            </a:r>
            <a:endParaRPr>
              <a:latin typeface="Inter"/>
              <a:ea typeface="Inter"/>
              <a:cs typeface="Inter"/>
              <a:sym typeface="Inte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Inter"/>
                <a:ea typeface="Inter"/>
                <a:cs typeface="Inter"/>
                <a:sym typeface="Inter"/>
              </a:rPr>
              <a:t>Students are concerned about LLM dependence</a:t>
            </a:r>
            <a:endParaRPr>
              <a:latin typeface="Inter"/>
              <a:ea typeface="Inter"/>
              <a:cs typeface="Inter"/>
              <a:sym typeface="Inter"/>
            </a:endParaRPr>
          </a:p>
        </p:txBody>
      </p:sp>
      <p:sp>
        <p:nvSpPr>
          <p:cNvPr id="424" name="Google Shape;424;p53"/>
          <p:cNvSpPr txBox="1"/>
          <p:nvPr/>
        </p:nvSpPr>
        <p:spPr>
          <a:xfrm>
            <a:off x="311700" y="1017725"/>
            <a:ext cx="8264700" cy="6264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1200"/>
              </a:spcAft>
              <a:buNone/>
            </a:pPr>
            <a:r>
              <a:rPr lang="en" u="sng">
                <a:solidFill>
                  <a:schemeClr val="dk1"/>
                </a:solidFill>
                <a:latin typeface="Inter"/>
                <a:ea typeface="Inter"/>
                <a:cs typeface="Inter"/>
                <a:sym typeface="Inter"/>
              </a:rPr>
              <a:t>Question</a:t>
            </a:r>
            <a:r>
              <a:rPr lang="en">
                <a:solidFill>
                  <a:schemeClr val="dk1"/>
                </a:solidFill>
                <a:latin typeface="Inter"/>
                <a:ea typeface="Inter"/>
                <a:cs typeface="Inter"/>
                <a:sym typeface="Inter"/>
              </a:rPr>
              <a:t>: </a:t>
            </a:r>
            <a:r>
              <a:rPr lang="en">
                <a:solidFill>
                  <a:schemeClr val="dk1"/>
                </a:solidFill>
                <a:highlight>
                  <a:srgbClr val="FFFFFF"/>
                </a:highlight>
                <a:latin typeface="Inter"/>
                <a:ea typeface="Inter"/>
                <a:cs typeface="Inter"/>
                <a:sym typeface="Inter"/>
              </a:rPr>
              <a:t>What concerns, if any, do you have about AI in education? Has PingPong changed your perspective at all? </a:t>
            </a:r>
            <a:endParaRPr>
              <a:solidFill>
                <a:schemeClr val="dk1"/>
              </a:solidFill>
              <a:latin typeface="Inter"/>
              <a:ea typeface="Inter"/>
              <a:cs typeface="Inter"/>
              <a:sym typeface="Inte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latin typeface="Inter"/>
                <a:ea typeface="Inter"/>
                <a:cs typeface="Inter"/>
                <a:sym typeface="Inter"/>
              </a:rPr>
              <a:t>Students are concerned about LLM dependence</a:t>
            </a:r>
            <a:endParaRPr>
              <a:latin typeface="Inter"/>
              <a:ea typeface="Inter"/>
              <a:cs typeface="Inter"/>
              <a:sym typeface="Inter"/>
            </a:endParaRPr>
          </a:p>
        </p:txBody>
      </p:sp>
      <p:sp>
        <p:nvSpPr>
          <p:cNvPr id="430" name="Google Shape;430;p54"/>
          <p:cNvSpPr txBox="1"/>
          <p:nvPr/>
        </p:nvSpPr>
        <p:spPr>
          <a:xfrm>
            <a:off x="311700" y="1017725"/>
            <a:ext cx="8264700" cy="6264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1200"/>
              </a:spcAft>
              <a:buNone/>
            </a:pPr>
            <a:r>
              <a:rPr lang="en" u="sng">
                <a:solidFill>
                  <a:schemeClr val="dk1"/>
                </a:solidFill>
                <a:latin typeface="Inter"/>
                <a:ea typeface="Inter"/>
                <a:cs typeface="Inter"/>
                <a:sym typeface="Inter"/>
              </a:rPr>
              <a:t>Question</a:t>
            </a:r>
            <a:r>
              <a:rPr lang="en">
                <a:solidFill>
                  <a:schemeClr val="dk1"/>
                </a:solidFill>
                <a:latin typeface="Inter"/>
                <a:ea typeface="Inter"/>
                <a:cs typeface="Inter"/>
                <a:sym typeface="Inter"/>
              </a:rPr>
              <a:t>: </a:t>
            </a:r>
            <a:r>
              <a:rPr lang="en">
                <a:solidFill>
                  <a:schemeClr val="dk1"/>
                </a:solidFill>
                <a:highlight>
                  <a:srgbClr val="FFFFFF"/>
                </a:highlight>
                <a:latin typeface="Inter"/>
                <a:ea typeface="Inter"/>
                <a:cs typeface="Inter"/>
                <a:sym typeface="Inter"/>
              </a:rPr>
              <a:t>What concerns, if any, do you have about AI in education? Has PingPong changed your perspective at all? </a:t>
            </a:r>
            <a:endParaRPr>
              <a:solidFill>
                <a:schemeClr val="dk1"/>
              </a:solidFill>
              <a:latin typeface="Inter"/>
              <a:ea typeface="Inter"/>
              <a:cs typeface="Inter"/>
              <a:sym typeface="Inter"/>
            </a:endParaRPr>
          </a:p>
        </p:txBody>
      </p:sp>
      <p:sp>
        <p:nvSpPr>
          <p:cNvPr id="431" name="Google Shape;431;p54"/>
          <p:cNvSpPr txBox="1"/>
          <p:nvPr/>
        </p:nvSpPr>
        <p:spPr>
          <a:xfrm>
            <a:off x="311700" y="1863750"/>
            <a:ext cx="7540800" cy="1169700"/>
          </a:xfrm>
          <a:prstGeom prst="rect">
            <a:avLst/>
          </a:prstGeom>
          <a:noFill/>
          <a:ln cap="flat" cmpd="sng" w="19050">
            <a:solidFill>
              <a:srgbClr val="FF7F5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Inter"/>
                <a:ea typeface="Inter"/>
                <a:cs typeface="Inter"/>
                <a:sym typeface="Inter"/>
              </a:rPr>
              <a:t>“</a:t>
            </a:r>
            <a:r>
              <a:rPr i="1" lang="en" sz="1600">
                <a:latin typeface="Inter"/>
                <a:ea typeface="Inter"/>
                <a:cs typeface="Inter"/>
                <a:sym typeface="Inter"/>
              </a:rPr>
              <a:t>I have a concern that students will</a:t>
            </a:r>
            <a:r>
              <a:rPr b="1" i="1" lang="en" sz="1600">
                <a:latin typeface="Inter"/>
                <a:ea typeface="Inter"/>
                <a:cs typeface="Inter"/>
                <a:sym typeface="Inter"/>
              </a:rPr>
              <a:t> use LLMs and AI as a crutch</a:t>
            </a:r>
            <a:r>
              <a:rPr i="1" lang="en" sz="1600">
                <a:latin typeface="Inter"/>
                <a:ea typeface="Inter"/>
                <a:cs typeface="Inter"/>
                <a:sym typeface="Inter"/>
              </a:rPr>
              <a:t> and will not be able to hold their own. Sites like PingPong do ease that fear, however, because it is built in a way that requires I have an understanding while other LLMs may just spit out answers.</a:t>
            </a:r>
            <a:r>
              <a:rPr lang="en" sz="1600">
                <a:latin typeface="Inter"/>
                <a:ea typeface="Inter"/>
                <a:cs typeface="Inter"/>
                <a:sym typeface="Inter"/>
              </a:rPr>
              <a:t>”</a:t>
            </a:r>
            <a:endParaRPr sz="1600">
              <a:latin typeface="Inter"/>
              <a:ea typeface="Inter"/>
              <a:cs typeface="Inter"/>
              <a:sym typeface="Inte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latin typeface="Inter"/>
                <a:ea typeface="Inter"/>
                <a:cs typeface="Inter"/>
                <a:sym typeface="Inter"/>
              </a:rPr>
              <a:t>Students are concerned about LLM dependence</a:t>
            </a:r>
            <a:endParaRPr>
              <a:latin typeface="Inter"/>
              <a:ea typeface="Inter"/>
              <a:cs typeface="Inter"/>
              <a:sym typeface="Inter"/>
            </a:endParaRPr>
          </a:p>
        </p:txBody>
      </p:sp>
      <p:sp>
        <p:nvSpPr>
          <p:cNvPr id="437" name="Google Shape;437;p55"/>
          <p:cNvSpPr txBox="1"/>
          <p:nvPr/>
        </p:nvSpPr>
        <p:spPr>
          <a:xfrm>
            <a:off x="311700" y="1017725"/>
            <a:ext cx="8264700" cy="6264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1200"/>
              </a:spcAft>
              <a:buNone/>
            </a:pPr>
            <a:r>
              <a:rPr lang="en" u="sng">
                <a:solidFill>
                  <a:schemeClr val="dk1"/>
                </a:solidFill>
                <a:latin typeface="Inter"/>
                <a:ea typeface="Inter"/>
                <a:cs typeface="Inter"/>
                <a:sym typeface="Inter"/>
              </a:rPr>
              <a:t>Question</a:t>
            </a:r>
            <a:r>
              <a:rPr lang="en">
                <a:solidFill>
                  <a:schemeClr val="dk1"/>
                </a:solidFill>
                <a:latin typeface="Inter"/>
                <a:ea typeface="Inter"/>
                <a:cs typeface="Inter"/>
                <a:sym typeface="Inter"/>
              </a:rPr>
              <a:t>: </a:t>
            </a:r>
            <a:r>
              <a:rPr lang="en">
                <a:solidFill>
                  <a:schemeClr val="dk1"/>
                </a:solidFill>
                <a:highlight>
                  <a:srgbClr val="FFFFFF"/>
                </a:highlight>
                <a:latin typeface="Inter"/>
                <a:ea typeface="Inter"/>
                <a:cs typeface="Inter"/>
                <a:sym typeface="Inter"/>
              </a:rPr>
              <a:t>What concerns, if any, do you have about AI in education? Has PingPong changed your perspective at all? </a:t>
            </a:r>
            <a:endParaRPr>
              <a:solidFill>
                <a:schemeClr val="dk1"/>
              </a:solidFill>
              <a:latin typeface="Inter"/>
              <a:ea typeface="Inter"/>
              <a:cs typeface="Inter"/>
              <a:sym typeface="Inter"/>
            </a:endParaRPr>
          </a:p>
        </p:txBody>
      </p:sp>
      <p:sp>
        <p:nvSpPr>
          <p:cNvPr id="438" name="Google Shape;438;p55"/>
          <p:cNvSpPr txBox="1"/>
          <p:nvPr/>
        </p:nvSpPr>
        <p:spPr>
          <a:xfrm>
            <a:off x="311700" y="1863750"/>
            <a:ext cx="7540800" cy="1169700"/>
          </a:xfrm>
          <a:prstGeom prst="rect">
            <a:avLst/>
          </a:prstGeom>
          <a:noFill/>
          <a:ln cap="flat" cmpd="sng" w="19050">
            <a:solidFill>
              <a:srgbClr val="FF7F5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Inter"/>
                <a:ea typeface="Inter"/>
                <a:cs typeface="Inter"/>
                <a:sym typeface="Inter"/>
              </a:rPr>
              <a:t>“</a:t>
            </a:r>
            <a:r>
              <a:rPr i="1" lang="en" sz="1600">
                <a:latin typeface="Inter"/>
                <a:ea typeface="Inter"/>
                <a:cs typeface="Inter"/>
                <a:sym typeface="Inter"/>
              </a:rPr>
              <a:t>I have a concern that students will</a:t>
            </a:r>
            <a:r>
              <a:rPr b="1" i="1" lang="en" sz="1600">
                <a:latin typeface="Inter"/>
                <a:ea typeface="Inter"/>
                <a:cs typeface="Inter"/>
                <a:sym typeface="Inter"/>
              </a:rPr>
              <a:t> use LLMs and AI as a crutch</a:t>
            </a:r>
            <a:r>
              <a:rPr i="1" lang="en" sz="1600">
                <a:latin typeface="Inter"/>
                <a:ea typeface="Inter"/>
                <a:cs typeface="Inter"/>
                <a:sym typeface="Inter"/>
              </a:rPr>
              <a:t> and will not be able to hold their own. Sites like PingPong do ease that fear, however, because it is built in a way that requires I have an understanding while other LLMs may just spit out answers.</a:t>
            </a:r>
            <a:r>
              <a:rPr lang="en" sz="1600">
                <a:latin typeface="Inter"/>
                <a:ea typeface="Inter"/>
                <a:cs typeface="Inter"/>
                <a:sym typeface="Inter"/>
              </a:rPr>
              <a:t>”</a:t>
            </a:r>
            <a:endParaRPr sz="1600">
              <a:latin typeface="Inter"/>
              <a:ea typeface="Inter"/>
              <a:cs typeface="Inter"/>
              <a:sym typeface="Inter"/>
            </a:endParaRPr>
          </a:p>
        </p:txBody>
      </p:sp>
      <p:sp>
        <p:nvSpPr>
          <p:cNvPr id="439" name="Google Shape;439;p55"/>
          <p:cNvSpPr txBox="1"/>
          <p:nvPr/>
        </p:nvSpPr>
        <p:spPr>
          <a:xfrm>
            <a:off x="1637700" y="3499375"/>
            <a:ext cx="7302900" cy="923400"/>
          </a:xfrm>
          <a:prstGeom prst="rect">
            <a:avLst/>
          </a:prstGeom>
          <a:noFill/>
          <a:ln cap="flat" cmpd="sng" w="19050">
            <a:solidFill>
              <a:srgbClr val="331F8A"/>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Inter"/>
                <a:ea typeface="Inter"/>
                <a:cs typeface="Inter"/>
                <a:sym typeface="Inter"/>
              </a:rPr>
              <a:t>“</a:t>
            </a:r>
            <a:r>
              <a:rPr i="1" lang="en" sz="1600">
                <a:latin typeface="Inter"/>
                <a:ea typeface="Inter"/>
                <a:cs typeface="Inter"/>
                <a:sym typeface="Inter"/>
              </a:rPr>
              <a:t>While I like how AI has helped in making tasks </a:t>
            </a:r>
            <a:r>
              <a:rPr b="1" i="1" lang="en" sz="1600">
                <a:latin typeface="Inter"/>
                <a:ea typeface="Inter"/>
                <a:cs typeface="Inter"/>
                <a:sym typeface="Inter"/>
              </a:rPr>
              <a:t>more efficient</a:t>
            </a:r>
            <a:r>
              <a:rPr i="1" lang="en" sz="1600">
                <a:latin typeface="Inter"/>
                <a:ea typeface="Inter"/>
                <a:cs typeface="Inter"/>
                <a:sym typeface="Inter"/>
              </a:rPr>
              <a:t>, I prefer the time when people put in the work and had to put thought into their work. I fear AI is making us </a:t>
            </a:r>
            <a:r>
              <a:rPr b="1" i="1" lang="en" sz="1600">
                <a:latin typeface="Inter"/>
                <a:ea typeface="Inter"/>
                <a:cs typeface="Inter"/>
                <a:sym typeface="Inter"/>
              </a:rPr>
              <a:t>lose our creativity</a:t>
            </a:r>
            <a:r>
              <a:rPr i="1" lang="en" sz="1600">
                <a:latin typeface="Inter"/>
                <a:ea typeface="Inter"/>
                <a:cs typeface="Inter"/>
                <a:sym typeface="Inter"/>
              </a:rPr>
              <a:t> and original thoughts.</a:t>
            </a:r>
            <a:r>
              <a:rPr lang="en" sz="1600">
                <a:latin typeface="Inter"/>
                <a:ea typeface="Inter"/>
                <a:cs typeface="Inter"/>
                <a:sym typeface="Inter"/>
              </a:rPr>
              <a:t>”</a:t>
            </a:r>
            <a:endParaRPr sz="1600">
              <a:latin typeface="Inter"/>
              <a:ea typeface="Inter"/>
              <a:cs typeface="Inter"/>
              <a:sym typeface="Inte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latin typeface="Inter"/>
                <a:ea typeface="Inter"/>
                <a:cs typeface="Inter"/>
                <a:sym typeface="Inter"/>
              </a:rPr>
              <a:t>Students are concerned about LLM dependence</a:t>
            </a:r>
            <a:endParaRPr>
              <a:latin typeface="Inter"/>
              <a:ea typeface="Inter"/>
              <a:cs typeface="Inter"/>
              <a:sym typeface="Inter"/>
            </a:endParaRPr>
          </a:p>
        </p:txBody>
      </p:sp>
      <p:sp>
        <p:nvSpPr>
          <p:cNvPr id="445" name="Google Shape;445;p56"/>
          <p:cNvSpPr txBox="1"/>
          <p:nvPr/>
        </p:nvSpPr>
        <p:spPr>
          <a:xfrm>
            <a:off x="311700" y="1017725"/>
            <a:ext cx="8264700" cy="6264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1200"/>
              </a:spcAft>
              <a:buNone/>
            </a:pPr>
            <a:r>
              <a:rPr lang="en" u="sng">
                <a:solidFill>
                  <a:schemeClr val="dk1"/>
                </a:solidFill>
                <a:latin typeface="Inter"/>
                <a:ea typeface="Inter"/>
                <a:cs typeface="Inter"/>
                <a:sym typeface="Inter"/>
              </a:rPr>
              <a:t>Question</a:t>
            </a:r>
            <a:r>
              <a:rPr lang="en">
                <a:solidFill>
                  <a:schemeClr val="dk1"/>
                </a:solidFill>
                <a:latin typeface="Inter"/>
                <a:ea typeface="Inter"/>
                <a:cs typeface="Inter"/>
                <a:sym typeface="Inter"/>
              </a:rPr>
              <a:t>: </a:t>
            </a:r>
            <a:r>
              <a:rPr lang="en">
                <a:solidFill>
                  <a:schemeClr val="dk1"/>
                </a:solidFill>
                <a:highlight>
                  <a:srgbClr val="FFFFFF"/>
                </a:highlight>
                <a:latin typeface="Inter"/>
                <a:ea typeface="Inter"/>
                <a:cs typeface="Inter"/>
                <a:sym typeface="Inter"/>
              </a:rPr>
              <a:t>What concerns, if any, do you have about AI in education? Has PingPong changed your perspective at all? </a:t>
            </a:r>
            <a:endParaRPr>
              <a:solidFill>
                <a:schemeClr val="dk1"/>
              </a:solidFill>
              <a:latin typeface="Inter"/>
              <a:ea typeface="Inter"/>
              <a:cs typeface="Inter"/>
              <a:sym typeface="Inter"/>
            </a:endParaRPr>
          </a:p>
        </p:txBody>
      </p:sp>
      <p:sp>
        <p:nvSpPr>
          <p:cNvPr id="446" name="Google Shape;446;p56"/>
          <p:cNvSpPr txBox="1"/>
          <p:nvPr/>
        </p:nvSpPr>
        <p:spPr>
          <a:xfrm>
            <a:off x="1373800" y="1746100"/>
            <a:ext cx="7227600" cy="923400"/>
          </a:xfrm>
          <a:prstGeom prst="rect">
            <a:avLst/>
          </a:prstGeom>
          <a:noFill/>
          <a:ln cap="flat" cmpd="sng" w="19050">
            <a:solidFill>
              <a:srgbClr val="331F8A"/>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Inter"/>
                <a:ea typeface="Inter"/>
                <a:cs typeface="Inter"/>
                <a:sym typeface="Inter"/>
              </a:rPr>
              <a:t>“</a:t>
            </a:r>
            <a:r>
              <a:rPr i="1" lang="en" sz="1600">
                <a:latin typeface="Inter"/>
                <a:ea typeface="Inter"/>
                <a:cs typeface="Inter"/>
                <a:sym typeface="Inter"/>
              </a:rPr>
              <a:t>Rather than concern whether AI will replace tutors, perhaps we need </a:t>
            </a:r>
            <a:r>
              <a:rPr b="1" i="1" lang="en" sz="1600">
                <a:latin typeface="Inter"/>
                <a:ea typeface="Inter"/>
                <a:cs typeface="Inter"/>
                <a:sym typeface="Inter"/>
              </a:rPr>
              <a:t>more course staff</a:t>
            </a:r>
            <a:r>
              <a:rPr i="1" lang="en" sz="1600">
                <a:latin typeface="Inter"/>
                <a:ea typeface="Inter"/>
                <a:cs typeface="Inter"/>
                <a:sym typeface="Inter"/>
              </a:rPr>
              <a:t> in general if there’s a gap in getting our questions met?</a:t>
            </a:r>
            <a:r>
              <a:rPr lang="en" sz="1600">
                <a:latin typeface="Inter"/>
                <a:ea typeface="Inter"/>
                <a:cs typeface="Inter"/>
                <a:sym typeface="Inter"/>
              </a:rPr>
              <a:t>”</a:t>
            </a:r>
            <a:endParaRPr sz="1600">
              <a:latin typeface="Inter"/>
              <a:ea typeface="Inter"/>
              <a:cs typeface="Inter"/>
              <a:sym typeface="Inte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latin typeface="Inter"/>
                <a:ea typeface="Inter"/>
                <a:cs typeface="Inter"/>
                <a:sym typeface="Inter"/>
              </a:rPr>
              <a:t>Students are concerned about LLM dependence</a:t>
            </a:r>
            <a:endParaRPr>
              <a:latin typeface="Inter"/>
              <a:ea typeface="Inter"/>
              <a:cs typeface="Inter"/>
              <a:sym typeface="Inter"/>
            </a:endParaRPr>
          </a:p>
        </p:txBody>
      </p:sp>
      <p:sp>
        <p:nvSpPr>
          <p:cNvPr id="452" name="Google Shape;452;p57"/>
          <p:cNvSpPr txBox="1"/>
          <p:nvPr/>
        </p:nvSpPr>
        <p:spPr>
          <a:xfrm>
            <a:off x="311700" y="1017725"/>
            <a:ext cx="8264700" cy="6264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1200"/>
              </a:spcAft>
              <a:buNone/>
            </a:pPr>
            <a:r>
              <a:rPr lang="en" u="sng">
                <a:solidFill>
                  <a:schemeClr val="dk1"/>
                </a:solidFill>
                <a:latin typeface="Inter"/>
                <a:ea typeface="Inter"/>
                <a:cs typeface="Inter"/>
                <a:sym typeface="Inter"/>
              </a:rPr>
              <a:t>Question</a:t>
            </a:r>
            <a:r>
              <a:rPr lang="en">
                <a:solidFill>
                  <a:schemeClr val="dk1"/>
                </a:solidFill>
                <a:latin typeface="Inter"/>
                <a:ea typeface="Inter"/>
                <a:cs typeface="Inter"/>
                <a:sym typeface="Inter"/>
              </a:rPr>
              <a:t>: </a:t>
            </a:r>
            <a:r>
              <a:rPr lang="en">
                <a:solidFill>
                  <a:schemeClr val="dk1"/>
                </a:solidFill>
                <a:highlight>
                  <a:srgbClr val="FFFFFF"/>
                </a:highlight>
                <a:latin typeface="Inter"/>
                <a:ea typeface="Inter"/>
                <a:cs typeface="Inter"/>
                <a:sym typeface="Inter"/>
              </a:rPr>
              <a:t>What concerns, if any, do you have about AI in education? Has PingPong changed your perspective at all? </a:t>
            </a:r>
            <a:endParaRPr>
              <a:solidFill>
                <a:schemeClr val="dk1"/>
              </a:solidFill>
              <a:latin typeface="Inter"/>
              <a:ea typeface="Inter"/>
              <a:cs typeface="Inter"/>
              <a:sym typeface="Inter"/>
            </a:endParaRPr>
          </a:p>
        </p:txBody>
      </p:sp>
      <p:sp>
        <p:nvSpPr>
          <p:cNvPr id="453" name="Google Shape;453;p57"/>
          <p:cNvSpPr txBox="1"/>
          <p:nvPr/>
        </p:nvSpPr>
        <p:spPr>
          <a:xfrm>
            <a:off x="1373800" y="1746100"/>
            <a:ext cx="7227600" cy="923400"/>
          </a:xfrm>
          <a:prstGeom prst="rect">
            <a:avLst/>
          </a:prstGeom>
          <a:noFill/>
          <a:ln cap="flat" cmpd="sng" w="19050">
            <a:solidFill>
              <a:srgbClr val="331F8A"/>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Inter"/>
                <a:ea typeface="Inter"/>
                <a:cs typeface="Inter"/>
                <a:sym typeface="Inter"/>
              </a:rPr>
              <a:t>“</a:t>
            </a:r>
            <a:r>
              <a:rPr i="1" lang="en" sz="1600">
                <a:latin typeface="Inter"/>
                <a:ea typeface="Inter"/>
                <a:cs typeface="Inter"/>
                <a:sym typeface="Inter"/>
              </a:rPr>
              <a:t>Rather than concern whether AI will replace tutors, perhaps we need </a:t>
            </a:r>
            <a:r>
              <a:rPr b="1" i="1" lang="en" sz="1600">
                <a:latin typeface="Inter"/>
                <a:ea typeface="Inter"/>
                <a:cs typeface="Inter"/>
                <a:sym typeface="Inter"/>
              </a:rPr>
              <a:t>more course staff</a:t>
            </a:r>
            <a:r>
              <a:rPr i="1" lang="en" sz="1600">
                <a:latin typeface="Inter"/>
                <a:ea typeface="Inter"/>
                <a:cs typeface="Inter"/>
                <a:sym typeface="Inter"/>
              </a:rPr>
              <a:t> in general if there’s a gap in getting our questions met?</a:t>
            </a:r>
            <a:r>
              <a:rPr lang="en" sz="1600">
                <a:latin typeface="Inter"/>
                <a:ea typeface="Inter"/>
                <a:cs typeface="Inter"/>
                <a:sym typeface="Inter"/>
              </a:rPr>
              <a:t>”</a:t>
            </a:r>
            <a:endParaRPr sz="1600">
              <a:latin typeface="Inter"/>
              <a:ea typeface="Inter"/>
              <a:cs typeface="Inter"/>
              <a:sym typeface="Inter"/>
            </a:endParaRPr>
          </a:p>
        </p:txBody>
      </p:sp>
      <p:sp>
        <p:nvSpPr>
          <p:cNvPr id="454" name="Google Shape;454;p57"/>
          <p:cNvSpPr txBox="1"/>
          <p:nvPr/>
        </p:nvSpPr>
        <p:spPr>
          <a:xfrm>
            <a:off x="311700" y="2864513"/>
            <a:ext cx="7227600" cy="923400"/>
          </a:xfrm>
          <a:prstGeom prst="rect">
            <a:avLst/>
          </a:prstGeom>
          <a:noFill/>
          <a:ln cap="flat" cmpd="sng" w="19050">
            <a:solidFill>
              <a:srgbClr val="FF7F5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Inter"/>
                <a:ea typeface="Inter"/>
                <a:cs typeface="Inter"/>
                <a:sym typeface="Inter"/>
              </a:rPr>
              <a:t>“</a:t>
            </a:r>
            <a:r>
              <a:rPr i="1" lang="en" sz="1600">
                <a:latin typeface="Inter"/>
                <a:ea typeface="Inter"/>
                <a:cs typeface="Inter"/>
                <a:sym typeface="Inter"/>
              </a:rPr>
              <a:t>I hope instead of banning the use of LLMs in classrooms, we should be taught to </a:t>
            </a:r>
            <a:r>
              <a:rPr b="1" i="1" lang="en" sz="1600">
                <a:latin typeface="Inter"/>
                <a:ea typeface="Inter"/>
                <a:cs typeface="Inter"/>
                <a:sym typeface="Inter"/>
              </a:rPr>
              <a:t>integrate it into our work</a:t>
            </a:r>
            <a:r>
              <a:rPr i="1" lang="en" sz="1600">
                <a:latin typeface="Inter"/>
                <a:ea typeface="Inter"/>
                <a:cs typeface="Inter"/>
                <a:sym typeface="Inter"/>
              </a:rPr>
              <a:t>. I like how we were taught to use Ping Pong as a tool in this course.</a:t>
            </a:r>
            <a:r>
              <a:rPr lang="en" sz="1600">
                <a:latin typeface="Inter"/>
                <a:ea typeface="Inter"/>
                <a:cs typeface="Inter"/>
                <a:sym typeface="Inter"/>
              </a:rPr>
              <a:t>”</a:t>
            </a:r>
            <a:endParaRPr sz="1600">
              <a:latin typeface="Inter"/>
              <a:ea typeface="Inter"/>
              <a:cs typeface="Inter"/>
              <a:sym typeface="Inte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latin typeface="Inter"/>
                <a:ea typeface="Inter"/>
                <a:cs typeface="Inter"/>
                <a:sym typeface="Inter"/>
              </a:rPr>
              <a:t>Students are concerned about LLM dependence</a:t>
            </a:r>
            <a:endParaRPr>
              <a:latin typeface="Inter"/>
              <a:ea typeface="Inter"/>
              <a:cs typeface="Inter"/>
              <a:sym typeface="Inter"/>
            </a:endParaRPr>
          </a:p>
        </p:txBody>
      </p:sp>
      <p:sp>
        <p:nvSpPr>
          <p:cNvPr id="460" name="Google Shape;460;p58"/>
          <p:cNvSpPr txBox="1"/>
          <p:nvPr/>
        </p:nvSpPr>
        <p:spPr>
          <a:xfrm>
            <a:off x="311700" y="1017725"/>
            <a:ext cx="8264700" cy="6264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1200"/>
              </a:spcAft>
              <a:buNone/>
            </a:pPr>
            <a:r>
              <a:rPr lang="en" u="sng">
                <a:solidFill>
                  <a:schemeClr val="dk1"/>
                </a:solidFill>
                <a:latin typeface="Inter"/>
                <a:ea typeface="Inter"/>
                <a:cs typeface="Inter"/>
                <a:sym typeface="Inter"/>
              </a:rPr>
              <a:t>Question</a:t>
            </a:r>
            <a:r>
              <a:rPr lang="en">
                <a:solidFill>
                  <a:schemeClr val="dk1"/>
                </a:solidFill>
                <a:latin typeface="Inter"/>
                <a:ea typeface="Inter"/>
                <a:cs typeface="Inter"/>
                <a:sym typeface="Inter"/>
              </a:rPr>
              <a:t>: </a:t>
            </a:r>
            <a:r>
              <a:rPr lang="en">
                <a:solidFill>
                  <a:schemeClr val="dk1"/>
                </a:solidFill>
                <a:highlight>
                  <a:srgbClr val="FFFFFF"/>
                </a:highlight>
                <a:latin typeface="Inter"/>
                <a:ea typeface="Inter"/>
                <a:cs typeface="Inter"/>
                <a:sym typeface="Inter"/>
              </a:rPr>
              <a:t>What concerns, if any, do you have about AI in education? Has PingPong changed your perspective at all? </a:t>
            </a:r>
            <a:endParaRPr>
              <a:solidFill>
                <a:schemeClr val="dk1"/>
              </a:solidFill>
              <a:latin typeface="Inter"/>
              <a:ea typeface="Inter"/>
              <a:cs typeface="Inter"/>
              <a:sym typeface="Inter"/>
            </a:endParaRPr>
          </a:p>
        </p:txBody>
      </p:sp>
      <p:sp>
        <p:nvSpPr>
          <p:cNvPr id="461" name="Google Shape;461;p58"/>
          <p:cNvSpPr txBox="1"/>
          <p:nvPr/>
        </p:nvSpPr>
        <p:spPr>
          <a:xfrm>
            <a:off x="1373800" y="1746100"/>
            <a:ext cx="7227600" cy="923400"/>
          </a:xfrm>
          <a:prstGeom prst="rect">
            <a:avLst/>
          </a:prstGeom>
          <a:noFill/>
          <a:ln cap="flat" cmpd="sng" w="19050">
            <a:solidFill>
              <a:srgbClr val="331F8A"/>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Inter"/>
                <a:ea typeface="Inter"/>
                <a:cs typeface="Inter"/>
                <a:sym typeface="Inter"/>
              </a:rPr>
              <a:t>“</a:t>
            </a:r>
            <a:r>
              <a:rPr i="1" lang="en" sz="1600">
                <a:latin typeface="Inter"/>
                <a:ea typeface="Inter"/>
                <a:cs typeface="Inter"/>
                <a:sym typeface="Inter"/>
              </a:rPr>
              <a:t>Rather than concern whether AI will replace tutors, perhaps we need </a:t>
            </a:r>
            <a:r>
              <a:rPr b="1" i="1" lang="en" sz="1600">
                <a:latin typeface="Inter"/>
                <a:ea typeface="Inter"/>
                <a:cs typeface="Inter"/>
                <a:sym typeface="Inter"/>
              </a:rPr>
              <a:t>more course staff</a:t>
            </a:r>
            <a:r>
              <a:rPr i="1" lang="en" sz="1600">
                <a:latin typeface="Inter"/>
                <a:ea typeface="Inter"/>
                <a:cs typeface="Inter"/>
                <a:sym typeface="Inter"/>
              </a:rPr>
              <a:t> in general if there’s a gap in getting our questions met?</a:t>
            </a:r>
            <a:r>
              <a:rPr lang="en" sz="1600">
                <a:latin typeface="Inter"/>
                <a:ea typeface="Inter"/>
                <a:cs typeface="Inter"/>
                <a:sym typeface="Inter"/>
              </a:rPr>
              <a:t>”</a:t>
            </a:r>
            <a:endParaRPr sz="1600">
              <a:latin typeface="Inter"/>
              <a:ea typeface="Inter"/>
              <a:cs typeface="Inter"/>
              <a:sym typeface="Inter"/>
            </a:endParaRPr>
          </a:p>
        </p:txBody>
      </p:sp>
      <p:sp>
        <p:nvSpPr>
          <p:cNvPr id="462" name="Google Shape;462;p58"/>
          <p:cNvSpPr txBox="1"/>
          <p:nvPr/>
        </p:nvSpPr>
        <p:spPr>
          <a:xfrm>
            <a:off x="311700" y="2864513"/>
            <a:ext cx="7227600" cy="923400"/>
          </a:xfrm>
          <a:prstGeom prst="rect">
            <a:avLst/>
          </a:prstGeom>
          <a:noFill/>
          <a:ln cap="flat" cmpd="sng" w="19050">
            <a:solidFill>
              <a:srgbClr val="FF7F5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Inter"/>
                <a:ea typeface="Inter"/>
                <a:cs typeface="Inter"/>
                <a:sym typeface="Inter"/>
              </a:rPr>
              <a:t>“</a:t>
            </a:r>
            <a:r>
              <a:rPr i="1" lang="en" sz="1600">
                <a:latin typeface="Inter"/>
                <a:ea typeface="Inter"/>
                <a:cs typeface="Inter"/>
                <a:sym typeface="Inter"/>
              </a:rPr>
              <a:t>I hope instead of banning the use of LLMs in classrooms, we should be taught to </a:t>
            </a:r>
            <a:r>
              <a:rPr b="1" i="1" lang="en" sz="1600">
                <a:latin typeface="Inter"/>
                <a:ea typeface="Inter"/>
                <a:cs typeface="Inter"/>
                <a:sym typeface="Inter"/>
              </a:rPr>
              <a:t>integrate it into our work</a:t>
            </a:r>
            <a:r>
              <a:rPr i="1" lang="en" sz="1600">
                <a:latin typeface="Inter"/>
                <a:ea typeface="Inter"/>
                <a:cs typeface="Inter"/>
                <a:sym typeface="Inter"/>
              </a:rPr>
              <a:t>. I like how we were taught to use Ping Pong as a tool in this course.</a:t>
            </a:r>
            <a:r>
              <a:rPr lang="en" sz="1600">
                <a:latin typeface="Inter"/>
                <a:ea typeface="Inter"/>
                <a:cs typeface="Inter"/>
                <a:sym typeface="Inter"/>
              </a:rPr>
              <a:t>”</a:t>
            </a:r>
            <a:endParaRPr sz="1600">
              <a:latin typeface="Inter"/>
              <a:ea typeface="Inter"/>
              <a:cs typeface="Inter"/>
              <a:sym typeface="Inter"/>
            </a:endParaRPr>
          </a:p>
        </p:txBody>
      </p:sp>
      <p:sp>
        <p:nvSpPr>
          <p:cNvPr id="463" name="Google Shape;463;p58"/>
          <p:cNvSpPr txBox="1"/>
          <p:nvPr/>
        </p:nvSpPr>
        <p:spPr>
          <a:xfrm>
            <a:off x="1431550" y="3982950"/>
            <a:ext cx="7112100" cy="431100"/>
          </a:xfrm>
          <a:prstGeom prst="rect">
            <a:avLst/>
          </a:prstGeom>
          <a:noFill/>
          <a:ln cap="flat" cmpd="sng" w="19050">
            <a:solidFill>
              <a:srgbClr val="331F8A"/>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Inter"/>
                <a:ea typeface="Inter"/>
                <a:cs typeface="Inter"/>
                <a:sym typeface="Inter"/>
              </a:rPr>
              <a:t>“</a:t>
            </a:r>
            <a:r>
              <a:rPr i="1" lang="en" sz="1600">
                <a:latin typeface="Inter"/>
                <a:ea typeface="Inter"/>
                <a:cs typeface="Inter"/>
                <a:sym typeface="Inter"/>
              </a:rPr>
              <a:t>I feel positively and </a:t>
            </a:r>
            <a:r>
              <a:rPr b="1" i="1" lang="en" sz="1600">
                <a:latin typeface="Inter"/>
                <a:ea typeface="Inter"/>
                <a:cs typeface="Inter"/>
                <a:sym typeface="Inter"/>
              </a:rPr>
              <a:t>more optimistic</a:t>
            </a:r>
            <a:r>
              <a:rPr i="1" lang="en" sz="1600">
                <a:latin typeface="Inter"/>
                <a:ea typeface="Inter"/>
                <a:cs typeface="Inter"/>
                <a:sym typeface="Inter"/>
              </a:rPr>
              <a:t> that an amazing resource exists.</a:t>
            </a:r>
            <a:r>
              <a:rPr lang="en" sz="1600">
                <a:latin typeface="Inter"/>
                <a:ea typeface="Inter"/>
                <a:cs typeface="Inter"/>
                <a:sym typeface="Inter"/>
              </a:rPr>
              <a:t>”</a:t>
            </a:r>
            <a:endParaRPr sz="1600">
              <a:latin typeface="Inter"/>
              <a:ea typeface="Inter"/>
              <a:cs typeface="Inter"/>
              <a:sym typeface="Inte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59"/>
          <p:cNvSpPr txBox="1"/>
          <p:nvPr>
            <p:ph type="title"/>
          </p:nvPr>
        </p:nvSpPr>
        <p:spPr>
          <a:xfrm>
            <a:off x="209025" y="485250"/>
            <a:ext cx="8520600" cy="1352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Inter"/>
                <a:ea typeface="Inter"/>
                <a:cs typeface="Inter"/>
                <a:sym typeface="Inter"/>
              </a:rPr>
              <a:t>For those who chatted with PingPong </a:t>
            </a:r>
            <a:r>
              <a:rPr b="1" lang="en">
                <a:latin typeface="Inter"/>
                <a:ea typeface="Inter"/>
                <a:cs typeface="Inter"/>
                <a:sym typeface="Inter"/>
              </a:rPr>
              <a:t>less</a:t>
            </a:r>
            <a:r>
              <a:rPr lang="en">
                <a:latin typeface="Inter"/>
                <a:ea typeface="Inter"/>
                <a:cs typeface="Inter"/>
                <a:sym typeface="Inter"/>
              </a:rPr>
              <a:t> than 5 times:</a:t>
            </a:r>
            <a:endParaRPr>
              <a:latin typeface="Inter"/>
              <a:ea typeface="Inter"/>
              <a:cs typeface="Inter"/>
              <a:sym typeface="Inter"/>
            </a:endParaRPr>
          </a:p>
        </p:txBody>
      </p:sp>
      <p:pic>
        <p:nvPicPr>
          <p:cNvPr id="469" name="Google Shape;469;p59"/>
          <p:cNvPicPr preferRelativeResize="0"/>
          <p:nvPr/>
        </p:nvPicPr>
        <p:blipFill>
          <a:blip r:embed="rId3">
            <a:alphaModFix/>
          </a:blip>
          <a:stretch>
            <a:fillRect/>
          </a:stretch>
        </p:blipFill>
        <p:spPr>
          <a:xfrm>
            <a:off x="2437250" y="1502300"/>
            <a:ext cx="4269501" cy="3356549"/>
          </a:xfrm>
          <a:prstGeom prst="rect">
            <a:avLst/>
          </a:prstGeom>
          <a:noFill/>
          <a:ln>
            <a:noFill/>
          </a:ln>
        </p:spPr>
      </p:pic>
      <p:sp>
        <p:nvSpPr>
          <p:cNvPr id="470" name="Google Shape;470;p59"/>
          <p:cNvSpPr/>
          <p:nvPr/>
        </p:nvSpPr>
        <p:spPr>
          <a:xfrm>
            <a:off x="3019125" y="3192475"/>
            <a:ext cx="939600" cy="1576200"/>
          </a:xfrm>
          <a:prstGeom prst="rect">
            <a:avLst/>
          </a:prstGeom>
          <a:noFill/>
          <a:ln cap="flat" cmpd="sng" w="1905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latin typeface="Inter"/>
                <a:ea typeface="Inter"/>
                <a:cs typeface="Inter"/>
                <a:sym typeface="Inter"/>
              </a:rPr>
              <a:t>16% had less than 5 chats</a:t>
            </a:r>
            <a:endParaRPr>
              <a:latin typeface="Inter"/>
              <a:ea typeface="Inter"/>
              <a:cs typeface="Inter"/>
              <a:sym typeface="Inter"/>
            </a:endParaRPr>
          </a:p>
        </p:txBody>
      </p:sp>
      <p:sp>
        <p:nvSpPr>
          <p:cNvPr id="476" name="Google Shape;476;p60"/>
          <p:cNvSpPr txBox="1"/>
          <p:nvPr>
            <p:ph idx="1" type="body"/>
          </p:nvPr>
        </p:nvSpPr>
        <p:spPr>
          <a:xfrm>
            <a:off x="415825" y="939000"/>
            <a:ext cx="4194300" cy="1004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500" u="sng">
                <a:solidFill>
                  <a:schemeClr val="dk1"/>
                </a:solidFill>
                <a:latin typeface="Inter"/>
                <a:ea typeface="Inter"/>
                <a:cs typeface="Inter"/>
                <a:sym typeface="Inter"/>
              </a:rPr>
              <a:t>Question</a:t>
            </a:r>
            <a:r>
              <a:rPr lang="en" sz="1500">
                <a:solidFill>
                  <a:schemeClr val="dk1"/>
                </a:solidFill>
                <a:latin typeface="Inter"/>
                <a:ea typeface="Inter"/>
                <a:cs typeface="Inter"/>
                <a:sym typeface="Inter"/>
              </a:rPr>
              <a:t>: </a:t>
            </a:r>
            <a:r>
              <a:rPr lang="en" sz="1500">
                <a:solidFill>
                  <a:schemeClr val="dk1"/>
                </a:solidFill>
                <a:highlight>
                  <a:srgbClr val="FFFFFF"/>
                </a:highlight>
                <a:latin typeface="Inter"/>
                <a:ea typeface="Inter"/>
                <a:cs typeface="Inter"/>
                <a:sym typeface="Inter"/>
              </a:rPr>
              <a:t>Why have you chatted with PingPong less than 5 times?</a:t>
            </a:r>
            <a:endParaRPr sz="1500">
              <a:solidFill>
                <a:schemeClr val="dk1"/>
              </a:solidFill>
              <a:latin typeface="Inter"/>
              <a:ea typeface="Inter"/>
              <a:cs typeface="Inter"/>
              <a:sym typeface="Inter"/>
            </a:endParaRPr>
          </a:p>
          <a:p>
            <a:pPr indent="0" lvl="0" marL="914400" rtl="0" algn="l">
              <a:lnSpc>
                <a:spcPct val="105000"/>
              </a:lnSpc>
              <a:spcBef>
                <a:spcPts val="1200"/>
              </a:spcBef>
              <a:spcAft>
                <a:spcPts val="1200"/>
              </a:spcAft>
              <a:buSzPts val="1018"/>
              <a:buNone/>
            </a:pPr>
            <a:r>
              <a:t/>
            </a:r>
            <a:endParaRPr sz="1750">
              <a:solidFill>
                <a:schemeClr val="dk1"/>
              </a:solidFill>
              <a:latin typeface="Inter"/>
              <a:ea typeface="Inter"/>
              <a:cs typeface="Inter"/>
              <a:sym typeface="Inter"/>
            </a:endParaRPr>
          </a:p>
        </p:txBody>
      </p:sp>
      <p:sp>
        <p:nvSpPr>
          <p:cNvPr id="477" name="Google Shape;477;p60"/>
          <p:cNvSpPr txBox="1"/>
          <p:nvPr>
            <p:ph idx="1" type="body"/>
          </p:nvPr>
        </p:nvSpPr>
        <p:spPr>
          <a:xfrm>
            <a:off x="4725100" y="939000"/>
            <a:ext cx="4194300" cy="1004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500" u="sng">
                <a:solidFill>
                  <a:srgbClr val="999999"/>
                </a:solidFill>
                <a:latin typeface="Inter"/>
                <a:ea typeface="Inter"/>
                <a:cs typeface="Inter"/>
                <a:sym typeface="Inter"/>
              </a:rPr>
              <a:t>Question</a:t>
            </a:r>
            <a:r>
              <a:rPr lang="en" sz="1500">
                <a:solidFill>
                  <a:srgbClr val="999999"/>
                </a:solidFill>
                <a:latin typeface="Inter"/>
                <a:ea typeface="Inter"/>
                <a:cs typeface="Inter"/>
                <a:sym typeface="Inter"/>
              </a:rPr>
              <a:t>: </a:t>
            </a:r>
            <a:r>
              <a:rPr lang="en" sz="1500">
                <a:solidFill>
                  <a:srgbClr val="999999"/>
                </a:solidFill>
                <a:highlight>
                  <a:srgbClr val="FFFFFF"/>
                </a:highlight>
                <a:latin typeface="Inter"/>
                <a:ea typeface="Inter"/>
                <a:cs typeface="Inter"/>
                <a:sym typeface="Inter"/>
              </a:rPr>
              <a:t>Would you use PingPong more if it were different?</a:t>
            </a:r>
            <a:endParaRPr sz="1500">
              <a:solidFill>
                <a:srgbClr val="999999"/>
              </a:solidFill>
              <a:latin typeface="Inter"/>
              <a:ea typeface="Inter"/>
              <a:cs typeface="Inter"/>
              <a:sym typeface="Inter"/>
            </a:endParaRPr>
          </a:p>
          <a:p>
            <a:pPr indent="0" lvl="0" marL="914400" rtl="0" algn="l">
              <a:lnSpc>
                <a:spcPct val="105000"/>
              </a:lnSpc>
              <a:spcBef>
                <a:spcPts val="1200"/>
              </a:spcBef>
              <a:spcAft>
                <a:spcPts val="1200"/>
              </a:spcAft>
              <a:buSzPts val="1018"/>
              <a:buNone/>
            </a:pPr>
            <a:r>
              <a:t/>
            </a:r>
            <a:endParaRPr sz="1750">
              <a:solidFill>
                <a:schemeClr val="dk1"/>
              </a:solidFill>
              <a:latin typeface="Source Code Pro"/>
              <a:ea typeface="Source Code Pro"/>
              <a:cs typeface="Source Code Pro"/>
              <a:sym typeface="Source Code Pro"/>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Inter"/>
                <a:ea typeface="Inter"/>
                <a:cs typeface="Inter"/>
                <a:sym typeface="Inter"/>
              </a:rPr>
              <a:t>16% had less than 5 chats</a:t>
            </a:r>
            <a:endParaRPr>
              <a:latin typeface="Inter"/>
              <a:ea typeface="Inter"/>
              <a:cs typeface="Inter"/>
              <a:sym typeface="Inter"/>
            </a:endParaRPr>
          </a:p>
        </p:txBody>
      </p:sp>
      <p:sp>
        <p:nvSpPr>
          <p:cNvPr id="483" name="Google Shape;483;p61"/>
          <p:cNvSpPr txBox="1"/>
          <p:nvPr>
            <p:ph idx="1" type="body"/>
          </p:nvPr>
        </p:nvSpPr>
        <p:spPr>
          <a:xfrm>
            <a:off x="415825" y="939000"/>
            <a:ext cx="4194300" cy="1004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500" u="sng">
                <a:solidFill>
                  <a:schemeClr val="dk1"/>
                </a:solidFill>
                <a:latin typeface="Inter"/>
                <a:ea typeface="Inter"/>
                <a:cs typeface="Inter"/>
                <a:sym typeface="Inter"/>
              </a:rPr>
              <a:t>Question</a:t>
            </a:r>
            <a:r>
              <a:rPr lang="en" sz="1500">
                <a:solidFill>
                  <a:schemeClr val="dk1"/>
                </a:solidFill>
                <a:latin typeface="Inter"/>
                <a:ea typeface="Inter"/>
                <a:cs typeface="Inter"/>
                <a:sym typeface="Inter"/>
              </a:rPr>
              <a:t>: </a:t>
            </a:r>
            <a:r>
              <a:rPr lang="en" sz="1500">
                <a:solidFill>
                  <a:schemeClr val="dk1"/>
                </a:solidFill>
                <a:highlight>
                  <a:srgbClr val="FFFFFF"/>
                </a:highlight>
                <a:latin typeface="Inter"/>
                <a:ea typeface="Inter"/>
                <a:cs typeface="Inter"/>
                <a:sym typeface="Inter"/>
              </a:rPr>
              <a:t>Why have you chatted with PingPong less than 5 times?</a:t>
            </a:r>
            <a:endParaRPr sz="1500">
              <a:solidFill>
                <a:schemeClr val="dk1"/>
              </a:solidFill>
              <a:latin typeface="Inter"/>
              <a:ea typeface="Inter"/>
              <a:cs typeface="Inter"/>
              <a:sym typeface="Inter"/>
            </a:endParaRPr>
          </a:p>
          <a:p>
            <a:pPr indent="0" lvl="0" marL="914400" rtl="0" algn="l">
              <a:lnSpc>
                <a:spcPct val="105000"/>
              </a:lnSpc>
              <a:spcBef>
                <a:spcPts val="1200"/>
              </a:spcBef>
              <a:spcAft>
                <a:spcPts val="1200"/>
              </a:spcAft>
              <a:buSzPts val="1018"/>
              <a:buNone/>
            </a:pPr>
            <a:r>
              <a:t/>
            </a:r>
            <a:endParaRPr sz="1750">
              <a:solidFill>
                <a:schemeClr val="dk1"/>
              </a:solidFill>
              <a:latin typeface="Inter"/>
              <a:ea typeface="Inter"/>
              <a:cs typeface="Inter"/>
              <a:sym typeface="Inter"/>
            </a:endParaRPr>
          </a:p>
        </p:txBody>
      </p:sp>
      <p:sp>
        <p:nvSpPr>
          <p:cNvPr id="484" name="Google Shape;484;p61"/>
          <p:cNvSpPr txBox="1"/>
          <p:nvPr>
            <p:ph idx="1" type="body"/>
          </p:nvPr>
        </p:nvSpPr>
        <p:spPr>
          <a:xfrm>
            <a:off x="4725100" y="939000"/>
            <a:ext cx="4194300" cy="1004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500" u="sng">
                <a:solidFill>
                  <a:srgbClr val="999999"/>
                </a:solidFill>
                <a:latin typeface="Inter"/>
                <a:ea typeface="Inter"/>
                <a:cs typeface="Inter"/>
                <a:sym typeface="Inter"/>
              </a:rPr>
              <a:t>Question</a:t>
            </a:r>
            <a:r>
              <a:rPr lang="en" sz="1500">
                <a:solidFill>
                  <a:srgbClr val="999999"/>
                </a:solidFill>
                <a:latin typeface="Inter"/>
                <a:ea typeface="Inter"/>
                <a:cs typeface="Inter"/>
                <a:sym typeface="Inter"/>
              </a:rPr>
              <a:t>: </a:t>
            </a:r>
            <a:r>
              <a:rPr lang="en" sz="1500">
                <a:solidFill>
                  <a:srgbClr val="999999"/>
                </a:solidFill>
                <a:highlight>
                  <a:srgbClr val="FFFFFF"/>
                </a:highlight>
                <a:latin typeface="Inter"/>
                <a:ea typeface="Inter"/>
                <a:cs typeface="Inter"/>
                <a:sym typeface="Inter"/>
              </a:rPr>
              <a:t>Would you use PingPong more if it were different?</a:t>
            </a:r>
            <a:endParaRPr sz="1500">
              <a:solidFill>
                <a:srgbClr val="999999"/>
              </a:solidFill>
              <a:latin typeface="Inter"/>
              <a:ea typeface="Inter"/>
              <a:cs typeface="Inter"/>
              <a:sym typeface="Inter"/>
            </a:endParaRPr>
          </a:p>
          <a:p>
            <a:pPr indent="0" lvl="0" marL="914400" rtl="0" algn="l">
              <a:lnSpc>
                <a:spcPct val="105000"/>
              </a:lnSpc>
              <a:spcBef>
                <a:spcPts val="1200"/>
              </a:spcBef>
              <a:spcAft>
                <a:spcPts val="1200"/>
              </a:spcAft>
              <a:buSzPts val="1018"/>
              <a:buNone/>
            </a:pPr>
            <a:r>
              <a:t/>
            </a:r>
            <a:endParaRPr sz="1750">
              <a:solidFill>
                <a:schemeClr val="dk1"/>
              </a:solidFill>
              <a:latin typeface="Source Code Pro"/>
              <a:ea typeface="Source Code Pro"/>
              <a:cs typeface="Source Code Pro"/>
              <a:sym typeface="Source Code Pro"/>
            </a:endParaRPr>
          </a:p>
        </p:txBody>
      </p:sp>
      <p:sp>
        <p:nvSpPr>
          <p:cNvPr id="485" name="Google Shape;485;p61"/>
          <p:cNvSpPr txBox="1"/>
          <p:nvPr/>
        </p:nvSpPr>
        <p:spPr>
          <a:xfrm>
            <a:off x="415825" y="1665025"/>
            <a:ext cx="3571800" cy="3212400"/>
          </a:xfrm>
          <a:prstGeom prst="rect">
            <a:avLst/>
          </a:prstGeom>
          <a:noFill/>
          <a:ln cap="flat" cmpd="sng" w="19050">
            <a:solidFill>
              <a:srgbClr val="FF7F5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500">
                <a:solidFill>
                  <a:schemeClr val="dk1"/>
                </a:solidFill>
                <a:latin typeface="Inter"/>
                <a:ea typeface="Inter"/>
                <a:cs typeface="Inter"/>
                <a:sym typeface="Inter"/>
              </a:rPr>
              <a:t>3 students - </a:t>
            </a:r>
            <a:r>
              <a:rPr lang="en" sz="1500">
                <a:solidFill>
                  <a:schemeClr val="dk1"/>
                </a:solidFill>
                <a:latin typeface="Inter"/>
                <a:ea typeface="Inter"/>
                <a:cs typeface="Inter"/>
                <a:sym typeface="Inter"/>
              </a:rPr>
              <a:t>I have </a:t>
            </a:r>
            <a:r>
              <a:rPr b="1" lang="en" sz="1500">
                <a:solidFill>
                  <a:schemeClr val="dk1"/>
                </a:solidFill>
                <a:latin typeface="Inter"/>
                <a:ea typeface="Inter"/>
                <a:cs typeface="Inter"/>
                <a:sym typeface="Inter"/>
              </a:rPr>
              <a:t>not needed help</a:t>
            </a:r>
            <a:r>
              <a:rPr lang="en" sz="1500">
                <a:solidFill>
                  <a:schemeClr val="dk1"/>
                </a:solidFill>
                <a:latin typeface="Inter"/>
                <a:ea typeface="Inter"/>
                <a:cs typeface="Inter"/>
                <a:sym typeface="Inter"/>
              </a:rPr>
              <a:t> from an LLM in Stat 131A, BUT I </a:t>
            </a:r>
            <a:r>
              <a:rPr b="1" lang="en" sz="1500">
                <a:solidFill>
                  <a:schemeClr val="dk1"/>
                </a:solidFill>
                <a:latin typeface="Inter"/>
                <a:ea typeface="Inter"/>
                <a:cs typeface="Inter"/>
                <a:sym typeface="Inter"/>
              </a:rPr>
              <a:t>use LLMs</a:t>
            </a:r>
            <a:r>
              <a:rPr lang="en" sz="1500">
                <a:solidFill>
                  <a:schemeClr val="dk1"/>
                </a:solidFill>
                <a:latin typeface="Inter"/>
                <a:ea typeface="Inter"/>
                <a:cs typeface="Inter"/>
                <a:sym typeface="Inter"/>
              </a:rPr>
              <a:t> for help in </a:t>
            </a:r>
            <a:r>
              <a:rPr b="1" lang="en" sz="1500">
                <a:solidFill>
                  <a:schemeClr val="dk1"/>
                </a:solidFill>
                <a:latin typeface="Inter"/>
                <a:ea typeface="Inter"/>
                <a:cs typeface="Inter"/>
                <a:sym typeface="Inter"/>
              </a:rPr>
              <a:t>other classes</a:t>
            </a:r>
            <a:endParaRPr b="1" sz="15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t/>
            </a:r>
            <a:endParaRPr sz="15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lang="en" sz="1500">
                <a:solidFill>
                  <a:schemeClr val="dk1"/>
                </a:solidFill>
                <a:latin typeface="Inter"/>
                <a:ea typeface="Inter"/>
                <a:cs typeface="Inter"/>
                <a:sym typeface="Inter"/>
              </a:rPr>
              <a:t>3 students - I prefer </a:t>
            </a:r>
            <a:r>
              <a:rPr b="1" lang="en" sz="1500">
                <a:solidFill>
                  <a:schemeClr val="dk1"/>
                </a:solidFill>
                <a:latin typeface="Inter"/>
                <a:ea typeface="Inter"/>
                <a:cs typeface="Inter"/>
                <a:sym typeface="Inter"/>
              </a:rPr>
              <a:t>NOT to use LLMs</a:t>
            </a:r>
            <a:r>
              <a:rPr lang="en" sz="1500">
                <a:solidFill>
                  <a:schemeClr val="dk1"/>
                </a:solidFill>
                <a:latin typeface="Inter"/>
                <a:ea typeface="Inter"/>
                <a:cs typeface="Inter"/>
                <a:sym typeface="Inter"/>
              </a:rPr>
              <a:t> for help with ANY of my coursework</a:t>
            </a:r>
            <a:endParaRPr sz="15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t/>
            </a:r>
            <a:endParaRPr sz="15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lang="en" sz="1500">
                <a:solidFill>
                  <a:schemeClr val="dk1"/>
                </a:solidFill>
                <a:latin typeface="Inter"/>
                <a:ea typeface="Inter"/>
                <a:cs typeface="Inter"/>
                <a:sym typeface="Inter"/>
              </a:rPr>
              <a:t>1 student - I’m not sure </a:t>
            </a:r>
            <a:r>
              <a:rPr b="1" lang="en" sz="1500">
                <a:solidFill>
                  <a:schemeClr val="dk1"/>
                </a:solidFill>
                <a:latin typeface="Inter"/>
                <a:ea typeface="Inter"/>
                <a:cs typeface="Inter"/>
                <a:sym typeface="Inter"/>
              </a:rPr>
              <a:t>how to integrate</a:t>
            </a:r>
            <a:r>
              <a:rPr lang="en" sz="1500">
                <a:solidFill>
                  <a:schemeClr val="dk1"/>
                </a:solidFill>
                <a:latin typeface="Inter"/>
                <a:ea typeface="Inter"/>
                <a:cs typeface="Inter"/>
                <a:sym typeface="Inter"/>
              </a:rPr>
              <a:t> LLMs into my study routine</a:t>
            </a:r>
            <a:endParaRPr sz="15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t/>
            </a:r>
            <a:endParaRPr sz="15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lang="en" sz="1500">
                <a:solidFill>
                  <a:schemeClr val="dk1"/>
                </a:solidFill>
                <a:latin typeface="Inter"/>
                <a:ea typeface="Inter"/>
                <a:cs typeface="Inter"/>
                <a:sym typeface="Inter"/>
              </a:rPr>
              <a:t>1 student - I prefer to </a:t>
            </a:r>
            <a:r>
              <a:rPr b="1" lang="en" sz="1500">
                <a:solidFill>
                  <a:schemeClr val="dk1"/>
                </a:solidFill>
                <a:latin typeface="Inter"/>
                <a:ea typeface="Inter"/>
                <a:cs typeface="Inter"/>
                <a:sym typeface="Inter"/>
              </a:rPr>
              <a:t>use other LLMs</a:t>
            </a:r>
            <a:r>
              <a:rPr lang="en" sz="1500">
                <a:solidFill>
                  <a:schemeClr val="dk1"/>
                </a:solidFill>
                <a:latin typeface="Inter"/>
                <a:ea typeface="Inter"/>
                <a:cs typeface="Inter"/>
                <a:sym typeface="Inter"/>
              </a:rPr>
              <a:t> for STAT 131A material</a:t>
            </a:r>
            <a:endParaRPr sz="1500">
              <a:solidFill>
                <a:schemeClr val="dk1"/>
              </a:solidFill>
              <a:latin typeface="Inter"/>
              <a:ea typeface="Inter"/>
              <a:cs typeface="Inter"/>
              <a:sym typeface="Inter"/>
            </a:endParaRPr>
          </a:p>
          <a:p>
            <a:pPr indent="0" lvl="0" marL="0" rtl="0" algn="l">
              <a:spcBef>
                <a:spcPts val="0"/>
              </a:spcBef>
              <a:spcAft>
                <a:spcPts val="0"/>
              </a:spcAft>
              <a:buNone/>
            </a:pPr>
            <a:r>
              <a:t/>
            </a:r>
            <a:endParaRPr sz="1500">
              <a:solidFill>
                <a:schemeClr val="dk1"/>
              </a:solidFill>
              <a:latin typeface="Inter"/>
              <a:ea typeface="Inter"/>
              <a:cs typeface="Inter"/>
              <a:sym typeface="Inte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62"/>
          <p:cNvSpPr/>
          <p:nvPr/>
        </p:nvSpPr>
        <p:spPr>
          <a:xfrm>
            <a:off x="4984150" y="1795825"/>
            <a:ext cx="3571800" cy="2950800"/>
          </a:xfrm>
          <a:prstGeom prst="rect">
            <a:avLst/>
          </a:prstGeom>
          <a:noFill/>
          <a:ln cap="flat" cmpd="sng" w="19050">
            <a:solidFill>
              <a:srgbClr val="331F8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1" name="Google Shape;491;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Inter"/>
                <a:ea typeface="Inter"/>
                <a:cs typeface="Inter"/>
                <a:sym typeface="Inter"/>
              </a:rPr>
              <a:t>16% had less than 5 chats</a:t>
            </a:r>
            <a:endParaRPr>
              <a:latin typeface="Inter"/>
              <a:ea typeface="Inter"/>
              <a:cs typeface="Inter"/>
              <a:sym typeface="Inter"/>
            </a:endParaRPr>
          </a:p>
        </p:txBody>
      </p:sp>
      <p:sp>
        <p:nvSpPr>
          <p:cNvPr id="492" name="Google Shape;492;p62"/>
          <p:cNvSpPr txBox="1"/>
          <p:nvPr>
            <p:ph idx="1" type="body"/>
          </p:nvPr>
        </p:nvSpPr>
        <p:spPr>
          <a:xfrm>
            <a:off x="415825" y="939000"/>
            <a:ext cx="4194300" cy="1004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500" u="sng">
                <a:solidFill>
                  <a:schemeClr val="dk1"/>
                </a:solidFill>
                <a:latin typeface="Inter"/>
                <a:ea typeface="Inter"/>
                <a:cs typeface="Inter"/>
                <a:sym typeface="Inter"/>
              </a:rPr>
              <a:t>Question</a:t>
            </a:r>
            <a:r>
              <a:rPr lang="en" sz="1500">
                <a:solidFill>
                  <a:schemeClr val="dk1"/>
                </a:solidFill>
                <a:latin typeface="Inter"/>
                <a:ea typeface="Inter"/>
                <a:cs typeface="Inter"/>
                <a:sym typeface="Inter"/>
              </a:rPr>
              <a:t>: </a:t>
            </a:r>
            <a:r>
              <a:rPr lang="en" sz="1500">
                <a:solidFill>
                  <a:schemeClr val="dk1"/>
                </a:solidFill>
                <a:highlight>
                  <a:srgbClr val="FFFFFF"/>
                </a:highlight>
                <a:latin typeface="Inter"/>
                <a:ea typeface="Inter"/>
                <a:cs typeface="Inter"/>
                <a:sym typeface="Inter"/>
              </a:rPr>
              <a:t>Why have you chatted with PingPong less than 5 times</a:t>
            </a:r>
            <a:r>
              <a:rPr lang="en" sz="1500">
                <a:solidFill>
                  <a:schemeClr val="dk1"/>
                </a:solidFill>
                <a:highlight>
                  <a:srgbClr val="FFFFFF"/>
                </a:highlight>
                <a:latin typeface="Inter"/>
                <a:ea typeface="Inter"/>
                <a:cs typeface="Inter"/>
                <a:sym typeface="Inter"/>
              </a:rPr>
              <a:t>?</a:t>
            </a:r>
            <a:endParaRPr sz="1500">
              <a:solidFill>
                <a:schemeClr val="dk1"/>
              </a:solidFill>
              <a:latin typeface="Inter"/>
              <a:ea typeface="Inter"/>
              <a:cs typeface="Inter"/>
              <a:sym typeface="Inter"/>
            </a:endParaRPr>
          </a:p>
          <a:p>
            <a:pPr indent="0" lvl="0" marL="914400" rtl="0" algn="l">
              <a:lnSpc>
                <a:spcPct val="105000"/>
              </a:lnSpc>
              <a:spcBef>
                <a:spcPts val="1200"/>
              </a:spcBef>
              <a:spcAft>
                <a:spcPts val="1200"/>
              </a:spcAft>
              <a:buSzPts val="1018"/>
              <a:buNone/>
            </a:pPr>
            <a:r>
              <a:t/>
            </a:r>
            <a:endParaRPr sz="1750">
              <a:solidFill>
                <a:schemeClr val="dk1"/>
              </a:solidFill>
              <a:latin typeface="Inter"/>
              <a:ea typeface="Inter"/>
              <a:cs typeface="Inter"/>
              <a:sym typeface="Inter"/>
            </a:endParaRPr>
          </a:p>
        </p:txBody>
      </p:sp>
      <p:sp>
        <p:nvSpPr>
          <p:cNvPr id="493" name="Google Shape;493;p62"/>
          <p:cNvSpPr txBox="1"/>
          <p:nvPr>
            <p:ph idx="1" type="body"/>
          </p:nvPr>
        </p:nvSpPr>
        <p:spPr>
          <a:xfrm>
            <a:off x="4725100" y="939000"/>
            <a:ext cx="4194300" cy="1004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1500" u="sng">
                <a:solidFill>
                  <a:schemeClr val="dk1"/>
                </a:solidFill>
                <a:latin typeface="Inter"/>
                <a:ea typeface="Inter"/>
                <a:cs typeface="Inter"/>
                <a:sym typeface="Inter"/>
              </a:rPr>
              <a:t>Question</a:t>
            </a:r>
            <a:r>
              <a:rPr lang="en" sz="1500">
                <a:solidFill>
                  <a:schemeClr val="dk1"/>
                </a:solidFill>
                <a:latin typeface="Inter"/>
                <a:ea typeface="Inter"/>
                <a:cs typeface="Inter"/>
                <a:sym typeface="Inter"/>
              </a:rPr>
              <a:t>: </a:t>
            </a:r>
            <a:r>
              <a:rPr lang="en" sz="1500">
                <a:solidFill>
                  <a:schemeClr val="dk1"/>
                </a:solidFill>
                <a:highlight>
                  <a:srgbClr val="FFFFFF"/>
                </a:highlight>
                <a:latin typeface="Inter"/>
                <a:ea typeface="Inter"/>
                <a:cs typeface="Inter"/>
                <a:sym typeface="Inter"/>
              </a:rPr>
              <a:t>Would you use PingPong more if it were different?</a:t>
            </a:r>
            <a:endParaRPr sz="1500">
              <a:solidFill>
                <a:schemeClr val="dk1"/>
              </a:solidFill>
              <a:latin typeface="Inter"/>
              <a:ea typeface="Inter"/>
              <a:cs typeface="Inter"/>
              <a:sym typeface="Inter"/>
            </a:endParaRPr>
          </a:p>
          <a:p>
            <a:pPr indent="0" lvl="0" marL="914400" rtl="0" algn="l">
              <a:lnSpc>
                <a:spcPct val="105000"/>
              </a:lnSpc>
              <a:spcBef>
                <a:spcPts val="1200"/>
              </a:spcBef>
              <a:spcAft>
                <a:spcPts val="1200"/>
              </a:spcAft>
              <a:buSzPts val="1018"/>
              <a:buNone/>
            </a:pPr>
            <a:r>
              <a:t/>
            </a:r>
            <a:endParaRPr sz="1750">
              <a:solidFill>
                <a:schemeClr val="dk1"/>
              </a:solidFill>
              <a:latin typeface="Source Code Pro"/>
              <a:ea typeface="Source Code Pro"/>
              <a:cs typeface="Source Code Pro"/>
              <a:sym typeface="Source Code Pro"/>
            </a:endParaRPr>
          </a:p>
        </p:txBody>
      </p:sp>
      <p:sp>
        <p:nvSpPr>
          <p:cNvPr id="494" name="Google Shape;494;p62"/>
          <p:cNvSpPr txBox="1"/>
          <p:nvPr/>
        </p:nvSpPr>
        <p:spPr>
          <a:xfrm>
            <a:off x="4984150" y="1807925"/>
            <a:ext cx="27804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Inter"/>
                <a:ea typeface="Inter"/>
                <a:cs typeface="Inter"/>
                <a:sym typeface="Inter"/>
              </a:rPr>
              <a:t>“</a:t>
            </a:r>
            <a:r>
              <a:rPr i="1" lang="en">
                <a:latin typeface="Inter"/>
                <a:ea typeface="Inter"/>
                <a:cs typeface="Inter"/>
                <a:sym typeface="Inter"/>
              </a:rPr>
              <a:t>Perhaps. I find that it tends to make me </a:t>
            </a:r>
            <a:r>
              <a:rPr b="1" i="1" lang="en">
                <a:latin typeface="Inter"/>
                <a:ea typeface="Inter"/>
                <a:cs typeface="Inter"/>
                <a:sym typeface="Inter"/>
              </a:rPr>
              <a:t>more confused</a:t>
            </a:r>
            <a:r>
              <a:rPr i="1" lang="en">
                <a:latin typeface="Inter"/>
                <a:ea typeface="Inter"/>
                <a:cs typeface="Inter"/>
                <a:sym typeface="Inter"/>
              </a:rPr>
              <a:t> or take me on a circuitous route.</a:t>
            </a:r>
            <a:r>
              <a:rPr lang="en">
                <a:latin typeface="Inter"/>
                <a:ea typeface="Inter"/>
                <a:cs typeface="Inter"/>
                <a:sym typeface="Inter"/>
              </a:rPr>
              <a:t>” </a:t>
            </a:r>
            <a:endParaRPr>
              <a:latin typeface="Inter"/>
              <a:ea typeface="Inter"/>
              <a:cs typeface="Inter"/>
              <a:sym typeface="Inter"/>
            </a:endParaRPr>
          </a:p>
        </p:txBody>
      </p:sp>
      <p:sp>
        <p:nvSpPr>
          <p:cNvPr id="495" name="Google Shape;495;p62"/>
          <p:cNvSpPr txBox="1"/>
          <p:nvPr/>
        </p:nvSpPr>
        <p:spPr>
          <a:xfrm>
            <a:off x="5585025" y="2685575"/>
            <a:ext cx="3000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Inter"/>
                <a:ea typeface="Inter"/>
                <a:cs typeface="Inter"/>
                <a:sym typeface="Inter"/>
              </a:rPr>
              <a:t>“</a:t>
            </a:r>
            <a:r>
              <a:rPr i="1" lang="en">
                <a:latin typeface="Inter"/>
                <a:ea typeface="Inter"/>
                <a:cs typeface="Inter"/>
                <a:sym typeface="Inter"/>
              </a:rPr>
              <a:t>No, I think Ping Pong works just fine. I just personally prefer to </a:t>
            </a:r>
            <a:r>
              <a:rPr b="1" i="1" lang="en">
                <a:latin typeface="Inter"/>
                <a:ea typeface="Inter"/>
                <a:cs typeface="Inter"/>
                <a:sym typeface="Inter"/>
              </a:rPr>
              <a:t>stay away from using LLMs</a:t>
            </a:r>
            <a:r>
              <a:rPr i="1" lang="en">
                <a:latin typeface="Inter"/>
                <a:ea typeface="Inter"/>
                <a:cs typeface="Inter"/>
                <a:sym typeface="Inter"/>
              </a:rPr>
              <a:t> in my learning.</a:t>
            </a:r>
            <a:r>
              <a:rPr lang="en">
                <a:latin typeface="Inter"/>
                <a:ea typeface="Inter"/>
                <a:cs typeface="Inter"/>
                <a:sym typeface="Inter"/>
              </a:rPr>
              <a:t>”</a:t>
            </a:r>
            <a:endParaRPr>
              <a:latin typeface="Inter"/>
              <a:ea typeface="Inter"/>
              <a:cs typeface="Inter"/>
              <a:sym typeface="Inter"/>
            </a:endParaRPr>
          </a:p>
        </p:txBody>
      </p:sp>
      <p:sp>
        <p:nvSpPr>
          <p:cNvPr id="496" name="Google Shape;496;p62"/>
          <p:cNvSpPr txBox="1"/>
          <p:nvPr/>
        </p:nvSpPr>
        <p:spPr>
          <a:xfrm>
            <a:off x="4984150" y="3778650"/>
            <a:ext cx="3000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Inter"/>
                <a:ea typeface="Inter"/>
                <a:cs typeface="Inter"/>
                <a:sym typeface="Inter"/>
              </a:rPr>
              <a:t>“</a:t>
            </a:r>
            <a:r>
              <a:rPr i="1" lang="en">
                <a:latin typeface="Inter"/>
                <a:ea typeface="Inter"/>
                <a:cs typeface="Inter"/>
                <a:sym typeface="Inter"/>
              </a:rPr>
              <a:t>I think I just </a:t>
            </a:r>
            <a:r>
              <a:rPr b="1" i="1" lang="en">
                <a:latin typeface="Inter"/>
                <a:ea typeface="Inter"/>
                <a:cs typeface="Inter"/>
                <a:sym typeface="Inter"/>
              </a:rPr>
              <a:t>never took the time</a:t>
            </a:r>
            <a:r>
              <a:rPr i="1" lang="en">
                <a:latin typeface="Inter"/>
                <a:ea typeface="Inter"/>
                <a:cs typeface="Inter"/>
                <a:sym typeface="Inter"/>
              </a:rPr>
              <a:t> to see how PingPong worked and what was different about it</a:t>
            </a:r>
            <a:r>
              <a:rPr i="1" lang="en">
                <a:latin typeface="Inter"/>
                <a:ea typeface="Inter"/>
                <a:cs typeface="Inter"/>
                <a:sym typeface="Inter"/>
              </a:rPr>
              <a:t>.</a:t>
            </a:r>
            <a:r>
              <a:rPr lang="en">
                <a:latin typeface="Inter"/>
                <a:ea typeface="Inter"/>
                <a:cs typeface="Inter"/>
                <a:sym typeface="Inter"/>
              </a:rPr>
              <a:t>”</a:t>
            </a:r>
            <a:endParaRPr>
              <a:latin typeface="Inter"/>
              <a:ea typeface="Inter"/>
              <a:cs typeface="Inter"/>
              <a:sym typeface="Inter"/>
            </a:endParaRPr>
          </a:p>
        </p:txBody>
      </p:sp>
      <p:sp>
        <p:nvSpPr>
          <p:cNvPr id="497" name="Google Shape;497;p62"/>
          <p:cNvSpPr txBox="1"/>
          <p:nvPr/>
        </p:nvSpPr>
        <p:spPr>
          <a:xfrm>
            <a:off x="415825" y="1665025"/>
            <a:ext cx="3571800" cy="3212400"/>
          </a:xfrm>
          <a:prstGeom prst="rect">
            <a:avLst/>
          </a:prstGeom>
          <a:noFill/>
          <a:ln cap="flat" cmpd="sng" w="19050">
            <a:solidFill>
              <a:srgbClr val="FF7F5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500">
                <a:solidFill>
                  <a:schemeClr val="dk1"/>
                </a:solidFill>
                <a:latin typeface="Inter"/>
                <a:ea typeface="Inter"/>
                <a:cs typeface="Inter"/>
                <a:sym typeface="Inter"/>
              </a:rPr>
              <a:t>3 students - </a:t>
            </a:r>
            <a:r>
              <a:rPr lang="en" sz="1500">
                <a:solidFill>
                  <a:schemeClr val="dk1"/>
                </a:solidFill>
                <a:latin typeface="Inter"/>
                <a:ea typeface="Inter"/>
                <a:cs typeface="Inter"/>
                <a:sym typeface="Inter"/>
              </a:rPr>
              <a:t>I have </a:t>
            </a:r>
            <a:r>
              <a:rPr b="1" lang="en" sz="1500">
                <a:solidFill>
                  <a:schemeClr val="dk1"/>
                </a:solidFill>
                <a:latin typeface="Inter"/>
                <a:ea typeface="Inter"/>
                <a:cs typeface="Inter"/>
                <a:sym typeface="Inter"/>
              </a:rPr>
              <a:t>not needed help</a:t>
            </a:r>
            <a:r>
              <a:rPr lang="en" sz="1500">
                <a:solidFill>
                  <a:schemeClr val="dk1"/>
                </a:solidFill>
                <a:latin typeface="Inter"/>
                <a:ea typeface="Inter"/>
                <a:cs typeface="Inter"/>
                <a:sym typeface="Inter"/>
              </a:rPr>
              <a:t> from an LLM in Stat 131A, BUT I </a:t>
            </a:r>
            <a:r>
              <a:rPr b="1" lang="en" sz="1500">
                <a:solidFill>
                  <a:schemeClr val="dk1"/>
                </a:solidFill>
                <a:latin typeface="Inter"/>
                <a:ea typeface="Inter"/>
                <a:cs typeface="Inter"/>
                <a:sym typeface="Inter"/>
              </a:rPr>
              <a:t>use LLMs</a:t>
            </a:r>
            <a:r>
              <a:rPr lang="en" sz="1500">
                <a:solidFill>
                  <a:schemeClr val="dk1"/>
                </a:solidFill>
                <a:latin typeface="Inter"/>
                <a:ea typeface="Inter"/>
                <a:cs typeface="Inter"/>
                <a:sym typeface="Inter"/>
              </a:rPr>
              <a:t> for help in </a:t>
            </a:r>
            <a:r>
              <a:rPr b="1" lang="en" sz="1500">
                <a:solidFill>
                  <a:schemeClr val="dk1"/>
                </a:solidFill>
                <a:latin typeface="Inter"/>
                <a:ea typeface="Inter"/>
                <a:cs typeface="Inter"/>
                <a:sym typeface="Inter"/>
              </a:rPr>
              <a:t>other classes</a:t>
            </a:r>
            <a:endParaRPr b="1" sz="15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t/>
            </a:r>
            <a:endParaRPr sz="15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lang="en" sz="1500">
                <a:solidFill>
                  <a:schemeClr val="dk1"/>
                </a:solidFill>
                <a:latin typeface="Inter"/>
                <a:ea typeface="Inter"/>
                <a:cs typeface="Inter"/>
                <a:sym typeface="Inter"/>
              </a:rPr>
              <a:t>3 students - I prefer </a:t>
            </a:r>
            <a:r>
              <a:rPr b="1" lang="en" sz="1500">
                <a:solidFill>
                  <a:schemeClr val="dk1"/>
                </a:solidFill>
                <a:latin typeface="Inter"/>
                <a:ea typeface="Inter"/>
                <a:cs typeface="Inter"/>
                <a:sym typeface="Inter"/>
              </a:rPr>
              <a:t>NOT to use LLMs</a:t>
            </a:r>
            <a:r>
              <a:rPr lang="en" sz="1500">
                <a:solidFill>
                  <a:schemeClr val="dk1"/>
                </a:solidFill>
                <a:latin typeface="Inter"/>
                <a:ea typeface="Inter"/>
                <a:cs typeface="Inter"/>
                <a:sym typeface="Inter"/>
              </a:rPr>
              <a:t> for help with ANY of my coursework</a:t>
            </a:r>
            <a:endParaRPr sz="15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t/>
            </a:r>
            <a:endParaRPr sz="15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lang="en" sz="1500">
                <a:solidFill>
                  <a:schemeClr val="dk1"/>
                </a:solidFill>
                <a:latin typeface="Inter"/>
                <a:ea typeface="Inter"/>
                <a:cs typeface="Inter"/>
                <a:sym typeface="Inter"/>
              </a:rPr>
              <a:t>1 student - I’m not sure </a:t>
            </a:r>
            <a:r>
              <a:rPr b="1" lang="en" sz="1500">
                <a:solidFill>
                  <a:schemeClr val="dk1"/>
                </a:solidFill>
                <a:latin typeface="Inter"/>
                <a:ea typeface="Inter"/>
                <a:cs typeface="Inter"/>
                <a:sym typeface="Inter"/>
              </a:rPr>
              <a:t>how to integrate</a:t>
            </a:r>
            <a:r>
              <a:rPr lang="en" sz="1500">
                <a:solidFill>
                  <a:schemeClr val="dk1"/>
                </a:solidFill>
                <a:latin typeface="Inter"/>
                <a:ea typeface="Inter"/>
                <a:cs typeface="Inter"/>
                <a:sym typeface="Inter"/>
              </a:rPr>
              <a:t> LLMs into my study routine</a:t>
            </a:r>
            <a:endParaRPr sz="15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t/>
            </a:r>
            <a:endParaRPr sz="15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lang="en" sz="1500">
                <a:solidFill>
                  <a:schemeClr val="dk1"/>
                </a:solidFill>
                <a:latin typeface="Inter"/>
                <a:ea typeface="Inter"/>
                <a:cs typeface="Inter"/>
                <a:sym typeface="Inter"/>
              </a:rPr>
              <a:t>1 student - I prefer to </a:t>
            </a:r>
            <a:r>
              <a:rPr b="1" lang="en" sz="1500">
                <a:solidFill>
                  <a:schemeClr val="dk1"/>
                </a:solidFill>
                <a:latin typeface="Inter"/>
                <a:ea typeface="Inter"/>
                <a:cs typeface="Inter"/>
                <a:sym typeface="Inter"/>
              </a:rPr>
              <a:t>use other LLMs</a:t>
            </a:r>
            <a:r>
              <a:rPr lang="en" sz="1500">
                <a:solidFill>
                  <a:schemeClr val="dk1"/>
                </a:solidFill>
                <a:latin typeface="Inter"/>
                <a:ea typeface="Inter"/>
                <a:cs typeface="Inter"/>
                <a:sym typeface="Inter"/>
              </a:rPr>
              <a:t> for STAT 131A material</a:t>
            </a:r>
            <a:endParaRPr sz="1500">
              <a:solidFill>
                <a:schemeClr val="dk1"/>
              </a:solidFill>
              <a:latin typeface="Inter"/>
              <a:ea typeface="Inter"/>
              <a:cs typeface="Inter"/>
              <a:sym typeface="Inter"/>
            </a:endParaRPr>
          </a:p>
          <a:p>
            <a:pPr indent="0" lvl="0" marL="0" rtl="0" algn="l">
              <a:spcBef>
                <a:spcPts val="0"/>
              </a:spcBef>
              <a:spcAft>
                <a:spcPts val="0"/>
              </a:spcAft>
              <a:buNone/>
            </a:pPr>
            <a:r>
              <a:t/>
            </a:r>
            <a:endParaRPr sz="1500">
              <a:solidFill>
                <a:schemeClr val="dk1"/>
              </a:solidFill>
              <a:latin typeface="Inter"/>
              <a:ea typeface="Inter"/>
              <a:cs typeface="Inter"/>
              <a:sym typeface="Inte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63"/>
          <p:cNvSpPr txBox="1"/>
          <p:nvPr>
            <p:ph type="title"/>
          </p:nvPr>
        </p:nvSpPr>
        <p:spPr>
          <a:xfrm>
            <a:off x="242225" y="2126350"/>
            <a:ext cx="8520600" cy="1352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Inter"/>
                <a:ea typeface="Inter"/>
                <a:cs typeface="Inter"/>
                <a:sym typeface="Inter"/>
              </a:rPr>
              <a:t>Reflection</a:t>
            </a:r>
            <a:endParaRPr>
              <a:latin typeface="Inter"/>
              <a:ea typeface="Inter"/>
              <a:cs typeface="Inter"/>
              <a:sym typeface="Inter"/>
            </a:endParaRPr>
          </a:p>
        </p:txBody>
      </p:sp>
      <p:pic>
        <p:nvPicPr>
          <p:cNvPr id="503" name="Google Shape;503;p63"/>
          <p:cNvPicPr preferRelativeResize="0"/>
          <p:nvPr/>
        </p:nvPicPr>
        <p:blipFill>
          <a:blip r:embed="rId3">
            <a:alphaModFix/>
          </a:blip>
          <a:stretch>
            <a:fillRect/>
          </a:stretch>
        </p:blipFill>
        <p:spPr>
          <a:xfrm>
            <a:off x="1973474" y="1954250"/>
            <a:ext cx="1666124" cy="15245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Inter"/>
                <a:ea typeface="Inter"/>
                <a:cs typeface="Inter"/>
                <a:sym typeface="Inter"/>
              </a:rPr>
              <a:t>Four Big Ideas From</a:t>
            </a:r>
            <a:r>
              <a:rPr lang="en">
                <a:latin typeface="Inter"/>
                <a:ea typeface="Inter"/>
                <a:cs typeface="Inter"/>
                <a:sym typeface="Inter"/>
              </a:rPr>
              <a:t> Survey</a:t>
            </a:r>
            <a:endParaRPr>
              <a:latin typeface="Inter"/>
              <a:ea typeface="Inter"/>
              <a:cs typeface="Inter"/>
              <a:sym typeface="Inter"/>
            </a:endParaRPr>
          </a:p>
        </p:txBody>
      </p:sp>
      <p:sp>
        <p:nvSpPr>
          <p:cNvPr id="509" name="Google Shape;509;p64"/>
          <p:cNvSpPr txBox="1"/>
          <p:nvPr/>
        </p:nvSpPr>
        <p:spPr>
          <a:xfrm>
            <a:off x="311700" y="1017725"/>
            <a:ext cx="8447700" cy="4109700"/>
          </a:xfrm>
          <a:prstGeom prst="rect">
            <a:avLst/>
          </a:prstGeom>
          <a:noFill/>
          <a:ln>
            <a:noFill/>
          </a:ln>
        </p:spPr>
        <p:txBody>
          <a:bodyPr anchorCtr="0" anchor="t" bIns="91425" lIns="91425" spcFirstLastPara="1" rIns="91425" wrap="square" tIns="91425">
            <a:spAutoFit/>
          </a:bodyPr>
          <a:lstStyle/>
          <a:p>
            <a:pPr indent="-336550" lvl="0" marL="457200" rtl="0" algn="l">
              <a:lnSpc>
                <a:spcPct val="200000"/>
              </a:lnSpc>
              <a:spcBef>
                <a:spcPts val="0"/>
              </a:spcBef>
              <a:spcAft>
                <a:spcPts val="0"/>
              </a:spcAft>
              <a:buClr>
                <a:schemeClr val="dk1"/>
              </a:buClr>
              <a:buSzPts val="1700"/>
              <a:buFont typeface="Inter"/>
              <a:buAutoNum type="arabicPeriod"/>
            </a:pPr>
            <a:r>
              <a:rPr lang="en" sz="1700">
                <a:solidFill>
                  <a:schemeClr val="dk1"/>
                </a:solidFill>
                <a:highlight>
                  <a:srgbClr val="FFFFFF"/>
                </a:highlight>
                <a:latin typeface="Inter"/>
                <a:ea typeface="Inter"/>
                <a:cs typeface="Inter"/>
                <a:sym typeface="Inter"/>
              </a:rPr>
              <a:t>Students </a:t>
            </a:r>
            <a:r>
              <a:rPr lang="en" sz="1700">
                <a:solidFill>
                  <a:schemeClr val="dk1"/>
                </a:solidFill>
                <a:highlight>
                  <a:srgbClr val="FFFFFF"/>
                </a:highlight>
                <a:latin typeface="Inter"/>
                <a:ea typeface="Inter"/>
                <a:cs typeface="Inter"/>
                <a:sym typeface="Inter"/>
              </a:rPr>
              <a:t>are aware+concerned about LLM dependence </a:t>
            </a:r>
            <a:endParaRPr sz="1700">
              <a:solidFill>
                <a:schemeClr val="dk1"/>
              </a:solidFill>
              <a:highlight>
                <a:srgbClr val="FFFFFF"/>
              </a:highlight>
              <a:latin typeface="Inter"/>
              <a:ea typeface="Inter"/>
              <a:cs typeface="Inter"/>
              <a:sym typeface="Inter"/>
            </a:endParaRPr>
          </a:p>
          <a:p>
            <a:pPr indent="-336550" lvl="1" marL="914400" rtl="0" algn="l">
              <a:lnSpc>
                <a:spcPct val="200000"/>
              </a:lnSpc>
              <a:spcBef>
                <a:spcPts val="0"/>
              </a:spcBef>
              <a:spcAft>
                <a:spcPts val="0"/>
              </a:spcAft>
              <a:buClr>
                <a:schemeClr val="dk1"/>
              </a:buClr>
              <a:buSzPts val="1700"/>
              <a:buFont typeface="Inter"/>
              <a:buChar char="○"/>
            </a:pPr>
            <a:r>
              <a:rPr lang="en" sz="1700">
                <a:solidFill>
                  <a:schemeClr val="dk1"/>
                </a:solidFill>
                <a:highlight>
                  <a:srgbClr val="FFFFFF"/>
                </a:highlight>
                <a:latin typeface="Inter"/>
                <a:ea typeface="Inter"/>
                <a:cs typeface="Inter"/>
                <a:sym typeface="Inter"/>
              </a:rPr>
              <a:t>Concerns about the future </a:t>
            </a:r>
            <a:endParaRPr sz="1700">
              <a:solidFill>
                <a:schemeClr val="dk1"/>
              </a:solidFill>
              <a:highlight>
                <a:srgbClr val="FFFFFF"/>
              </a:highlight>
              <a:latin typeface="Inter"/>
              <a:ea typeface="Inter"/>
              <a:cs typeface="Inter"/>
              <a:sym typeface="Inter"/>
            </a:endParaRPr>
          </a:p>
          <a:p>
            <a:pPr indent="-336550" lvl="0" marL="457200" rtl="0" algn="l">
              <a:lnSpc>
                <a:spcPct val="200000"/>
              </a:lnSpc>
              <a:spcBef>
                <a:spcPts val="0"/>
              </a:spcBef>
              <a:spcAft>
                <a:spcPts val="0"/>
              </a:spcAft>
              <a:buClr>
                <a:schemeClr val="dk1"/>
              </a:buClr>
              <a:buSzPts val="1700"/>
              <a:buFont typeface="Inter"/>
              <a:buAutoNum type="arabicPeriod"/>
            </a:pPr>
            <a:r>
              <a:rPr lang="en" sz="1700">
                <a:solidFill>
                  <a:schemeClr val="dk1"/>
                </a:solidFill>
                <a:highlight>
                  <a:srgbClr val="FFFFFF"/>
                </a:highlight>
                <a:latin typeface="Inter"/>
                <a:ea typeface="Inter"/>
                <a:cs typeface="Inter"/>
                <a:sym typeface="Inter"/>
              </a:rPr>
              <a:t>PingPong </a:t>
            </a:r>
            <a:r>
              <a:rPr lang="en" sz="1700">
                <a:solidFill>
                  <a:schemeClr val="dk1"/>
                </a:solidFill>
                <a:highlight>
                  <a:srgbClr val="FFFFFF"/>
                </a:highlight>
                <a:latin typeface="Inter"/>
                <a:ea typeface="Inter"/>
                <a:cs typeface="Inter"/>
                <a:sym typeface="Inter"/>
              </a:rPr>
              <a:t>slows down interactions (liked+disliked)</a:t>
            </a:r>
            <a:endParaRPr sz="1700">
              <a:solidFill>
                <a:schemeClr val="dk1"/>
              </a:solidFill>
              <a:highlight>
                <a:srgbClr val="FFFFFF"/>
              </a:highlight>
              <a:latin typeface="Inter"/>
              <a:ea typeface="Inter"/>
              <a:cs typeface="Inter"/>
              <a:sym typeface="Inter"/>
            </a:endParaRPr>
          </a:p>
          <a:p>
            <a:pPr indent="-336550" lvl="1" marL="914400" rtl="0" algn="l">
              <a:lnSpc>
                <a:spcPct val="200000"/>
              </a:lnSpc>
              <a:spcBef>
                <a:spcPts val="0"/>
              </a:spcBef>
              <a:spcAft>
                <a:spcPts val="0"/>
              </a:spcAft>
              <a:buClr>
                <a:schemeClr val="dk1"/>
              </a:buClr>
              <a:buSzPts val="1700"/>
              <a:buFont typeface="Inter"/>
              <a:buChar char="○"/>
            </a:pPr>
            <a:r>
              <a:rPr lang="en" sz="1700">
                <a:solidFill>
                  <a:schemeClr val="dk1"/>
                </a:solidFill>
                <a:highlight>
                  <a:srgbClr val="FFFFFF"/>
                </a:highlight>
                <a:latin typeface="Inter"/>
                <a:ea typeface="Inter"/>
                <a:cs typeface="Inter"/>
                <a:sym typeface="Inter"/>
              </a:rPr>
              <a:t>Less efficient, but helps them think</a:t>
            </a:r>
            <a:endParaRPr sz="1700">
              <a:solidFill>
                <a:schemeClr val="dk1"/>
              </a:solidFill>
              <a:highlight>
                <a:srgbClr val="FFFFFF"/>
              </a:highlight>
              <a:latin typeface="Inter"/>
              <a:ea typeface="Inter"/>
              <a:cs typeface="Inter"/>
              <a:sym typeface="Inter"/>
            </a:endParaRPr>
          </a:p>
          <a:p>
            <a:pPr indent="-336550" lvl="0" marL="457200" rtl="0" algn="l">
              <a:lnSpc>
                <a:spcPct val="200000"/>
              </a:lnSpc>
              <a:spcBef>
                <a:spcPts val="0"/>
              </a:spcBef>
              <a:spcAft>
                <a:spcPts val="0"/>
              </a:spcAft>
              <a:buClr>
                <a:schemeClr val="dk1"/>
              </a:buClr>
              <a:buSzPts val="1700"/>
              <a:buFont typeface="Inter"/>
              <a:buAutoNum type="arabicPeriod"/>
            </a:pPr>
            <a:r>
              <a:rPr lang="en" sz="1700">
                <a:solidFill>
                  <a:schemeClr val="dk1"/>
                </a:solidFill>
                <a:highlight>
                  <a:srgbClr val="FFFFFF"/>
                </a:highlight>
                <a:latin typeface="Inter"/>
                <a:ea typeface="Inter"/>
                <a:cs typeface="Inter"/>
                <a:sym typeface="Inter"/>
              </a:rPr>
              <a:t>Students want customized chatbots in other courses</a:t>
            </a:r>
            <a:endParaRPr sz="1700">
              <a:solidFill>
                <a:schemeClr val="dk1"/>
              </a:solidFill>
              <a:highlight>
                <a:srgbClr val="FFFFFF"/>
              </a:highlight>
              <a:latin typeface="Inter"/>
              <a:ea typeface="Inter"/>
              <a:cs typeface="Inter"/>
              <a:sym typeface="Inter"/>
            </a:endParaRPr>
          </a:p>
          <a:p>
            <a:pPr indent="-336550" lvl="1" marL="914400" rtl="0" algn="l">
              <a:lnSpc>
                <a:spcPct val="200000"/>
              </a:lnSpc>
              <a:spcBef>
                <a:spcPts val="0"/>
              </a:spcBef>
              <a:spcAft>
                <a:spcPts val="0"/>
              </a:spcAft>
              <a:buClr>
                <a:schemeClr val="dk1"/>
              </a:buClr>
              <a:buSzPts val="1700"/>
              <a:buFont typeface="Inter"/>
              <a:buChar char="○"/>
            </a:pPr>
            <a:r>
              <a:rPr lang="en" sz="1700">
                <a:solidFill>
                  <a:schemeClr val="dk1"/>
                </a:solidFill>
                <a:highlight>
                  <a:srgbClr val="FFFFFF"/>
                </a:highlight>
                <a:latin typeface="Inter"/>
                <a:ea typeface="Inter"/>
                <a:cs typeface="Inter"/>
                <a:sym typeface="Inter"/>
              </a:rPr>
              <a:t>Like the customization/ Professor Approval</a:t>
            </a:r>
            <a:endParaRPr sz="1700">
              <a:solidFill>
                <a:schemeClr val="dk1"/>
              </a:solidFill>
              <a:highlight>
                <a:srgbClr val="FFFFFF"/>
              </a:highlight>
              <a:latin typeface="Inter"/>
              <a:ea typeface="Inter"/>
              <a:cs typeface="Inter"/>
              <a:sym typeface="Inter"/>
            </a:endParaRPr>
          </a:p>
          <a:p>
            <a:pPr indent="-336550" lvl="0" marL="457200" rtl="0" algn="l">
              <a:lnSpc>
                <a:spcPct val="200000"/>
              </a:lnSpc>
              <a:spcBef>
                <a:spcPts val="0"/>
              </a:spcBef>
              <a:spcAft>
                <a:spcPts val="0"/>
              </a:spcAft>
              <a:buClr>
                <a:schemeClr val="dk1"/>
              </a:buClr>
              <a:buSzPts val="1700"/>
              <a:buFont typeface="Inter"/>
              <a:buAutoNum type="arabicPeriod"/>
            </a:pPr>
            <a:r>
              <a:rPr lang="en" sz="1700">
                <a:solidFill>
                  <a:schemeClr val="dk1"/>
                </a:solidFill>
                <a:highlight>
                  <a:srgbClr val="FFFFFF"/>
                </a:highlight>
                <a:latin typeface="Inter"/>
                <a:ea typeface="Inter"/>
                <a:cs typeface="Inter"/>
                <a:sym typeface="Inter"/>
              </a:rPr>
              <a:t>Students believe they go to OH less because of LLMs</a:t>
            </a:r>
            <a:endParaRPr sz="1700">
              <a:solidFill>
                <a:schemeClr val="dk1"/>
              </a:solidFill>
              <a:highlight>
                <a:srgbClr val="FFFFFF"/>
              </a:highlight>
              <a:latin typeface="Inter"/>
              <a:ea typeface="Inter"/>
              <a:cs typeface="Inter"/>
              <a:sym typeface="Inter"/>
            </a:endParaRPr>
          </a:p>
          <a:p>
            <a:pPr indent="-336550" lvl="1" marL="914400" rtl="0" algn="l">
              <a:lnSpc>
                <a:spcPct val="200000"/>
              </a:lnSpc>
              <a:spcBef>
                <a:spcPts val="0"/>
              </a:spcBef>
              <a:spcAft>
                <a:spcPts val="0"/>
              </a:spcAft>
              <a:buClr>
                <a:schemeClr val="dk1"/>
              </a:buClr>
              <a:buSzPts val="1700"/>
              <a:buFont typeface="Inter"/>
              <a:buChar char="○"/>
            </a:pPr>
            <a:r>
              <a:rPr lang="en" sz="1700">
                <a:solidFill>
                  <a:schemeClr val="dk1"/>
                </a:solidFill>
                <a:highlight>
                  <a:srgbClr val="FFFFFF"/>
                </a:highlight>
                <a:latin typeface="Inter"/>
                <a:ea typeface="Inter"/>
                <a:cs typeface="Inter"/>
                <a:sym typeface="Inter"/>
              </a:rPr>
              <a:t>Want more staff? More understanding staff?</a:t>
            </a:r>
            <a:endParaRPr sz="1700">
              <a:solidFill>
                <a:schemeClr val="dk1"/>
              </a:solidFill>
              <a:highlight>
                <a:srgbClr val="FFFFFF"/>
              </a:highlight>
              <a:latin typeface="Inter"/>
              <a:ea typeface="Inter"/>
              <a:cs typeface="Inter"/>
              <a:sym typeface="Inte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9">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Inter"/>
                <a:ea typeface="Inter"/>
                <a:cs typeface="Inter"/>
                <a:sym typeface="Inter"/>
              </a:rPr>
              <a:t>Future? </a:t>
            </a:r>
            <a:endParaRPr>
              <a:latin typeface="Inter"/>
              <a:ea typeface="Inter"/>
              <a:cs typeface="Inter"/>
              <a:sym typeface="Inter"/>
            </a:endParaRPr>
          </a:p>
        </p:txBody>
      </p:sp>
      <p:sp>
        <p:nvSpPr>
          <p:cNvPr id="515" name="Google Shape;515;p65"/>
          <p:cNvSpPr txBox="1"/>
          <p:nvPr/>
        </p:nvSpPr>
        <p:spPr>
          <a:xfrm>
            <a:off x="311700" y="1017725"/>
            <a:ext cx="8520600" cy="2539800"/>
          </a:xfrm>
          <a:prstGeom prst="rect">
            <a:avLst/>
          </a:prstGeom>
          <a:noFill/>
          <a:ln>
            <a:noFill/>
          </a:ln>
        </p:spPr>
        <p:txBody>
          <a:bodyPr anchorCtr="0" anchor="t" bIns="91425" lIns="91425" spcFirstLastPara="1" rIns="91425" wrap="square" tIns="91425">
            <a:spAutoFit/>
          </a:bodyPr>
          <a:lstStyle/>
          <a:p>
            <a:pPr indent="-336550" lvl="0" marL="457200" rtl="0" algn="l">
              <a:lnSpc>
                <a:spcPct val="200000"/>
              </a:lnSpc>
              <a:spcBef>
                <a:spcPts val="0"/>
              </a:spcBef>
              <a:spcAft>
                <a:spcPts val="0"/>
              </a:spcAft>
              <a:buClr>
                <a:schemeClr val="dk1"/>
              </a:buClr>
              <a:buSzPts val="1700"/>
              <a:buFont typeface="Inter"/>
              <a:buChar char="-"/>
            </a:pPr>
            <a:r>
              <a:rPr lang="en" sz="1700">
                <a:solidFill>
                  <a:schemeClr val="dk1"/>
                </a:solidFill>
                <a:highlight>
                  <a:srgbClr val="FFFFFF"/>
                </a:highlight>
                <a:latin typeface="Inter"/>
                <a:ea typeface="Inter"/>
                <a:cs typeface="Inter"/>
                <a:sym typeface="Inter"/>
              </a:rPr>
              <a:t>Courses have custom chatbots, like Stat 131A, as a resource</a:t>
            </a:r>
            <a:endParaRPr sz="1700">
              <a:solidFill>
                <a:schemeClr val="dk1"/>
              </a:solidFill>
              <a:highlight>
                <a:srgbClr val="FFFFFF"/>
              </a:highlight>
              <a:latin typeface="Inter"/>
              <a:ea typeface="Inter"/>
              <a:cs typeface="Inter"/>
              <a:sym typeface="Inter"/>
            </a:endParaRPr>
          </a:p>
          <a:p>
            <a:pPr indent="-336550" lvl="0" marL="457200" rtl="0" algn="l">
              <a:lnSpc>
                <a:spcPct val="200000"/>
              </a:lnSpc>
              <a:spcBef>
                <a:spcPts val="0"/>
              </a:spcBef>
              <a:spcAft>
                <a:spcPts val="0"/>
              </a:spcAft>
              <a:buClr>
                <a:schemeClr val="dk1"/>
              </a:buClr>
              <a:buSzPts val="1700"/>
              <a:buFont typeface="Inter"/>
              <a:buChar char="-"/>
            </a:pPr>
            <a:r>
              <a:rPr lang="en" sz="1700">
                <a:solidFill>
                  <a:schemeClr val="dk1"/>
                </a:solidFill>
                <a:highlight>
                  <a:srgbClr val="FFFFFF"/>
                </a:highlight>
                <a:latin typeface="Inter"/>
                <a:ea typeface="Inter"/>
                <a:cs typeface="Inter"/>
                <a:sym typeface="Inter"/>
              </a:rPr>
              <a:t>Instructors should demonstrate how to </a:t>
            </a:r>
            <a:r>
              <a:rPr lang="en" sz="1700">
                <a:solidFill>
                  <a:schemeClr val="dk1"/>
                </a:solidFill>
                <a:highlight>
                  <a:srgbClr val="FFFFFF"/>
                </a:highlight>
                <a:latin typeface="Inter"/>
                <a:ea typeface="Inter"/>
                <a:cs typeface="Inter"/>
                <a:sym typeface="Inter"/>
              </a:rPr>
              <a:t>productively</a:t>
            </a:r>
            <a:r>
              <a:rPr lang="en" sz="1700">
                <a:solidFill>
                  <a:schemeClr val="dk1"/>
                </a:solidFill>
                <a:highlight>
                  <a:srgbClr val="FFFFFF"/>
                </a:highlight>
                <a:latin typeface="Inter"/>
                <a:ea typeface="Inter"/>
                <a:cs typeface="Inter"/>
                <a:sym typeface="Inter"/>
              </a:rPr>
              <a:t> use LLMs</a:t>
            </a:r>
            <a:endParaRPr sz="1700">
              <a:solidFill>
                <a:schemeClr val="dk1"/>
              </a:solidFill>
              <a:highlight>
                <a:srgbClr val="FFFFFF"/>
              </a:highlight>
              <a:latin typeface="Inter"/>
              <a:ea typeface="Inter"/>
              <a:cs typeface="Inter"/>
              <a:sym typeface="Inter"/>
            </a:endParaRPr>
          </a:p>
          <a:p>
            <a:pPr indent="-336550" lvl="0" marL="457200" rtl="0" algn="l">
              <a:lnSpc>
                <a:spcPct val="200000"/>
              </a:lnSpc>
              <a:spcBef>
                <a:spcPts val="0"/>
              </a:spcBef>
              <a:spcAft>
                <a:spcPts val="0"/>
              </a:spcAft>
              <a:buClr>
                <a:schemeClr val="dk1"/>
              </a:buClr>
              <a:buSzPts val="1700"/>
              <a:buFont typeface="Inter"/>
              <a:buChar char="-"/>
            </a:pPr>
            <a:r>
              <a:rPr lang="en" sz="1700">
                <a:solidFill>
                  <a:schemeClr val="dk1"/>
                </a:solidFill>
                <a:highlight>
                  <a:schemeClr val="lt1"/>
                </a:highlight>
                <a:latin typeface="Inter"/>
                <a:ea typeface="Inter"/>
                <a:cs typeface="Inter"/>
                <a:sym typeface="Inter"/>
              </a:rPr>
              <a:t>Structure of office hours will have to adapt</a:t>
            </a:r>
            <a:endParaRPr sz="1700">
              <a:solidFill>
                <a:schemeClr val="dk1"/>
              </a:solidFill>
              <a:highlight>
                <a:schemeClr val="lt1"/>
              </a:highlight>
              <a:latin typeface="Inter"/>
              <a:ea typeface="Inter"/>
              <a:cs typeface="Inter"/>
              <a:sym typeface="Inter"/>
            </a:endParaRPr>
          </a:p>
          <a:p>
            <a:pPr indent="-336550" lvl="1" marL="914400" rtl="0" algn="l">
              <a:lnSpc>
                <a:spcPct val="200000"/>
              </a:lnSpc>
              <a:spcBef>
                <a:spcPts val="0"/>
              </a:spcBef>
              <a:spcAft>
                <a:spcPts val="0"/>
              </a:spcAft>
              <a:buClr>
                <a:schemeClr val="dk1"/>
              </a:buClr>
              <a:buSzPts val="1700"/>
              <a:buFont typeface="Inter"/>
              <a:buChar char="-"/>
            </a:pPr>
            <a:r>
              <a:rPr lang="en" sz="1700">
                <a:solidFill>
                  <a:schemeClr val="dk1"/>
                </a:solidFill>
                <a:highlight>
                  <a:schemeClr val="lt1"/>
                </a:highlight>
                <a:latin typeface="Inter"/>
                <a:ea typeface="Inter"/>
                <a:cs typeface="Inter"/>
                <a:sym typeface="Inter"/>
              </a:rPr>
              <a:t>Re-allocate TA’s time</a:t>
            </a:r>
            <a:endParaRPr sz="1700">
              <a:solidFill>
                <a:schemeClr val="dk1"/>
              </a:solidFill>
              <a:highlight>
                <a:schemeClr val="lt1"/>
              </a:highlight>
              <a:latin typeface="Inter"/>
              <a:ea typeface="Inter"/>
              <a:cs typeface="Inter"/>
              <a:sym typeface="Inter"/>
            </a:endParaRPr>
          </a:p>
          <a:p>
            <a:pPr indent="-336550" lvl="1" marL="914400" rtl="0" algn="l">
              <a:lnSpc>
                <a:spcPct val="200000"/>
              </a:lnSpc>
              <a:spcBef>
                <a:spcPts val="0"/>
              </a:spcBef>
              <a:spcAft>
                <a:spcPts val="0"/>
              </a:spcAft>
              <a:buClr>
                <a:schemeClr val="dk1"/>
              </a:buClr>
              <a:buSzPts val="1700"/>
              <a:buFont typeface="Inter"/>
              <a:buChar char="-"/>
            </a:pPr>
            <a:r>
              <a:rPr lang="en" sz="1700">
                <a:solidFill>
                  <a:schemeClr val="dk1"/>
                </a:solidFill>
                <a:highlight>
                  <a:schemeClr val="lt1"/>
                </a:highlight>
                <a:latin typeface="Inter"/>
                <a:ea typeface="Inter"/>
                <a:cs typeface="Inter"/>
                <a:sym typeface="Inter"/>
              </a:rPr>
              <a:t>Group Tutoring / Homework Party</a:t>
            </a:r>
            <a:endParaRPr sz="1700">
              <a:solidFill>
                <a:schemeClr val="dk1"/>
              </a:solidFill>
              <a:highlight>
                <a:schemeClr val="lt1"/>
              </a:highlight>
              <a:latin typeface="Inter"/>
              <a:ea typeface="Inter"/>
              <a:cs typeface="Inter"/>
              <a:sym typeface="Inte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5">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Inter"/>
                <a:ea typeface="Inter"/>
                <a:cs typeface="Inter"/>
                <a:sym typeface="Inter"/>
              </a:rPr>
              <a:t>Questions? Opinions? Comments? </a:t>
            </a:r>
            <a:r>
              <a:rPr lang="en">
                <a:latin typeface="Source Code Pro"/>
                <a:ea typeface="Source Code Pro"/>
                <a:cs typeface="Source Code Pro"/>
                <a:sym typeface="Source Code Pro"/>
              </a:rPr>
              <a:t>  </a:t>
            </a:r>
            <a:endParaRPr>
              <a:latin typeface="Source Code Pro"/>
              <a:ea typeface="Source Code Pro"/>
              <a:cs typeface="Source Code Pro"/>
              <a:sym typeface="Source Code Pro"/>
            </a:endParaRPr>
          </a:p>
        </p:txBody>
      </p:sp>
      <p:sp>
        <p:nvSpPr>
          <p:cNvPr id="521" name="Google Shape;521;p66"/>
          <p:cNvSpPr txBox="1"/>
          <p:nvPr/>
        </p:nvSpPr>
        <p:spPr>
          <a:xfrm>
            <a:off x="311700" y="1017725"/>
            <a:ext cx="8520600" cy="969600"/>
          </a:xfrm>
          <a:prstGeom prst="rect">
            <a:avLst/>
          </a:prstGeom>
          <a:noFill/>
          <a:ln>
            <a:noFill/>
          </a:ln>
        </p:spPr>
        <p:txBody>
          <a:bodyPr anchorCtr="0" anchor="t" bIns="91425" lIns="91425" spcFirstLastPara="1" rIns="91425" wrap="square" tIns="91425">
            <a:spAutoFit/>
          </a:bodyPr>
          <a:lstStyle/>
          <a:p>
            <a:pPr indent="-336550" lvl="0" marL="457200" rtl="0" algn="l">
              <a:lnSpc>
                <a:spcPct val="200000"/>
              </a:lnSpc>
              <a:spcBef>
                <a:spcPts val="0"/>
              </a:spcBef>
              <a:spcAft>
                <a:spcPts val="0"/>
              </a:spcAft>
              <a:buClr>
                <a:schemeClr val="dk1"/>
              </a:buClr>
              <a:buSzPts val="1700"/>
              <a:buFont typeface="Inter"/>
              <a:buChar char="-"/>
            </a:pPr>
            <a:r>
              <a:rPr lang="en" sz="1700">
                <a:solidFill>
                  <a:schemeClr val="dk1"/>
                </a:solidFill>
                <a:highlight>
                  <a:srgbClr val="FFFFFF"/>
                </a:highlight>
                <a:latin typeface="Inter"/>
                <a:ea typeface="Inter"/>
                <a:cs typeface="Inter"/>
                <a:sym typeface="Inter"/>
              </a:rPr>
              <a:t>What are your thoughts as educators? </a:t>
            </a:r>
            <a:endParaRPr sz="1700">
              <a:solidFill>
                <a:schemeClr val="dk1"/>
              </a:solidFill>
              <a:highlight>
                <a:srgbClr val="FFFFFF"/>
              </a:highlight>
              <a:latin typeface="Inter"/>
              <a:ea typeface="Inter"/>
              <a:cs typeface="Inter"/>
              <a:sym typeface="Inter"/>
            </a:endParaRPr>
          </a:p>
          <a:p>
            <a:pPr indent="-336550" lvl="0" marL="457200" rtl="0" algn="l">
              <a:lnSpc>
                <a:spcPct val="200000"/>
              </a:lnSpc>
              <a:spcBef>
                <a:spcPts val="0"/>
              </a:spcBef>
              <a:spcAft>
                <a:spcPts val="0"/>
              </a:spcAft>
              <a:buClr>
                <a:schemeClr val="dk1"/>
              </a:buClr>
              <a:buSzPts val="1700"/>
              <a:buFont typeface="Inter"/>
              <a:buChar char="-"/>
            </a:pPr>
            <a:r>
              <a:rPr lang="en" sz="1700">
                <a:solidFill>
                  <a:schemeClr val="dk1"/>
                </a:solidFill>
                <a:highlight>
                  <a:srgbClr val="FFFFFF"/>
                </a:highlight>
                <a:latin typeface="Inter"/>
                <a:ea typeface="Inter"/>
                <a:cs typeface="Inter"/>
                <a:sym typeface="Inter"/>
              </a:rPr>
              <a:t>What are you all doing to adapt your curriculum?</a:t>
            </a:r>
            <a:endParaRPr sz="1700">
              <a:solidFill>
                <a:schemeClr val="dk1"/>
              </a:solidFill>
              <a:highlight>
                <a:srgbClr val="FFFFFF"/>
              </a:highlight>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