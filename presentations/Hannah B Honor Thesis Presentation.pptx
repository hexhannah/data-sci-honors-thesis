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Source Code Pr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">
          <p15:clr>
            <a:srgbClr val="747775"/>
          </p15:clr>
        </p15:guide>
        <p15:guide id="2" orient="horz" pos="391">
          <p15:clr>
            <a:srgbClr val="747775"/>
          </p15:clr>
        </p15:guide>
        <p15:guide id="3" pos="3838">
          <p15:clr>
            <a:srgbClr val="747775"/>
          </p15:clr>
        </p15:guide>
        <p15:guide id="4" pos="4294">
          <p15:clr>
            <a:srgbClr val="747775"/>
          </p15:clr>
        </p15:guide>
        <p15:guide id="5" pos="5373">
          <p15:clr>
            <a:srgbClr val="747775"/>
          </p15:clr>
        </p15:guide>
        <p15:guide id="6" pos="4377">
          <p15:clr>
            <a:srgbClr val="747775"/>
          </p15:clr>
        </p15:guide>
        <p15:guide id="7" pos="4833">
          <p15:clr>
            <a:srgbClr val="747775"/>
          </p15:clr>
        </p15:guide>
        <p15:guide id="8" pos="4916">
          <p15:clr>
            <a:srgbClr val="747775"/>
          </p15:clr>
        </p15:guide>
        <p15:guide id="9" pos="3312">
          <p15:clr>
            <a:srgbClr val="747775"/>
          </p15:clr>
        </p15:guide>
        <p15:guide id="10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" orient="horz"/>
        <p:guide pos="391" orient="horz"/>
        <p:guide pos="3838"/>
        <p:guide pos="4294"/>
        <p:guide pos="5373"/>
        <p:guide pos="4377"/>
        <p:guide pos="4833"/>
        <p:guide pos="4916"/>
        <p:guide pos="3312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SourceCodePro-bold.fntdata"/><Relationship Id="rId16" Type="http://schemas.openxmlformats.org/officeDocument/2006/relationships/font" Target="fonts/SourceCodePr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bold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9cb25e629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9cb25e629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2563ae3e7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2563ae3e7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83d639fd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83d639fd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da92724d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da92724d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da92724d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da92724d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da92724d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4da92724d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89783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05398" y="2662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2" name="Google Shape;12;p2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Berkeley Blue">
  <p:cSld name="SECTION_HEADER_2">
    <p:bg>
      <p:bgPr>
        <a:solidFill>
          <a:schemeClr val="dk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316575" y="733275"/>
            <a:ext cx="4827448" cy="4410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ctrTitle"/>
          </p:nvPr>
        </p:nvSpPr>
        <p:spPr>
          <a:xfrm>
            <a:off x="389775" y="2000250"/>
            <a:ext cx="8520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California Gold">
  <p:cSld name="SECTION_HEADER_2_2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316575" y="733275"/>
            <a:ext cx="4827448" cy="441022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ctrTitle"/>
          </p:nvPr>
        </p:nvSpPr>
        <p:spPr>
          <a:xfrm>
            <a:off x="389775" y="2000250"/>
            <a:ext cx="8520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Founder's Rock">
  <p:cSld name="SECTION_HEADER_2_1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316575" y="733275"/>
            <a:ext cx="4827448" cy="441022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type="ctrTitle"/>
          </p:nvPr>
        </p:nvSpPr>
        <p:spPr>
          <a:xfrm>
            <a:off x="389775" y="2000250"/>
            <a:ext cx="8520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Soybean">
  <p:cSld name="SECTION_HEADER_2_1_1">
    <p:bg>
      <p:bgPr>
        <a:solidFill>
          <a:schemeClr val="accent6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316575" y="733275"/>
            <a:ext cx="4827448" cy="441022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"/>
          <p:cNvSpPr txBox="1"/>
          <p:nvPr>
            <p:ph type="ctrTitle"/>
          </p:nvPr>
        </p:nvSpPr>
        <p:spPr>
          <a:xfrm>
            <a:off x="389775" y="2000250"/>
            <a:ext cx="8520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Campanile Sunset">
  <p:cSld name="SECTION_HEADER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/>
          <p:cNvPicPr preferRelativeResize="0"/>
          <p:nvPr/>
        </p:nvPicPr>
        <p:blipFill rotWithShape="1">
          <a:blip r:embed="rId2">
            <a:alphaModFix/>
          </a:blip>
          <a:srcRect b="38252" l="0" r="0" t="4900"/>
          <a:stretch/>
        </p:blipFill>
        <p:spPr>
          <a:xfrm>
            <a:off x="0" y="200"/>
            <a:ext cx="9144003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>
            <p:ph type="title"/>
          </p:nvPr>
        </p:nvSpPr>
        <p:spPr>
          <a:xfrm>
            <a:off x="398875" y="2031000"/>
            <a:ext cx="81852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406546" y="3455750"/>
            <a:ext cx="7640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675" y="459482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ather Gate">
  <p:cSld name="SECTION_HEADER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 b="27509" l="1431" r="5614" t="21166"/>
          <a:stretch/>
        </p:blipFill>
        <p:spPr>
          <a:xfrm>
            <a:off x="0" y="200"/>
            <a:ext cx="9144003" cy="335280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/>
          <p:nvPr/>
        </p:nvSpPr>
        <p:spPr>
          <a:xfrm>
            <a:off x="0" y="1633250"/>
            <a:ext cx="9144000" cy="1709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36078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8"/>
          <p:cNvSpPr txBox="1"/>
          <p:nvPr>
            <p:ph type="title"/>
          </p:nvPr>
        </p:nvSpPr>
        <p:spPr>
          <a:xfrm>
            <a:off x="398875" y="2031000"/>
            <a:ext cx="81852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406546" y="3455750"/>
            <a:ext cx="7640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675" y="459482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rade">
  <p:cSld name="SECTION_HEADER_1_1_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9"/>
          <p:cNvPicPr preferRelativeResize="0"/>
          <p:nvPr/>
        </p:nvPicPr>
        <p:blipFill rotWithShape="1">
          <a:blip r:embed="rId2">
            <a:alphaModFix/>
          </a:blip>
          <a:srcRect b="18229" l="0" r="10362" t="32275"/>
          <a:stretch/>
        </p:blipFill>
        <p:spPr>
          <a:xfrm>
            <a:off x="0" y="200"/>
            <a:ext cx="9144003" cy="335280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9"/>
          <p:cNvSpPr/>
          <p:nvPr/>
        </p:nvSpPr>
        <p:spPr>
          <a:xfrm>
            <a:off x="0" y="1633250"/>
            <a:ext cx="9144000" cy="1709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36078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398875" y="2031000"/>
            <a:ext cx="81852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406546" y="3455750"/>
            <a:ext cx="7640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675" y="459482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Oski">
  <p:cSld name="SECTION_HEADER_1_1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7865" l="0" r="0" t="15115"/>
          <a:stretch/>
        </p:blipFill>
        <p:spPr>
          <a:xfrm>
            <a:off x="0" y="200"/>
            <a:ext cx="9144003" cy="335280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/>
          <p:nvPr/>
        </p:nvSpPr>
        <p:spPr>
          <a:xfrm>
            <a:off x="0" y="1633250"/>
            <a:ext cx="9144000" cy="1709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000000">
                  <a:alpha val="36078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398875" y="2031000"/>
            <a:ext cx="81852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subTitle"/>
          </p:nvPr>
        </p:nvSpPr>
        <p:spPr>
          <a:xfrm>
            <a:off x="406546" y="3455750"/>
            <a:ext cx="7640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675" y="459482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Campanile">
  <p:cSld name="SECTION_HEADER_1_1_1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0" y="0"/>
            <a:ext cx="64176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6417675" y="0"/>
            <a:ext cx="2726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1"/>
          <p:cNvSpPr txBox="1"/>
          <p:nvPr>
            <p:ph type="title"/>
          </p:nvPr>
        </p:nvSpPr>
        <p:spPr>
          <a:xfrm>
            <a:off x="398875" y="2122060"/>
            <a:ext cx="38016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406548" y="3398325"/>
            <a:ext cx="39726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11"/>
          <p:cNvPicPr preferRelativeResize="0"/>
          <p:nvPr/>
        </p:nvPicPr>
        <p:blipFill rotWithShape="1">
          <a:blip r:embed="rId2">
            <a:alphaModFix/>
          </a:blip>
          <a:srcRect b="19987" l="40850" r="31640" t="40997"/>
          <a:stretch/>
        </p:blipFill>
        <p:spPr>
          <a:xfrm>
            <a:off x="4438700" y="540625"/>
            <a:ext cx="3972675" cy="41232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/>
          <p:nvPr/>
        </p:nvSpPr>
        <p:spPr>
          <a:xfrm>
            <a:off x="200850" y="210900"/>
            <a:ext cx="8742300" cy="472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59377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  <p15:guide id="2" orient="horz" pos="341">
          <p15:clr>
            <a:srgbClr val="E46962"/>
          </p15:clr>
        </p15:guide>
        <p15:guide id="3" pos="320">
          <p15:clr>
            <a:srgbClr val="E46962"/>
          </p15:clr>
        </p15:guide>
        <p15:guide id="4" pos="319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brary">
  <p:cSld name="SECTION_HEADER_1_1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0" y="0"/>
            <a:ext cx="64176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/>
          <p:nvPr/>
        </p:nvSpPr>
        <p:spPr>
          <a:xfrm>
            <a:off x="6417675" y="0"/>
            <a:ext cx="2726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2"/>
          <p:cNvSpPr txBox="1"/>
          <p:nvPr>
            <p:ph type="title"/>
          </p:nvPr>
        </p:nvSpPr>
        <p:spPr>
          <a:xfrm>
            <a:off x="398875" y="2122060"/>
            <a:ext cx="38016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" type="subTitle"/>
          </p:nvPr>
        </p:nvSpPr>
        <p:spPr>
          <a:xfrm>
            <a:off x="406548" y="3398325"/>
            <a:ext cx="39726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12"/>
          <p:cNvPicPr preferRelativeResize="0"/>
          <p:nvPr/>
        </p:nvPicPr>
        <p:blipFill rotWithShape="1">
          <a:blip r:embed="rId2">
            <a:alphaModFix/>
          </a:blip>
          <a:srcRect b="23673" l="33250" r="41134" t="35811"/>
          <a:stretch/>
        </p:blipFill>
        <p:spPr>
          <a:xfrm>
            <a:off x="4438700" y="540625"/>
            <a:ext cx="3972598" cy="41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2"/>
          <p:cNvSpPr/>
          <p:nvPr/>
        </p:nvSpPr>
        <p:spPr>
          <a:xfrm>
            <a:off x="200850" y="210900"/>
            <a:ext cx="8742300" cy="472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59377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rum">
  <p:cSld name="SECTION_HEADER_1_1_1_1_1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0" y="0"/>
            <a:ext cx="64176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6417675" y="0"/>
            <a:ext cx="2726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398875" y="2122060"/>
            <a:ext cx="38016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406548" y="3398325"/>
            <a:ext cx="39726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38700" y="540625"/>
            <a:ext cx="3972600" cy="412394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200850" y="210900"/>
            <a:ext cx="8742300" cy="472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59377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tudents">
  <p:cSld name="SECTION_HEADER_1_1_1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0" y="0"/>
            <a:ext cx="64176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6417675" y="0"/>
            <a:ext cx="27264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398875" y="2122060"/>
            <a:ext cx="3801600" cy="1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06548" y="3398325"/>
            <a:ext cx="39726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4"/>
          <p:cNvPicPr preferRelativeResize="0"/>
          <p:nvPr/>
        </p:nvPicPr>
        <p:blipFill rotWithShape="1">
          <a:blip r:embed="rId2">
            <a:alphaModFix/>
          </a:blip>
          <a:srcRect b="0" l="14817" r="21202" t="1623"/>
          <a:stretch/>
        </p:blipFill>
        <p:spPr>
          <a:xfrm>
            <a:off x="4438700" y="540625"/>
            <a:ext cx="3972675" cy="41232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200850" y="210900"/>
            <a:ext cx="8742300" cy="472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593775"/>
            <a:ext cx="1675776" cy="3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19">
          <p15:clr>
            <a:srgbClr val="E46962"/>
          </p15:clr>
        </p15:guide>
        <p15:guide id="2" orient="horz" pos="341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215919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84" name="Google Shape;84;p15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85" name="Google Shape;85;p15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Photo">
  <p:cSld name="TITLE_AND_BODY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219456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16"/>
          <p:cNvSpPr/>
          <p:nvPr>
            <p:ph idx="2" type="pic"/>
          </p:nvPr>
        </p:nvSpPr>
        <p:spPr>
          <a:xfrm>
            <a:off x="5577475" y="1144500"/>
            <a:ext cx="2567100" cy="2854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1" name="Google Shape;91;p16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92" name="Google Shape;92;p16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 Photos">
  <p:cSld name="TITLE_AND_BODY_2_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219456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7"/>
          <p:cNvSpPr/>
          <p:nvPr>
            <p:ph idx="2" type="pic"/>
          </p:nvPr>
        </p:nvSpPr>
        <p:spPr>
          <a:xfrm>
            <a:off x="4788300" y="562588"/>
            <a:ext cx="1963500" cy="196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7"/>
          <p:cNvSpPr/>
          <p:nvPr>
            <p:ph idx="3" type="pic"/>
          </p:nvPr>
        </p:nvSpPr>
        <p:spPr>
          <a:xfrm>
            <a:off x="6868800" y="562588"/>
            <a:ext cx="1963500" cy="19635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7"/>
          <p:cNvSpPr/>
          <p:nvPr>
            <p:ph idx="4" type="pic"/>
          </p:nvPr>
        </p:nvSpPr>
        <p:spPr>
          <a:xfrm>
            <a:off x="4788300" y="2617413"/>
            <a:ext cx="1963500" cy="196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7"/>
          <p:cNvSpPr/>
          <p:nvPr>
            <p:ph idx="5" type="pic"/>
          </p:nvPr>
        </p:nvSpPr>
        <p:spPr>
          <a:xfrm>
            <a:off x="6868800" y="2617413"/>
            <a:ext cx="1963500" cy="196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1" name="Google Shape;101;p17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02" name="Google Shape;102;p17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 Photos">
  <p:cSld name="TITLE_AND_BODY_2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18"/>
          <p:cNvSpPr/>
          <p:nvPr>
            <p:ph idx="2" type="pic"/>
          </p:nvPr>
        </p:nvSpPr>
        <p:spPr>
          <a:xfrm>
            <a:off x="432152" y="1285775"/>
            <a:ext cx="4041600" cy="234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8"/>
          <p:cNvSpPr/>
          <p:nvPr>
            <p:ph idx="3" type="pic"/>
          </p:nvPr>
        </p:nvSpPr>
        <p:spPr>
          <a:xfrm>
            <a:off x="4670248" y="1285775"/>
            <a:ext cx="4041600" cy="2348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8" name="Google Shape;108;p18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09" name="Google Shape;109;p18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 Photos">
  <p:cSld name="TITLE_AND_BODY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9"/>
          <p:cNvSpPr/>
          <p:nvPr>
            <p:ph idx="2" type="pic"/>
          </p:nvPr>
        </p:nvSpPr>
        <p:spPr>
          <a:xfrm>
            <a:off x="432150" y="1285775"/>
            <a:ext cx="2682600" cy="1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9"/>
          <p:cNvSpPr/>
          <p:nvPr>
            <p:ph idx="3" type="pic"/>
          </p:nvPr>
        </p:nvSpPr>
        <p:spPr>
          <a:xfrm>
            <a:off x="3230635" y="1285775"/>
            <a:ext cx="2682600" cy="1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9"/>
          <p:cNvSpPr/>
          <p:nvPr>
            <p:ph idx="4" type="pic"/>
          </p:nvPr>
        </p:nvSpPr>
        <p:spPr>
          <a:xfrm>
            <a:off x="6029120" y="1285775"/>
            <a:ext cx="2682600" cy="1912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6" name="Google Shape;116;p19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17" name="Google Shape;117;p19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Half Photo">
  <p:cSld name="TITLE_AND_BODY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417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219456" y="1152475"/>
            <a:ext cx="403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20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3" name="Google Shape;123;p20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24" name="Google Shape;124;p20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6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188177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30" name="Google Shape;130;p21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31" name="Google Shape;131;p21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1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56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5" name="Google Shape;135;p22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36" name="Google Shape;136;p22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e Column">
  <p:cSld name="ONE_COLUM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176151" y="1389600"/>
            <a:ext cx="4390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41" name="Google Shape;141;p23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42" name="Google Shape;142;p23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263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Bar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4"/>
          <p:cNvGrpSpPr/>
          <p:nvPr/>
        </p:nvGrpSpPr>
        <p:grpSpPr>
          <a:xfrm>
            <a:off x="-10600" y="-10600"/>
            <a:ext cx="98400" cy="5154050"/>
            <a:chOff x="-10600" y="-10600"/>
            <a:chExt cx="98400" cy="5154050"/>
          </a:xfrm>
        </p:grpSpPr>
        <p:sp>
          <p:nvSpPr>
            <p:cNvPr id="146" name="Google Shape;146;p24"/>
            <p:cNvSpPr/>
            <p:nvPr/>
          </p:nvSpPr>
          <p:spPr>
            <a:xfrm>
              <a:off x="-10600" y="-10600"/>
              <a:ext cx="98400" cy="2577000"/>
            </a:xfrm>
            <a:prstGeom prst="rect">
              <a:avLst/>
            </a:prstGeom>
            <a:solidFill>
              <a:srgbClr val="FDB5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4"/>
            <p:cNvSpPr/>
            <p:nvPr/>
          </p:nvSpPr>
          <p:spPr>
            <a:xfrm>
              <a:off x="-10600" y="2566450"/>
              <a:ext cx="98400" cy="2577000"/>
            </a:xfrm>
            <a:prstGeom prst="rect">
              <a:avLst/>
            </a:prstGeom>
            <a:solidFill>
              <a:srgbClr val="0032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b="1" sz="2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7056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6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ctrTitle"/>
          </p:nvPr>
        </p:nvSpPr>
        <p:spPr>
          <a:xfrm>
            <a:off x="169500" y="1486950"/>
            <a:ext cx="8835300" cy="17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latin typeface="Inter"/>
                <a:ea typeface="Inter"/>
                <a:cs typeface="Inter"/>
                <a:sym typeface="Inter"/>
              </a:rPr>
              <a:t>The Impact of Large Language Model Tutors on Undergraduate Learning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3073250" y="28068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Hannah Brown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Advisor: Narges Norouzi, PhD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Spring 2025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265975" y="181025"/>
            <a:ext cx="32856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Introduction 📝</a:t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417050" y="814775"/>
            <a:ext cx="81120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17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Students are tempted with many ways to access answers to homework (Chegg, ChatGPT, Google…)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7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Help students avoid these shortcuts with trained LLM tutors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7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Method of properly reacting to the prominence of AI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7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Previous LLM tutors were created using Retrieval Augmented Generation (RAG), fine-tuning, and prompt engineering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7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Two notable examples: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700"/>
              <a:buFont typeface="Inter"/>
              <a:buChar char="○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Edison, developed at UC Berkeley, being used in Data 100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700"/>
              <a:buFont typeface="Inter"/>
              <a:buChar char="○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PingPong, which was used in Fall 2024 STAT 131A.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7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These chatbots have been shown to be relevant to the course 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7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Will act as a tutor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86475" y="181025"/>
            <a:ext cx="51438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Data Processing ⚙️ </a:t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0500" y="801475"/>
            <a:ext cx="3636300" cy="4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Data 100 Office Hours Queue: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Fall 2023 CSV File (Online only), Spring 2024 CSV File (Online + In-person)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Python Libraries: Pandas, Seaborn, Matplotlib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Removed identifiable information, null </a:t>
            </a: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values, outliers, created a ticket duration column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Prevalence of tickets with extensive waiting times → Need for solutions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6" name="Google Shape;166;p27" title="spring2024O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800" y="949263"/>
            <a:ext cx="5143800" cy="3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/>
          <p:nvPr/>
        </p:nvSpPr>
        <p:spPr>
          <a:xfrm rot="5400000">
            <a:off x="6520537" y="2076848"/>
            <a:ext cx="365400" cy="2205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5873697" y="2637343"/>
            <a:ext cx="17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Tickets &gt; 50 min</a:t>
            </a:r>
            <a:endParaRPr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86475" y="181025"/>
            <a:ext cx="51438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Survey Data 📋 </a:t>
            </a:r>
            <a:r>
              <a:rPr lang="en" sz="30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3000">
                <a:latin typeface="Inter"/>
                <a:ea typeface="Inter"/>
                <a:cs typeface="Inter"/>
                <a:sym typeface="Inter"/>
              </a:rPr>
              <a:t> </a:t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0500" y="801475"/>
            <a:ext cx="3608400" cy="42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PingPong Software Survey</a:t>
            </a: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Survey on GPT-4o based LLM tutor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Survey is IRB-approved, anonymous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400"/>
              <a:buFont typeface="Inter"/>
              <a:buChar char="○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Received 53 responses out of 88 students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Google Forms -&gt; CSV -&gt; Dataframe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Matplotlib Library for visualizations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Students preferring PingPong over other LLMs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5" name="Google Shape;175;p28" title="pingpongus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9025" y="688037"/>
            <a:ext cx="2562450" cy="192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 title="pingpongqa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0725" y="717593"/>
            <a:ext cx="2443950" cy="186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 title="pingpingcust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9925" y="3076050"/>
            <a:ext cx="2309401" cy="186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 title="pingpongohattendanc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6575" y="2974825"/>
            <a:ext cx="2562450" cy="206808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4402350" y="384475"/>
            <a:ext cx="187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PingPong Usage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6735700" y="299725"/>
            <a:ext cx="213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% of Questions Answered by PingPong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4186650" y="2571475"/>
            <a:ext cx="230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Office Hours Attendance Before LLMs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6713300" y="2556025"/>
            <a:ext cx="213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Opinion of LLMs in Future Courses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186475" y="181025"/>
            <a:ext cx="54798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Edison GUI Development</a:t>
            </a:r>
            <a:r>
              <a:rPr lang="en" sz="3000"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0" lang="en" sz="3000">
                <a:latin typeface="Inter"/>
                <a:ea typeface="Inter"/>
                <a:cs typeface="Inter"/>
                <a:sym typeface="Inter"/>
              </a:rPr>
              <a:t>💻</a:t>
            </a:r>
            <a:r>
              <a:rPr lang="en" sz="3000">
                <a:latin typeface="Inter"/>
                <a:ea typeface="Inter"/>
                <a:cs typeface="Inter"/>
                <a:sym typeface="Inter"/>
              </a:rPr>
              <a:t> </a:t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10500" y="801475"/>
            <a:ext cx="3219900" cy="41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After learning about PingPong, created solution to help office hours queue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Built off Edison team’s backend 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400"/>
              <a:buFont typeface="Inter"/>
              <a:buChar char="○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LLM trained on course material and TA interaction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Gradio Python Library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GUI allows for direct interaction to the LLM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1800"/>
              <a:buFont typeface="Inter"/>
              <a:buChar char="●"/>
            </a:pPr>
            <a:r>
              <a:rPr lang="en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TA’s think it is better for conceptual questions</a:t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9" name="Google Shape;189;p29" title="EdisonCha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5050" y="1384913"/>
            <a:ext cx="5330448" cy="287178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9"/>
          <p:cNvSpPr txBox="1"/>
          <p:nvPr/>
        </p:nvSpPr>
        <p:spPr>
          <a:xfrm>
            <a:off x="5543513" y="856750"/>
            <a:ext cx="163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Simple Interface</a:t>
            </a:r>
            <a:endParaRPr sz="13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3414325" y="813275"/>
            <a:ext cx="163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057"/>
                </a:solidFill>
                <a:latin typeface="Inter"/>
                <a:ea typeface="Inter"/>
                <a:cs typeface="Inter"/>
                <a:sym typeface="Inter"/>
              </a:rPr>
              <a:t>Asks Students for their thoughts</a:t>
            </a:r>
            <a:endParaRPr sz="1300">
              <a:solidFill>
                <a:srgbClr val="00305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3573213" y="4270075"/>
            <a:ext cx="205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Encouraging tone + Provide more context</a:t>
            </a:r>
            <a:endParaRPr sz="13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5666213" y="4496875"/>
            <a:ext cx="1435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Text Formatting</a:t>
            </a:r>
            <a:endParaRPr sz="13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7437350" y="586450"/>
            <a:ext cx="1633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Knows the course to provide information for </a:t>
            </a:r>
            <a:endParaRPr sz="13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7437350" y="4296775"/>
            <a:ext cx="1543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262"/>
                </a:solidFill>
              </a:rPr>
              <a:t>Brief Outputs + References original question</a:t>
            </a:r>
            <a:endParaRPr sz="1300">
              <a:solidFill>
                <a:srgbClr val="003262"/>
              </a:solidFill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4517550" y="2734724"/>
            <a:ext cx="518700" cy="2409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" name="Google Shape;197;p29"/>
          <p:cNvCxnSpPr>
            <a:stCxn id="191" idx="2"/>
            <a:endCxn id="196" idx="1"/>
          </p:cNvCxnSpPr>
          <p:nvPr/>
        </p:nvCxnSpPr>
        <p:spPr>
          <a:xfrm>
            <a:off x="4231075" y="1398275"/>
            <a:ext cx="362400" cy="137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9"/>
          <p:cNvCxnSpPr/>
          <p:nvPr/>
        </p:nvCxnSpPr>
        <p:spPr>
          <a:xfrm flipH="1">
            <a:off x="6337763" y="1241650"/>
            <a:ext cx="45000" cy="15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9"/>
          <p:cNvCxnSpPr>
            <a:stCxn id="194" idx="2"/>
            <a:endCxn id="200" idx="0"/>
          </p:cNvCxnSpPr>
          <p:nvPr/>
        </p:nvCxnSpPr>
        <p:spPr>
          <a:xfrm flipH="1">
            <a:off x="6844700" y="1371550"/>
            <a:ext cx="1409400" cy="86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29"/>
          <p:cNvSpPr/>
          <p:nvPr/>
        </p:nvSpPr>
        <p:spPr>
          <a:xfrm>
            <a:off x="6613450" y="2232300"/>
            <a:ext cx="462300" cy="2409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/>
          <p:nvPr/>
        </p:nvSpPr>
        <p:spPr>
          <a:xfrm>
            <a:off x="3944550" y="3500250"/>
            <a:ext cx="518700" cy="205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9"/>
          <p:cNvCxnSpPr>
            <a:stCxn id="192" idx="0"/>
            <a:endCxn id="201" idx="4"/>
          </p:cNvCxnSpPr>
          <p:nvPr/>
        </p:nvCxnSpPr>
        <p:spPr>
          <a:xfrm rot="10800000">
            <a:off x="4203813" y="3706075"/>
            <a:ext cx="394500" cy="56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9"/>
          <p:cNvSpPr/>
          <p:nvPr/>
        </p:nvSpPr>
        <p:spPr>
          <a:xfrm>
            <a:off x="4595700" y="3502388"/>
            <a:ext cx="362400" cy="2409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29"/>
          <p:cNvCxnSpPr>
            <a:stCxn id="193" idx="0"/>
            <a:endCxn id="203" idx="5"/>
          </p:cNvCxnSpPr>
          <p:nvPr/>
        </p:nvCxnSpPr>
        <p:spPr>
          <a:xfrm rot="10800000">
            <a:off x="4905113" y="3707875"/>
            <a:ext cx="1478700" cy="78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9"/>
          <p:cNvCxnSpPr>
            <a:stCxn id="195" idx="0"/>
          </p:cNvCxnSpPr>
          <p:nvPr/>
        </p:nvCxnSpPr>
        <p:spPr>
          <a:xfrm rot="10800000">
            <a:off x="7650650" y="3776575"/>
            <a:ext cx="558300" cy="52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29"/>
          <p:cNvCxnSpPr>
            <a:stCxn id="195" idx="0"/>
          </p:cNvCxnSpPr>
          <p:nvPr/>
        </p:nvCxnSpPr>
        <p:spPr>
          <a:xfrm rot="10800000">
            <a:off x="7160450" y="2805475"/>
            <a:ext cx="1048500" cy="149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265975" y="181025"/>
            <a:ext cx="55176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Inter"/>
                <a:ea typeface="Inter"/>
                <a:cs typeface="Inter"/>
                <a:sym typeface="Inter"/>
              </a:rPr>
              <a:t>Conclusion + Next Steps🧭</a:t>
            </a:r>
            <a:endParaRPr sz="3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17050" y="814775"/>
            <a:ext cx="7983600" cy="3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AI tutors bring both challenges and benefits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Concerning regarding impact on human tutoring, problem-solving, and data privacy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AI tutors increase student access to support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Tools like Edison + PingPong are valuable supplements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Next Steps: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Inter"/>
              <a:buAutoNum type="alphaLcPeriod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Edison + PingPong will be expanded to more courses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2000"/>
              <a:buFont typeface="Inter"/>
              <a:buAutoNum type="alphaLcPeriod"/>
            </a:pPr>
            <a:r>
              <a:rPr lang="en" sz="20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Higher accuracy, Allow for document upload, Saved conversations</a:t>
            </a:r>
            <a:endParaRPr sz="20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0"/>
          <p:cNvSpPr txBox="1"/>
          <p:nvPr/>
        </p:nvSpPr>
        <p:spPr>
          <a:xfrm>
            <a:off x="3223950" y="3932400"/>
            <a:ext cx="2696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 b="1" sz="3500">
              <a:solidFill>
                <a:srgbClr val="00326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0D3261"/>
      </a:dk2>
      <a:lt2>
        <a:srgbClr val="F9B516"/>
      </a:lt2>
      <a:accent1>
        <a:srgbClr val="3B7EA1"/>
      </a:accent1>
      <a:accent2>
        <a:srgbClr val="C4820E"/>
      </a:accent2>
      <a:accent3>
        <a:srgbClr val="00B0DA"/>
      </a:accent3>
      <a:accent4>
        <a:srgbClr val="B9D3B6"/>
      </a:accent4>
      <a:accent5>
        <a:srgbClr val="46535E"/>
      </a:accent5>
      <a:accent6>
        <a:srgbClr val="859438"/>
      </a:accent6>
      <a:hlink>
        <a:srgbClr val="3BB0D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