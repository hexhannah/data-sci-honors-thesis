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Inter"/>
      <p:regular r:id="rId8"/>
      <p:bold r:id="rId9"/>
      <p:italic r:id="rId10"/>
      <p:boldItalic r:id="rId11"/>
    </p:embeddedFont>
    <p:embeddedFont>
      <p:font typeface="Source Code Pr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2">
          <p15:clr>
            <a:srgbClr val="747775"/>
          </p15:clr>
        </p15:guide>
        <p15:guide id="2" orient="horz" pos="391">
          <p15:clr>
            <a:srgbClr val="747775"/>
          </p15:clr>
        </p15:guide>
        <p15:guide id="3" pos="3838">
          <p15:clr>
            <a:srgbClr val="747775"/>
          </p15:clr>
        </p15:guide>
        <p15:guide id="4" pos="4294">
          <p15:clr>
            <a:srgbClr val="747775"/>
          </p15:clr>
        </p15:guide>
        <p15:guide id="5" pos="5373">
          <p15:clr>
            <a:srgbClr val="747775"/>
          </p15:clr>
        </p15:guide>
        <p15:guide id="6" pos="4377">
          <p15:clr>
            <a:srgbClr val="747775"/>
          </p15:clr>
        </p15:guide>
        <p15:guide id="7" pos="4833">
          <p15:clr>
            <a:srgbClr val="747775"/>
          </p15:clr>
        </p15:guide>
        <p15:guide id="8" pos="4916">
          <p15:clr>
            <a:srgbClr val="747775"/>
          </p15:clr>
        </p15:guide>
        <p15:guide id="9" pos="3312">
          <p15:clr>
            <a:srgbClr val="747775"/>
          </p15:clr>
        </p15:guide>
        <p15:guide id="10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2" orient="horz"/>
        <p:guide pos="391" orient="horz"/>
        <p:guide pos="3838"/>
        <p:guide pos="4294"/>
        <p:guide pos="5373"/>
        <p:guide pos="4377"/>
        <p:guide pos="4833"/>
        <p:guide pos="4916"/>
        <p:guide pos="3312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Inter-boldItalic.fntdata"/><Relationship Id="rId10" Type="http://schemas.openxmlformats.org/officeDocument/2006/relationships/font" Target="fonts/Inter-italic.fntdata"/><Relationship Id="rId13" Type="http://schemas.openxmlformats.org/officeDocument/2006/relationships/font" Target="fonts/SourceCodePro-bold.fntdata"/><Relationship Id="rId12" Type="http://schemas.openxmlformats.org/officeDocument/2006/relationships/font" Target="fonts/SourceCodePr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-bold.fntdata"/><Relationship Id="rId15" Type="http://schemas.openxmlformats.org/officeDocument/2006/relationships/font" Target="fonts/SourceCodePro-boldItalic.fntdata"/><Relationship Id="rId14" Type="http://schemas.openxmlformats.org/officeDocument/2006/relationships/font" Target="fonts/SourceCodePr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Int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9cb25e629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9cb25e629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2563ae3e7d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2563ae3e7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9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9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9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Relationship Id="rId3" Type="http://schemas.openxmlformats.org/officeDocument/2006/relationships/image" Target="../media/image9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389783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36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405398" y="26623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-10600" y="-10600"/>
            <a:ext cx="98400" cy="5154050"/>
            <a:chOff x="-10600" y="-10600"/>
            <a:chExt cx="98400" cy="5154050"/>
          </a:xfrm>
        </p:grpSpPr>
        <p:sp>
          <p:nvSpPr>
            <p:cNvPr id="12" name="Google Shape;12;p2"/>
            <p:cNvSpPr/>
            <p:nvPr/>
          </p:nvSpPr>
          <p:spPr>
            <a:xfrm>
              <a:off x="-10600" y="-10600"/>
              <a:ext cx="98400" cy="2577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10600" y="2566450"/>
              <a:ext cx="98400" cy="2577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Berkeley Blue">
  <p:cSld name="SECTION_HEADER_2">
    <p:bg>
      <p:bgPr>
        <a:solidFill>
          <a:schemeClr val="dk2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4316575" y="733275"/>
            <a:ext cx="4827448" cy="4410223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>
            <p:ph type="ctrTitle"/>
          </p:nvPr>
        </p:nvSpPr>
        <p:spPr>
          <a:xfrm>
            <a:off x="389775" y="2000250"/>
            <a:ext cx="8520600" cy="114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California Gold">
  <p:cSld name="SECTION_HEADER_2_2">
    <p:bg>
      <p:bgPr>
        <a:solidFill>
          <a:schemeClr val="lt2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4316575" y="733275"/>
            <a:ext cx="4827448" cy="4410223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/>
          <p:nvPr>
            <p:ph type="ctrTitle"/>
          </p:nvPr>
        </p:nvSpPr>
        <p:spPr>
          <a:xfrm>
            <a:off x="389775" y="2000250"/>
            <a:ext cx="8520600" cy="114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Founder's Rock">
  <p:cSld name="SECTION_HEADER_2_1">
    <p:bg>
      <p:bgPr>
        <a:solidFill>
          <a:schemeClr val="accen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5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4316575" y="733275"/>
            <a:ext cx="4827448" cy="4410223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5"/>
          <p:cNvSpPr txBox="1"/>
          <p:nvPr>
            <p:ph type="ctrTitle"/>
          </p:nvPr>
        </p:nvSpPr>
        <p:spPr>
          <a:xfrm>
            <a:off x="389775" y="2000250"/>
            <a:ext cx="8520600" cy="114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Soybean">
  <p:cSld name="SECTION_HEADER_2_1_1">
    <p:bg>
      <p:bgPr>
        <a:solidFill>
          <a:schemeClr val="accent6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6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4316575" y="733275"/>
            <a:ext cx="4827448" cy="4410223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6"/>
          <p:cNvSpPr txBox="1"/>
          <p:nvPr>
            <p:ph type="ctrTitle"/>
          </p:nvPr>
        </p:nvSpPr>
        <p:spPr>
          <a:xfrm>
            <a:off x="389775" y="2000250"/>
            <a:ext cx="8520600" cy="114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Campanile Sunset">
  <p:cSld name="SECTION_HEADER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7"/>
          <p:cNvPicPr preferRelativeResize="0"/>
          <p:nvPr/>
        </p:nvPicPr>
        <p:blipFill rotWithShape="1">
          <a:blip r:embed="rId2">
            <a:alphaModFix/>
          </a:blip>
          <a:srcRect b="38252" l="0" r="0" t="4900"/>
          <a:stretch/>
        </p:blipFill>
        <p:spPr>
          <a:xfrm>
            <a:off x="0" y="200"/>
            <a:ext cx="9144003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"/>
          <p:cNvSpPr txBox="1"/>
          <p:nvPr>
            <p:ph type="title"/>
          </p:nvPr>
        </p:nvSpPr>
        <p:spPr>
          <a:xfrm>
            <a:off x="398875" y="2031000"/>
            <a:ext cx="8185200" cy="108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subTitle"/>
          </p:nvPr>
        </p:nvSpPr>
        <p:spPr>
          <a:xfrm>
            <a:off x="406546" y="3455750"/>
            <a:ext cx="7640400" cy="8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0" name="Google Shape;3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5675" y="4594825"/>
            <a:ext cx="1675776" cy="31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19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ather Gate">
  <p:cSld name="SECTION_HEADER_1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8"/>
          <p:cNvPicPr preferRelativeResize="0"/>
          <p:nvPr/>
        </p:nvPicPr>
        <p:blipFill rotWithShape="1">
          <a:blip r:embed="rId2">
            <a:alphaModFix/>
          </a:blip>
          <a:srcRect b="27509" l="1431" r="5614" t="21166"/>
          <a:stretch/>
        </p:blipFill>
        <p:spPr>
          <a:xfrm>
            <a:off x="0" y="200"/>
            <a:ext cx="9144003" cy="3352801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8"/>
          <p:cNvSpPr/>
          <p:nvPr/>
        </p:nvSpPr>
        <p:spPr>
          <a:xfrm>
            <a:off x="0" y="1633250"/>
            <a:ext cx="9144000" cy="17094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000000">
                  <a:alpha val="36078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8"/>
          <p:cNvSpPr txBox="1"/>
          <p:nvPr>
            <p:ph type="title"/>
          </p:nvPr>
        </p:nvSpPr>
        <p:spPr>
          <a:xfrm>
            <a:off x="398875" y="2031000"/>
            <a:ext cx="8185200" cy="108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subTitle"/>
          </p:nvPr>
        </p:nvSpPr>
        <p:spPr>
          <a:xfrm>
            <a:off x="406546" y="3455750"/>
            <a:ext cx="7640400" cy="8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5675" y="4594825"/>
            <a:ext cx="1675776" cy="31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19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Parade">
  <p:cSld name="SECTION_HEADER_1_1_2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9"/>
          <p:cNvPicPr preferRelativeResize="0"/>
          <p:nvPr/>
        </p:nvPicPr>
        <p:blipFill rotWithShape="1">
          <a:blip r:embed="rId2">
            <a:alphaModFix/>
          </a:blip>
          <a:srcRect b="18229" l="0" r="10362" t="32275"/>
          <a:stretch/>
        </p:blipFill>
        <p:spPr>
          <a:xfrm>
            <a:off x="0" y="200"/>
            <a:ext cx="9144003" cy="3352801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9"/>
          <p:cNvSpPr/>
          <p:nvPr/>
        </p:nvSpPr>
        <p:spPr>
          <a:xfrm>
            <a:off x="0" y="1633250"/>
            <a:ext cx="9144000" cy="17094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000000">
                  <a:alpha val="36078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398875" y="2031000"/>
            <a:ext cx="8185200" cy="108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406546" y="3455750"/>
            <a:ext cx="7640400" cy="8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2" name="Google Shape;42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5675" y="4594825"/>
            <a:ext cx="1675776" cy="31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19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Oski">
  <p:cSld name="SECTION_HEADER_1_1_1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0"/>
          <p:cNvPicPr preferRelativeResize="0"/>
          <p:nvPr/>
        </p:nvPicPr>
        <p:blipFill rotWithShape="1">
          <a:blip r:embed="rId2">
            <a:alphaModFix/>
          </a:blip>
          <a:srcRect b="27865" l="0" r="0" t="15115"/>
          <a:stretch/>
        </p:blipFill>
        <p:spPr>
          <a:xfrm>
            <a:off x="0" y="200"/>
            <a:ext cx="9144003" cy="335280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0"/>
          <p:cNvSpPr/>
          <p:nvPr/>
        </p:nvSpPr>
        <p:spPr>
          <a:xfrm>
            <a:off x="0" y="1633250"/>
            <a:ext cx="9144000" cy="17094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000000">
                  <a:alpha val="36078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398875" y="2031000"/>
            <a:ext cx="8185200" cy="108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subTitle"/>
          </p:nvPr>
        </p:nvSpPr>
        <p:spPr>
          <a:xfrm>
            <a:off x="406546" y="3455750"/>
            <a:ext cx="7640400" cy="8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8" name="Google Shape;4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5675" y="4594825"/>
            <a:ext cx="1675776" cy="31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19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Campanile">
  <p:cSld name="SECTION_HEADER_1_1_1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/>
        </p:nvSpPr>
        <p:spPr>
          <a:xfrm>
            <a:off x="0" y="0"/>
            <a:ext cx="6417600" cy="5143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1"/>
          <p:cNvSpPr/>
          <p:nvPr/>
        </p:nvSpPr>
        <p:spPr>
          <a:xfrm>
            <a:off x="6417675" y="0"/>
            <a:ext cx="2726400" cy="51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1"/>
          <p:cNvSpPr txBox="1"/>
          <p:nvPr>
            <p:ph type="title"/>
          </p:nvPr>
        </p:nvSpPr>
        <p:spPr>
          <a:xfrm>
            <a:off x="398875" y="2122060"/>
            <a:ext cx="3801600" cy="108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" type="subTitle"/>
          </p:nvPr>
        </p:nvSpPr>
        <p:spPr>
          <a:xfrm>
            <a:off x="406548" y="3398325"/>
            <a:ext cx="3972600" cy="8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4" name="Google Shape;54;p11"/>
          <p:cNvPicPr preferRelativeResize="0"/>
          <p:nvPr/>
        </p:nvPicPr>
        <p:blipFill rotWithShape="1">
          <a:blip r:embed="rId2">
            <a:alphaModFix/>
          </a:blip>
          <a:srcRect b="19987" l="40850" r="31640" t="40997"/>
          <a:stretch/>
        </p:blipFill>
        <p:spPr>
          <a:xfrm>
            <a:off x="4438700" y="540625"/>
            <a:ext cx="3972675" cy="41232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1"/>
          <p:cNvSpPr/>
          <p:nvPr/>
        </p:nvSpPr>
        <p:spPr>
          <a:xfrm>
            <a:off x="200850" y="210900"/>
            <a:ext cx="8742300" cy="4721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000" y="593775"/>
            <a:ext cx="1675776" cy="31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19">
          <p15:clr>
            <a:srgbClr val="E46962"/>
          </p15:clr>
        </p15:guide>
        <p15:guide id="2" orient="horz" pos="341">
          <p15:clr>
            <a:srgbClr val="E46962"/>
          </p15:clr>
        </p15:guide>
        <p15:guide id="3" pos="320">
          <p15:clr>
            <a:srgbClr val="E46962"/>
          </p15:clr>
        </p15:guide>
        <p15:guide id="4" pos="319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Library">
  <p:cSld name="SECTION_HEADER_1_1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/>
          <p:nvPr/>
        </p:nvSpPr>
        <p:spPr>
          <a:xfrm>
            <a:off x="0" y="0"/>
            <a:ext cx="6417600" cy="5143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2"/>
          <p:cNvSpPr/>
          <p:nvPr/>
        </p:nvSpPr>
        <p:spPr>
          <a:xfrm>
            <a:off x="6417675" y="0"/>
            <a:ext cx="2726400" cy="51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2"/>
          <p:cNvSpPr txBox="1"/>
          <p:nvPr>
            <p:ph type="title"/>
          </p:nvPr>
        </p:nvSpPr>
        <p:spPr>
          <a:xfrm>
            <a:off x="398875" y="2122060"/>
            <a:ext cx="3801600" cy="108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12"/>
          <p:cNvSpPr txBox="1"/>
          <p:nvPr>
            <p:ph idx="1" type="subTitle"/>
          </p:nvPr>
        </p:nvSpPr>
        <p:spPr>
          <a:xfrm>
            <a:off x="406548" y="3398325"/>
            <a:ext cx="3972600" cy="8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2" name="Google Shape;62;p12"/>
          <p:cNvPicPr preferRelativeResize="0"/>
          <p:nvPr/>
        </p:nvPicPr>
        <p:blipFill rotWithShape="1">
          <a:blip r:embed="rId2">
            <a:alphaModFix/>
          </a:blip>
          <a:srcRect b="23673" l="33250" r="41134" t="35811"/>
          <a:stretch/>
        </p:blipFill>
        <p:spPr>
          <a:xfrm>
            <a:off x="4438700" y="540625"/>
            <a:ext cx="3972598" cy="41232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2"/>
          <p:cNvSpPr/>
          <p:nvPr/>
        </p:nvSpPr>
        <p:spPr>
          <a:xfrm>
            <a:off x="200850" y="210900"/>
            <a:ext cx="8742300" cy="4721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000" y="593775"/>
            <a:ext cx="1675776" cy="31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19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Drum">
  <p:cSld name="SECTION_HEADER_1_1_1_1_1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/>
          <p:nvPr/>
        </p:nvSpPr>
        <p:spPr>
          <a:xfrm>
            <a:off x="0" y="0"/>
            <a:ext cx="6417600" cy="5143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3"/>
          <p:cNvSpPr/>
          <p:nvPr/>
        </p:nvSpPr>
        <p:spPr>
          <a:xfrm>
            <a:off x="6417675" y="0"/>
            <a:ext cx="2726400" cy="51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3"/>
          <p:cNvSpPr txBox="1"/>
          <p:nvPr>
            <p:ph type="title"/>
          </p:nvPr>
        </p:nvSpPr>
        <p:spPr>
          <a:xfrm>
            <a:off x="398875" y="2122060"/>
            <a:ext cx="3801600" cy="108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1" type="subTitle"/>
          </p:nvPr>
        </p:nvSpPr>
        <p:spPr>
          <a:xfrm>
            <a:off x="406548" y="3398325"/>
            <a:ext cx="3972600" cy="8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0" name="Google Shape;7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38700" y="540625"/>
            <a:ext cx="3972600" cy="4123943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3"/>
          <p:cNvSpPr/>
          <p:nvPr/>
        </p:nvSpPr>
        <p:spPr>
          <a:xfrm>
            <a:off x="200850" y="210900"/>
            <a:ext cx="8742300" cy="4721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000" y="593775"/>
            <a:ext cx="1675776" cy="31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19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tudents">
  <p:cSld name="SECTION_HEADER_1_1_1_1_1_1_1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>
            <a:off x="0" y="0"/>
            <a:ext cx="6417600" cy="5143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/>
          <p:nvPr/>
        </p:nvSpPr>
        <p:spPr>
          <a:xfrm>
            <a:off x="6417675" y="0"/>
            <a:ext cx="2726400" cy="51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4"/>
          <p:cNvSpPr txBox="1"/>
          <p:nvPr>
            <p:ph type="title"/>
          </p:nvPr>
        </p:nvSpPr>
        <p:spPr>
          <a:xfrm>
            <a:off x="398875" y="2122060"/>
            <a:ext cx="3801600" cy="108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406548" y="3398325"/>
            <a:ext cx="3972600" cy="8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8" name="Google Shape;78;p14"/>
          <p:cNvPicPr preferRelativeResize="0"/>
          <p:nvPr/>
        </p:nvPicPr>
        <p:blipFill rotWithShape="1">
          <a:blip r:embed="rId2">
            <a:alphaModFix/>
          </a:blip>
          <a:srcRect b="0" l="14817" r="21202" t="1623"/>
          <a:stretch/>
        </p:blipFill>
        <p:spPr>
          <a:xfrm>
            <a:off x="4438700" y="540625"/>
            <a:ext cx="3972675" cy="412320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/>
          <p:nvPr/>
        </p:nvSpPr>
        <p:spPr>
          <a:xfrm>
            <a:off x="200850" y="210900"/>
            <a:ext cx="8742300" cy="4721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000" y="593775"/>
            <a:ext cx="1675776" cy="31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19">
          <p15:clr>
            <a:srgbClr val="E46962"/>
          </p15:clr>
        </p15:guide>
        <p15:guide id="2" orient="horz" pos="341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215919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84" name="Google Shape;84;p15"/>
          <p:cNvGrpSpPr/>
          <p:nvPr/>
        </p:nvGrpSpPr>
        <p:grpSpPr>
          <a:xfrm>
            <a:off x="-10600" y="-10600"/>
            <a:ext cx="98400" cy="5154050"/>
            <a:chOff x="-10600" y="-10600"/>
            <a:chExt cx="98400" cy="5154050"/>
          </a:xfrm>
        </p:grpSpPr>
        <p:sp>
          <p:nvSpPr>
            <p:cNvPr id="85" name="Google Shape;85;p15"/>
            <p:cNvSpPr/>
            <p:nvPr/>
          </p:nvSpPr>
          <p:spPr>
            <a:xfrm>
              <a:off x="-10600" y="-10600"/>
              <a:ext cx="98400" cy="2577000"/>
            </a:xfrm>
            <a:prstGeom prst="rect">
              <a:avLst/>
            </a:prstGeom>
            <a:solidFill>
              <a:srgbClr val="FDB5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-10600" y="2566450"/>
              <a:ext cx="98400" cy="2577000"/>
            </a:xfrm>
            <a:prstGeom prst="rect">
              <a:avLst/>
            </a:prstGeom>
            <a:solidFill>
              <a:srgbClr val="0032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259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Photo">
  <p:cSld name="TITLE_AND_BODY_2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219456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0" name="Google Shape;90;p16"/>
          <p:cNvSpPr/>
          <p:nvPr>
            <p:ph idx="2" type="pic"/>
          </p:nvPr>
        </p:nvSpPr>
        <p:spPr>
          <a:xfrm>
            <a:off x="5577475" y="1144500"/>
            <a:ext cx="2567100" cy="2854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91" name="Google Shape;91;p16"/>
          <p:cNvGrpSpPr/>
          <p:nvPr/>
        </p:nvGrpSpPr>
        <p:grpSpPr>
          <a:xfrm>
            <a:off x="-10600" y="-10600"/>
            <a:ext cx="98400" cy="5154050"/>
            <a:chOff x="-10600" y="-10600"/>
            <a:chExt cx="98400" cy="5154050"/>
          </a:xfrm>
        </p:grpSpPr>
        <p:sp>
          <p:nvSpPr>
            <p:cNvPr id="92" name="Google Shape;92;p16"/>
            <p:cNvSpPr/>
            <p:nvPr/>
          </p:nvSpPr>
          <p:spPr>
            <a:xfrm>
              <a:off x="-10600" y="-10600"/>
              <a:ext cx="98400" cy="2577000"/>
            </a:xfrm>
            <a:prstGeom prst="rect">
              <a:avLst/>
            </a:prstGeom>
            <a:solidFill>
              <a:srgbClr val="FDB5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6"/>
            <p:cNvSpPr/>
            <p:nvPr/>
          </p:nvSpPr>
          <p:spPr>
            <a:xfrm>
              <a:off x="-10600" y="2566450"/>
              <a:ext cx="98400" cy="2577000"/>
            </a:xfrm>
            <a:prstGeom prst="rect">
              <a:avLst/>
            </a:prstGeom>
            <a:solidFill>
              <a:srgbClr val="0032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4 Photos">
  <p:cSld name="TITLE_AND_BODY_2_2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445025"/>
            <a:ext cx="426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219456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17"/>
          <p:cNvSpPr/>
          <p:nvPr>
            <p:ph idx="2" type="pic"/>
          </p:nvPr>
        </p:nvSpPr>
        <p:spPr>
          <a:xfrm>
            <a:off x="4788300" y="562588"/>
            <a:ext cx="1963500" cy="19635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17"/>
          <p:cNvSpPr/>
          <p:nvPr>
            <p:ph idx="3" type="pic"/>
          </p:nvPr>
        </p:nvSpPr>
        <p:spPr>
          <a:xfrm>
            <a:off x="6868800" y="562588"/>
            <a:ext cx="1963500" cy="19635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7"/>
          <p:cNvSpPr/>
          <p:nvPr>
            <p:ph idx="4" type="pic"/>
          </p:nvPr>
        </p:nvSpPr>
        <p:spPr>
          <a:xfrm>
            <a:off x="4788300" y="2617413"/>
            <a:ext cx="1963500" cy="196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17"/>
          <p:cNvSpPr/>
          <p:nvPr>
            <p:ph idx="5" type="pic"/>
          </p:nvPr>
        </p:nvSpPr>
        <p:spPr>
          <a:xfrm>
            <a:off x="6868800" y="2617413"/>
            <a:ext cx="1963500" cy="1963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01" name="Google Shape;101;p17"/>
          <p:cNvGrpSpPr/>
          <p:nvPr/>
        </p:nvGrpSpPr>
        <p:grpSpPr>
          <a:xfrm>
            <a:off x="-10600" y="-10600"/>
            <a:ext cx="98400" cy="5154050"/>
            <a:chOff x="-10600" y="-10600"/>
            <a:chExt cx="98400" cy="5154050"/>
          </a:xfrm>
        </p:grpSpPr>
        <p:sp>
          <p:nvSpPr>
            <p:cNvPr id="102" name="Google Shape;102;p17"/>
            <p:cNvSpPr/>
            <p:nvPr/>
          </p:nvSpPr>
          <p:spPr>
            <a:xfrm>
              <a:off x="-10600" y="-10600"/>
              <a:ext cx="98400" cy="2577000"/>
            </a:xfrm>
            <a:prstGeom prst="rect">
              <a:avLst/>
            </a:prstGeom>
            <a:solidFill>
              <a:srgbClr val="FDB5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7"/>
            <p:cNvSpPr/>
            <p:nvPr/>
          </p:nvSpPr>
          <p:spPr>
            <a:xfrm>
              <a:off x="-10600" y="2566450"/>
              <a:ext cx="98400" cy="2577000"/>
            </a:xfrm>
            <a:prstGeom prst="rect">
              <a:avLst/>
            </a:prstGeom>
            <a:solidFill>
              <a:srgbClr val="0032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2 Photos">
  <p:cSld name="TITLE_AND_BODY_2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" name="Google Shape;106;p18"/>
          <p:cNvSpPr/>
          <p:nvPr>
            <p:ph idx="2" type="pic"/>
          </p:nvPr>
        </p:nvSpPr>
        <p:spPr>
          <a:xfrm>
            <a:off x="432152" y="1285775"/>
            <a:ext cx="4041600" cy="23487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18"/>
          <p:cNvSpPr/>
          <p:nvPr>
            <p:ph idx="3" type="pic"/>
          </p:nvPr>
        </p:nvSpPr>
        <p:spPr>
          <a:xfrm>
            <a:off x="4670248" y="1285775"/>
            <a:ext cx="4041600" cy="23487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08" name="Google Shape;108;p18"/>
          <p:cNvGrpSpPr/>
          <p:nvPr/>
        </p:nvGrpSpPr>
        <p:grpSpPr>
          <a:xfrm>
            <a:off x="-10600" y="-10600"/>
            <a:ext cx="98400" cy="5154050"/>
            <a:chOff x="-10600" y="-10600"/>
            <a:chExt cx="98400" cy="5154050"/>
          </a:xfrm>
        </p:grpSpPr>
        <p:sp>
          <p:nvSpPr>
            <p:cNvPr id="109" name="Google Shape;109;p18"/>
            <p:cNvSpPr/>
            <p:nvPr/>
          </p:nvSpPr>
          <p:spPr>
            <a:xfrm>
              <a:off x="-10600" y="-10600"/>
              <a:ext cx="98400" cy="2577000"/>
            </a:xfrm>
            <a:prstGeom prst="rect">
              <a:avLst/>
            </a:prstGeom>
            <a:solidFill>
              <a:srgbClr val="FDB5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8"/>
            <p:cNvSpPr/>
            <p:nvPr/>
          </p:nvSpPr>
          <p:spPr>
            <a:xfrm>
              <a:off x="-10600" y="2566450"/>
              <a:ext cx="98400" cy="2577000"/>
            </a:xfrm>
            <a:prstGeom prst="rect">
              <a:avLst/>
            </a:prstGeom>
            <a:solidFill>
              <a:srgbClr val="0032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3 Photos">
  <p:cSld name="TITLE_AND_BODY_2_1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" name="Google Shape;113;p19"/>
          <p:cNvSpPr/>
          <p:nvPr>
            <p:ph idx="2" type="pic"/>
          </p:nvPr>
        </p:nvSpPr>
        <p:spPr>
          <a:xfrm>
            <a:off x="432150" y="1285775"/>
            <a:ext cx="2682600" cy="19122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19"/>
          <p:cNvSpPr/>
          <p:nvPr>
            <p:ph idx="3" type="pic"/>
          </p:nvPr>
        </p:nvSpPr>
        <p:spPr>
          <a:xfrm>
            <a:off x="3230635" y="1285775"/>
            <a:ext cx="2682600" cy="19122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19"/>
          <p:cNvSpPr/>
          <p:nvPr>
            <p:ph idx="4" type="pic"/>
          </p:nvPr>
        </p:nvSpPr>
        <p:spPr>
          <a:xfrm>
            <a:off x="6029120" y="1285775"/>
            <a:ext cx="2682600" cy="19122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16" name="Google Shape;116;p19"/>
          <p:cNvGrpSpPr/>
          <p:nvPr/>
        </p:nvGrpSpPr>
        <p:grpSpPr>
          <a:xfrm>
            <a:off x="-10600" y="-10600"/>
            <a:ext cx="98400" cy="5154050"/>
            <a:chOff x="-10600" y="-10600"/>
            <a:chExt cx="98400" cy="5154050"/>
          </a:xfrm>
        </p:grpSpPr>
        <p:sp>
          <p:nvSpPr>
            <p:cNvPr id="117" name="Google Shape;117;p19"/>
            <p:cNvSpPr/>
            <p:nvPr/>
          </p:nvSpPr>
          <p:spPr>
            <a:xfrm>
              <a:off x="-10600" y="-10600"/>
              <a:ext cx="98400" cy="2577000"/>
            </a:xfrm>
            <a:prstGeom prst="rect">
              <a:avLst/>
            </a:prstGeom>
            <a:solidFill>
              <a:srgbClr val="FDB5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9"/>
            <p:cNvSpPr/>
            <p:nvPr/>
          </p:nvSpPr>
          <p:spPr>
            <a:xfrm>
              <a:off x="-10600" y="2566450"/>
              <a:ext cx="98400" cy="2577000"/>
            </a:xfrm>
            <a:prstGeom prst="rect">
              <a:avLst/>
            </a:prstGeom>
            <a:solidFill>
              <a:srgbClr val="0032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Half Photo">
  <p:cSld name="TITLE_AND_BODY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311700" y="445025"/>
            <a:ext cx="417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20"/>
          <p:cNvSpPr txBox="1"/>
          <p:nvPr>
            <p:ph idx="1" type="body"/>
          </p:nvPr>
        </p:nvSpPr>
        <p:spPr>
          <a:xfrm>
            <a:off x="219456" y="1152475"/>
            <a:ext cx="4038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20"/>
          <p:cNvSpPr/>
          <p:nvPr>
            <p:ph idx="2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3" name="Google Shape;123;p20"/>
          <p:cNvGrpSpPr/>
          <p:nvPr/>
        </p:nvGrpSpPr>
        <p:grpSpPr>
          <a:xfrm>
            <a:off x="-10600" y="-10600"/>
            <a:ext cx="98400" cy="5154050"/>
            <a:chOff x="-10600" y="-10600"/>
            <a:chExt cx="98400" cy="5154050"/>
          </a:xfrm>
        </p:grpSpPr>
        <p:sp>
          <p:nvSpPr>
            <p:cNvPr id="124" name="Google Shape;124;p20"/>
            <p:cNvSpPr/>
            <p:nvPr/>
          </p:nvSpPr>
          <p:spPr>
            <a:xfrm>
              <a:off x="-10600" y="-10600"/>
              <a:ext cx="98400" cy="2577000"/>
            </a:xfrm>
            <a:prstGeom prst="rect">
              <a:avLst/>
            </a:prstGeom>
            <a:solidFill>
              <a:srgbClr val="FDB5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0"/>
            <p:cNvSpPr/>
            <p:nvPr/>
          </p:nvSpPr>
          <p:spPr>
            <a:xfrm>
              <a:off x="-10600" y="2566450"/>
              <a:ext cx="98400" cy="2577000"/>
            </a:xfrm>
            <a:prstGeom prst="rect">
              <a:avLst/>
            </a:prstGeom>
            <a:solidFill>
              <a:srgbClr val="0032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263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8" name="Google Shape;128;p21"/>
          <p:cNvSpPr txBox="1"/>
          <p:nvPr>
            <p:ph idx="1" type="body"/>
          </p:nvPr>
        </p:nvSpPr>
        <p:spPr>
          <a:xfrm>
            <a:off x="188177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" name="Google Shape;129;p2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130" name="Google Shape;130;p21"/>
          <p:cNvGrpSpPr/>
          <p:nvPr/>
        </p:nvGrpSpPr>
        <p:grpSpPr>
          <a:xfrm>
            <a:off x="-10600" y="-10600"/>
            <a:ext cx="98400" cy="5154050"/>
            <a:chOff x="-10600" y="-10600"/>
            <a:chExt cx="98400" cy="5154050"/>
          </a:xfrm>
        </p:grpSpPr>
        <p:sp>
          <p:nvSpPr>
            <p:cNvPr id="131" name="Google Shape;131;p21"/>
            <p:cNvSpPr/>
            <p:nvPr/>
          </p:nvSpPr>
          <p:spPr>
            <a:xfrm>
              <a:off x="-10600" y="-10600"/>
              <a:ext cx="98400" cy="2577000"/>
            </a:xfrm>
            <a:prstGeom prst="rect">
              <a:avLst/>
            </a:prstGeom>
            <a:solidFill>
              <a:srgbClr val="FDB5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1"/>
            <p:cNvSpPr/>
            <p:nvPr/>
          </p:nvSpPr>
          <p:spPr>
            <a:xfrm>
              <a:off x="-10600" y="2566450"/>
              <a:ext cx="98400" cy="2577000"/>
            </a:xfrm>
            <a:prstGeom prst="rect">
              <a:avLst/>
            </a:prstGeom>
            <a:solidFill>
              <a:srgbClr val="0032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256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35" name="Google Shape;135;p22"/>
          <p:cNvGrpSpPr/>
          <p:nvPr/>
        </p:nvGrpSpPr>
        <p:grpSpPr>
          <a:xfrm>
            <a:off x="-10600" y="-10600"/>
            <a:ext cx="98400" cy="5154050"/>
            <a:chOff x="-10600" y="-10600"/>
            <a:chExt cx="98400" cy="5154050"/>
          </a:xfrm>
        </p:grpSpPr>
        <p:sp>
          <p:nvSpPr>
            <p:cNvPr id="136" name="Google Shape;136;p22"/>
            <p:cNvSpPr/>
            <p:nvPr/>
          </p:nvSpPr>
          <p:spPr>
            <a:xfrm>
              <a:off x="-10600" y="-10600"/>
              <a:ext cx="98400" cy="2577000"/>
            </a:xfrm>
            <a:prstGeom prst="rect">
              <a:avLst/>
            </a:prstGeom>
            <a:solidFill>
              <a:srgbClr val="FDB5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2"/>
            <p:cNvSpPr/>
            <p:nvPr/>
          </p:nvSpPr>
          <p:spPr>
            <a:xfrm>
              <a:off x="-10600" y="2566450"/>
              <a:ext cx="98400" cy="2577000"/>
            </a:xfrm>
            <a:prstGeom prst="rect">
              <a:avLst/>
            </a:prstGeom>
            <a:solidFill>
              <a:srgbClr val="0032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e Column">
  <p:cSld name="ONE_COLUMN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0" name="Google Shape;140;p23"/>
          <p:cNvSpPr txBox="1"/>
          <p:nvPr>
            <p:ph idx="1" type="body"/>
          </p:nvPr>
        </p:nvSpPr>
        <p:spPr>
          <a:xfrm>
            <a:off x="176151" y="1389600"/>
            <a:ext cx="43905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141" name="Google Shape;141;p23"/>
          <p:cNvGrpSpPr/>
          <p:nvPr/>
        </p:nvGrpSpPr>
        <p:grpSpPr>
          <a:xfrm>
            <a:off x="-10600" y="-10600"/>
            <a:ext cx="98400" cy="5154050"/>
            <a:chOff x="-10600" y="-10600"/>
            <a:chExt cx="98400" cy="5154050"/>
          </a:xfrm>
        </p:grpSpPr>
        <p:sp>
          <p:nvSpPr>
            <p:cNvPr id="142" name="Google Shape;142;p23"/>
            <p:cNvSpPr/>
            <p:nvPr/>
          </p:nvSpPr>
          <p:spPr>
            <a:xfrm>
              <a:off x="-10600" y="-10600"/>
              <a:ext cx="98400" cy="2577000"/>
            </a:xfrm>
            <a:prstGeom prst="rect">
              <a:avLst/>
            </a:prstGeom>
            <a:solidFill>
              <a:srgbClr val="FDB5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3"/>
            <p:cNvSpPr/>
            <p:nvPr/>
          </p:nvSpPr>
          <p:spPr>
            <a:xfrm>
              <a:off x="-10600" y="2566450"/>
              <a:ext cx="98400" cy="2577000"/>
            </a:xfrm>
            <a:prstGeom prst="rect">
              <a:avLst/>
            </a:prstGeom>
            <a:solidFill>
              <a:srgbClr val="0032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263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Bar" type="blank">
  <p:cSld name="BLANK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45;p24"/>
          <p:cNvGrpSpPr/>
          <p:nvPr/>
        </p:nvGrpSpPr>
        <p:grpSpPr>
          <a:xfrm>
            <a:off x="-10600" y="-10600"/>
            <a:ext cx="98400" cy="5154050"/>
            <a:chOff x="-10600" y="-10600"/>
            <a:chExt cx="98400" cy="5154050"/>
          </a:xfrm>
        </p:grpSpPr>
        <p:sp>
          <p:nvSpPr>
            <p:cNvPr id="146" name="Google Shape;146;p24"/>
            <p:cNvSpPr/>
            <p:nvPr/>
          </p:nvSpPr>
          <p:spPr>
            <a:xfrm>
              <a:off x="-10600" y="-10600"/>
              <a:ext cx="98400" cy="2577000"/>
            </a:xfrm>
            <a:prstGeom prst="rect">
              <a:avLst/>
            </a:prstGeom>
            <a:solidFill>
              <a:srgbClr val="FDB5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4"/>
            <p:cNvSpPr/>
            <p:nvPr/>
          </p:nvSpPr>
          <p:spPr>
            <a:xfrm>
              <a:off x="-10600" y="2566450"/>
              <a:ext cx="98400" cy="2577000"/>
            </a:xfrm>
            <a:prstGeom prst="rect">
              <a:avLst/>
            </a:prstGeom>
            <a:solidFill>
              <a:srgbClr val="0032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b="1" sz="2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7056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6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>
            <p:ph type="ctrTitle"/>
          </p:nvPr>
        </p:nvSpPr>
        <p:spPr>
          <a:xfrm>
            <a:off x="169500" y="1486950"/>
            <a:ext cx="8835300" cy="174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700">
                <a:latin typeface="Inter"/>
                <a:ea typeface="Inter"/>
                <a:cs typeface="Inter"/>
                <a:sym typeface="Inter"/>
              </a:rPr>
              <a:t>The Impact of Large Language Model Tutors on Undergraduate Learning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53" name="Google Shape;153;p25"/>
          <p:cNvSpPr txBox="1"/>
          <p:nvPr/>
        </p:nvSpPr>
        <p:spPr>
          <a:xfrm>
            <a:off x="3073250" y="2806800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Hannah Brown</a:t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Advisor: Narges Norouzi, PhD</a:t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Spring 2025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>
            <p:ph type="title"/>
          </p:nvPr>
        </p:nvSpPr>
        <p:spPr>
          <a:xfrm>
            <a:off x="66800" y="114300"/>
            <a:ext cx="8156100" cy="6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Inter"/>
                <a:ea typeface="Inter"/>
                <a:cs typeface="Inter"/>
                <a:sym typeface="Inter"/>
              </a:rPr>
              <a:t>Does AI belong in the classroom? </a:t>
            </a:r>
            <a:r>
              <a:rPr b="0" lang="en" sz="2500">
                <a:solidFill>
                  <a:srgbClr val="ECECEC"/>
                </a:solidFill>
                <a:latin typeface="Inter"/>
                <a:ea typeface="Inter"/>
                <a:cs typeface="Inter"/>
                <a:sym typeface="Inter"/>
              </a:rPr>
              <a:t>🤖</a:t>
            </a:r>
            <a:r>
              <a:rPr lang="en" sz="2500">
                <a:latin typeface="Inter"/>
                <a:ea typeface="Inter"/>
                <a:cs typeface="Inter"/>
                <a:sym typeface="Inter"/>
              </a:rPr>
              <a:t>📝</a:t>
            </a:r>
            <a:endParaRPr sz="25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9" name="Google Shape;159;p26"/>
          <p:cNvSpPr txBox="1"/>
          <p:nvPr/>
        </p:nvSpPr>
        <p:spPr>
          <a:xfrm>
            <a:off x="208700" y="620825"/>
            <a:ext cx="6944400" cy="44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3262"/>
              </a:buClr>
              <a:buSzPts val="1900"/>
              <a:buFont typeface="Inter"/>
              <a:buChar char="●"/>
            </a:pPr>
            <a:r>
              <a:rPr lang="en" sz="1900">
                <a:solidFill>
                  <a:srgbClr val="003262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n" sz="1900">
                <a:solidFill>
                  <a:srgbClr val="003262"/>
                </a:solidFill>
                <a:latin typeface="Inter"/>
                <a:ea typeface="Inter"/>
                <a:cs typeface="Inter"/>
                <a:sym typeface="Inter"/>
              </a:rPr>
              <a:t>tudents avoid homework shortcuts w/ trained LLMs</a:t>
            </a:r>
            <a:endParaRPr sz="1900">
              <a:solidFill>
                <a:srgbClr val="00326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900"/>
              <a:buFont typeface="Inter"/>
              <a:buChar char="●"/>
            </a:pPr>
            <a:r>
              <a:rPr lang="en" sz="1900">
                <a:solidFill>
                  <a:srgbClr val="003262"/>
                </a:solidFill>
                <a:latin typeface="Inter"/>
                <a:ea typeface="Inter"/>
                <a:cs typeface="Inter"/>
                <a:sym typeface="Inter"/>
              </a:rPr>
              <a:t>Analyzed Data 100 office hours -&gt; LLM tutors help demand in large classes</a:t>
            </a:r>
            <a:endParaRPr sz="1900">
              <a:solidFill>
                <a:srgbClr val="00326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900"/>
              <a:buFont typeface="Inter"/>
              <a:buChar char="●"/>
            </a:pPr>
            <a:r>
              <a:rPr lang="en" sz="1900">
                <a:solidFill>
                  <a:srgbClr val="003262"/>
                </a:solidFill>
                <a:latin typeface="Inter"/>
                <a:ea typeface="Inter"/>
                <a:cs typeface="Inter"/>
                <a:sym typeface="Inter"/>
              </a:rPr>
              <a:t>Surveyed Stat 131A’s usage of LLM tutor, PingPong</a:t>
            </a:r>
            <a:endParaRPr sz="1900">
              <a:solidFill>
                <a:srgbClr val="00326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900"/>
              <a:buFont typeface="Inter"/>
              <a:buChar char="○"/>
            </a:pPr>
            <a:r>
              <a:rPr lang="en" sz="1900">
                <a:solidFill>
                  <a:srgbClr val="003262"/>
                </a:solidFill>
                <a:latin typeface="Inter"/>
                <a:ea typeface="Inter"/>
                <a:cs typeface="Inter"/>
                <a:sym typeface="Inter"/>
              </a:rPr>
              <a:t>Students like the customization &amp; professor moderation</a:t>
            </a:r>
            <a:endParaRPr sz="1900">
              <a:solidFill>
                <a:srgbClr val="00326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900"/>
              <a:buFont typeface="Inter"/>
              <a:buChar char="○"/>
            </a:pPr>
            <a:r>
              <a:rPr lang="en" sz="1900">
                <a:solidFill>
                  <a:srgbClr val="003262"/>
                </a:solidFill>
                <a:latin typeface="Inter"/>
                <a:ea typeface="Inter"/>
                <a:cs typeface="Inter"/>
                <a:sym typeface="Inter"/>
              </a:rPr>
              <a:t>Students dislike dependence on AI -&gt; PingPong helps them learn</a:t>
            </a:r>
            <a:endParaRPr sz="1900">
              <a:solidFill>
                <a:srgbClr val="00326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900"/>
              <a:buFont typeface="Inter"/>
              <a:buChar char="●"/>
            </a:pPr>
            <a:r>
              <a:rPr lang="en" sz="1900">
                <a:solidFill>
                  <a:srgbClr val="003262"/>
                </a:solidFill>
                <a:latin typeface="Inter"/>
                <a:ea typeface="Inter"/>
                <a:cs typeface="Inter"/>
                <a:sym typeface="Inter"/>
              </a:rPr>
              <a:t>Created an interface for Berkeley’s LLM tutor, Edison</a:t>
            </a:r>
            <a:endParaRPr sz="1900">
              <a:solidFill>
                <a:srgbClr val="00326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900"/>
              <a:buFont typeface="Inter"/>
              <a:buChar char="○"/>
            </a:pPr>
            <a:r>
              <a:rPr lang="en" sz="1900">
                <a:solidFill>
                  <a:srgbClr val="003262"/>
                </a:solidFill>
                <a:latin typeface="Inter"/>
                <a:ea typeface="Inter"/>
                <a:cs typeface="Inter"/>
                <a:sym typeface="Inter"/>
              </a:rPr>
              <a:t>Allows for student interaction with the model</a:t>
            </a:r>
            <a:endParaRPr sz="1900">
              <a:solidFill>
                <a:srgbClr val="00326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900"/>
              <a:buFont typeface="Inter"/>
              <a:buChar char="○"/>
            </a:pPr>
            <a:r>
              <a:rPr lang="en" sz="1900">
                <a:solidFill>
                  <a:srgbClr val="003262"/>
                </a:solidFill>
                <a:latin typeface="Inter"/>
                <a:ea typeface="Inter"/>
                <a:cs typeface="Inter"/>
                <a:sym typeface="Inter"/>
              </a:rPr>
              <a:t>Supports tutors to focus on complex queries</a:t>
            </a:r>
            <a:endParaRPr sz="1900">
              <a:solidFill>
                <a:srgbClr val="00326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900"/>
              <a:buFont typeface="Inter"/>
              <a:buChar char="●"/>
            </a:pPr>
            <a:r>
              <a:rPr lang="en" sz="1900">
                <a:solidFill>
                  <a:srgbClr val="003262"/>
                </a:solidFill>
                <a:latin typeface="Inter"/>
                <a:ea typeface="Inter"/>
                <a:cs typeface="Inter"/>
                <a:sym typeface="Inter"/>
              </a:rPr>
              <a:t>LLM tutors promote tutoring access</a:t>
            </a:r>
            <a:endParaRPr sz="1900">
              <a:solidFill>
                <a:srgbClr val="00326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900"/>
              <a:buFont typeface="Inter"/>
              <a:buChar char="●"/>
            </a:pPr>
            <a:r>
              <a:rPr lang="en" sz="1900">
                <a:solidFill>
                  <a:srgbClr val="003262"/>
                </a:solidFill>
                <a:latin typeface="Inter"/>
                <a:ea typeface="Inter"/>
                <a:cs typeface="Inter"/>
                <a:sym typeface="Inter"/>
              </a:rPr>
              <a:t>Stresses the importance of human interaction</a:t>
            </a:r>
            <a:endParaRPr sz="1900">
              <a:solidFill>
                <a:srgbClr val="00326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326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26" title="EdisonChat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9274" y="3728200"/>
            <a:ext cx="2430649" cy="130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6" title="pingpongqan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7500" y="2078112"/>
            <a:ext cx="1968025" cy="150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6" title="spring2024OH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16250" y="238850"/>
            <a:ext cx="2290524" cy="1691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0D3261"/>
      </a:dk2>
      <a:lt2>
        <a:srgbClr val="F9B516"/>
      </a:lt2>
      <a:accent1>
        <a:srgbClr val="3B7EA1"/>
      </a:accent1>
      <a:accent2>
        <a:srgbClr val="C4820E"/>
      </a:accent2>
      <a:accent3>
        <a:srgbClr val="00B0DA"/>
      </a:accent3>
      <a:accent4>
        <a:srgbClr val="B9D3B6"/>
      </a:accent4>
      <a:accent5>
        <a:srgbClr val="46535E"/>
      </a:accent5>
      <a:accent6>
        <a:srgbClr val="859438"/>
      </a:accent6>
      <a:hlink>
        <a:srgbClr val="3BB0D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